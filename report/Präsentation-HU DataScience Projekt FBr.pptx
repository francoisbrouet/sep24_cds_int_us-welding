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3"/>
  </p:notesMasterIdLst>
  <p:handoutMasterIdLst>
    <p:handoutMasterId r:id="rId24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14" r:id="rId10"/>
    <p:sldId id="402" r:id="rId11"/>
    <p:sldId id="407" r:id="rId12"/>
    <p:sldId id="415" r:id="rId13"/>
    <p:sldId id="416" r:id="rId14"/>
    <p:sldId id="403" r:id="rId15"/>
    <p:sldId id="408" r:id="rId16"/>
    <p:sldId id="409" r:id="rId17"/>
    <p:sldId id="412" r:id="rId18"/>
    <p:sldId id="410" r:id="rId19"/>
    <p:sldId id="411" r:id="rId20"/>
    <p:sldId id="413" r:id="rId21"/>
    <p:sldId id="381" r:id="rId22"/>
  </p:sldIdLst>
  <p:sldSz cx="9144000" cy="5143500" type="screen16x9"/>
  <p:notesSz cx="6645275" cy="9775825"/>
  <p:custDataLst>
    <p:tags r:id="rId25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14"/>
            <p14:sldId id="402"/>
            <p14:sldId id="407"/>
            <p14:sldId id="415"/>
            <p14:sldId id="416"/>
            <p14:sldId id="403"/>
            <p14:sldId id="408"/>
            <p14:sldId id="409"/>
            <p14:sldId id="412"/>
            <p14:sldId id="410"/>
            <p14:sldId id="411"/>
            <p14:sldId id="413"/>
            <p14:sldId id="381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70957" autoAdjust="0"/>
  </p:normalViewPr>
  <p:slideViewPr>
    <p:cSldViewPr snapToObjects="1">
      <p:cViewPr varScale="1">
        <p:scale>
          <a:sx n="88" d="100"/>
          <a:sy n="88" d="100"/>
        </p:scale>
        <p:origin x="342" y="7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22.09.2025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(calculation of 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 particular those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displacements’ uniformity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are distributed according </a:t>
            </a:r>
            <a:r>
              <a:rPr lang="en-US" baseline="0" dirty="0" smtClean="0"/>
              <a:t>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graphs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0931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Neurales Netz: </a:t>
            </a:r>
            <a:r>
              <a:rPr lang="de-DE" dirty="0" smtClean="0"/>
              <a:t>Struktur </a:t>
            </a:r>
            <a:r>
              <a:rPr lang="de-DE" dirty="0" smtClean="0"/>
              <a:t>wird </a:t>
            </a:r>
            <a:r>
              <a:rPr lang="de-DE" dirty="0" err="1" smtClean="0"/>
              <a:t>getuned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Transformation hat einen großen </a:t>
            </a:r>
            <a:r>
              <a:rPr lang="de-DE" dirty="0" err="1" smtClean="0"/>
              <a:t>Einfluss</a:t>
            </a:r>
            <a:r>
              <a:rPr lang="de-DE" dirty="0" smtClean="0"/>
              <a:t>:</a:t>
            </a:r>
            <a:r>
              <a:rPr lang="de-DE" baseline="0" dirty="0" smtClean="0"/>
              <a:t> hier hat der </a:t>
            </a:r>
            <a:r>
              <a:rPr lang="de-DE" baseline="0" dirty="0" err="1" smtClean="0"/>
              <a:t>PowerTransformer</a:t>
            </a:r>
            <a:r>
              <a:rPr lang="de-DE" baseline="0" dirty="0" smtClean="0"/>
              <a:t> die beste Performance gezeigt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4674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Frequenzisolierung +</a:t>
            </a:r>
            <a:r>
              <a:rPr lang="de-DE" baseline="0" dirty="0" smtClean="0"/>
              <a:t> Höher MAC-Wert </a:t>
            </a:r>
            <a:r>
              <a:rPr lang="de-DE" baseline="0" dirty="0" smtClean="0">
                <a:sym typeface="Wingdings" panose="05000000000000000000" pitchFamily="2" charset="2"/>
              </a:rPr>
              <a:t> niedriges Residuum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21361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85253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5953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325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3430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8638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11075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336200" y="746803"/>
            <a:ext cx="2016224" cy="2051050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Grafik 10"/>
          <p:cNvPicPr/>
          <p:nvPr/>
        </p:nvPicPr>
        <p:blipFill>
          <a:blip r:embed="rId6"/>
          <a:stretch>
            <a:fillRect/>
          </a:stretch>
        </p:blipFill>
        <p:spPr>
          <a:xfrm>
            <a:off x="6336200" y="2877225"/>
            <a:ext cx="2016224" cy="207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above</a:t>
            </a:r>
            <a:r>
              <a:rPr lang="de-DE" dirty="0" smtClean="0"/>
              <a:t> / </a:t>
            </a:r>
            <a:r>
              <a:rPr lang="de-DE" dirty="0" err="1" smtClean="0"/>
              <a:t>below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10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Grafik 10"/>
          <p:cNvPicPr/>
          <p:nvPr/>
        </p:nvPicPr>
        <p:blipFill>
          <a:blip r:embed="rId4"/>
          <a:stretch>
            <a:fillRect/>
          </a:stretch>
        </p:blipFill>
        <p:spPr>
          <a:xfrm>
            <a:off x="544932" y="1419622"/>
            <a:ext cx="3472428" cy="2640836"/>
          </a:xfrm>
          <a:prstGeom prst="rect">
            <a:avLst/>
          </a:prstGeom>
        </p:spPr>
      </p:pic>
      <p:sp>
        <p:nvSpPr>
          <p:cNvPr id="12" name="Textfeld 11"/>
          <p:cNvSpPr txBox="1"/>
          <p:nvPr/>
        </p:nvSpPr>
        <p:spPr bwMode="gray">
          <a:xfrm>
            <a:off x="4860032" y="2139702"/>
            <a:ext cx="3240360" cy="18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None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design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points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has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a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long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.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mode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isolated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on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both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sides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more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than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800 Hz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endParaRPr lang="de-DE" sz="1400" dirty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Color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information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3" name="Textfeld 12"/>
          <p:cNvSpPr txBox="1"/>
          <p:nvPr/>
        </p:nvSpPr>
        <p:spPr bwMode="gray">
          <a:xfrm>
            <a:off x="1619672" y="4088100"/>
            <a:ext cx="2016224" cy="45122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Delta </a:t>
            </a:r>
            <a:r>
              <a:rPr lang="de-DE" sz="1000" dirty="0" err="1" smtClean="0">
                <a:solidFill>
                  <a:schemeClr val="tx1"/>
                </a:solidFill>
                <a:latin typeface="+mn-lt"/>
              </a:rPr>
              <a:t>frequency</a:t>
            </a: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000" dirty="0" err="1" smtClean="0">
                <a:solidFill>
                  <a:schemeClr val="tx1"/>
                </a:solidFill>
                <a:latin typeface="+mn-lt"/>
              </a:rPr>
              <a:t>below</a:t>
            </a: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 [Hz]</a:t>
            </a:r>
          </a:p>
        </p:txBody>
      </p:sp>
      <p:sp>
        <p:nvSpPr>
          <p:cNvPr id="14" name="Textfeld 13"/>
          <p:cNvSpPr txBox="1"/>
          <p:nvPr/>
        </p:nvSpPr>
        <p:spPr bwMode="gray">
          <a:xfrm>
            <a:off x="330952" y="1893408"/>
            <a:ext cx="207640" cy="1399892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Delta </a:t>
            </a:r>
            <a:r>
              <a:rPr lang="de-DE" sz="1000" dirty="0" err="1" smtClean="0">
                <a:solidFill>
                  <a:schemeClr val="tx1"/>
                </a:solidFill>
                <a:latin typeface="+mn-lt"/>
              </a:rPr>
              <a:t>frequency</a:t>
            </a: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000" dirty="0" err="1" smtClean="0">
                <a:solidFill>
                  <a:schemeClr val="tx1"/>
                </a:solidFill>
                <a:latin typeface="+mn-lt"/>
              </a:rPr>
              <a:t>above</a:t>
            </a:r>
            <a:r>
              <a:rPr lang="de-DE" sz="1000" dirty="0" smtClean="0">
                <a:solidFill>
                  <a:schemeClr val="tx1"/>
                </a:solidFill>
                <a:latin typeface="+mn-lt"/>
              </a:rPr>
              <a:t> [Hz]</a:t>
            </a:r>
          </a:p>
        </p:txBody>
      </p:sp>
    </p:spTree>
    <p:extLst>
      <p:ext uri="{BB962C8B-B14F-4D97-AF65-F5344CB8AC3E}">
        <p14:creationId xmlns:p14="http://schemas.microsoft.com/office/powerpoint/2010/main" val="1427294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3625453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None/>
            </a:pPr>
            <a:r>
              <a:rPr lang="de-DE" dirty="0" err="1" smtClean="0"/>
              <a:t>Neural</a:t>
            </a:r>
            <a:r>
              <a:rPr lang="de-DE" dirty="0" smtClean="0"/>
              <a:t> </a:t>
            </a:r>
            <a:r>
              <a:rPr lang="de-DE" dirty="0" err="1" smtClean="0"/>
              <a:t>network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Keras</a:t>
            </a: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0" name="Grafik 9"/>
          <p:cNvPicPr/>
          <p:nvPr/>
        </p:nvPicPr>
        <p:blipFill>
          <a:blip r:embed="rId4"/>
          <a:stretch>
            <a:fillRect/>
          </a:stretch>
        </p:blipFill>
        <p:spPr>
          <a:xfrm>
            <a:off x="282445" y="1234839"/>
            <a:ext cx="2578199" cy="1944216"/>
          </a:xfrm>
          <a:prstGeom prst="rect">
            <a:avLst/>
          </a:prstGeom>
        </p:spPr>
      </p:pic>
      <p:pic>
        <p:nvPicPr>
          <p:cNvPr id="11" name="Grafik 10"/>
          <p:cNvPicPr/>
          <p:nvPr/>
        </p:nvPicPr>
        <p:blipFill>
          <a:blip r:embed="rId5"/>
          <a:stretch>
            <a:fillRect/>
          </a:stretch>
        </p:blipFill>
        <p:spPr>
          <a:xfrm>
            <a:off x="4211046" y="1380517"/>
            <a:ext cx="4320560" cy="1336494"/>
          </a:xfrm>
          <a:prstGeom prst="rect">
            <a:avLst/>
          </a:prstGeom>
        </p:spPr>
      </p:pic>
      <p:sp>
        <p:nvSpPr>
          <p:cNvPr id="5" name="Textfeld 4"/>
          <p:cNvSpPr txBox="1"/>
          <p:nvPr/>
        </p:nvSpPr>
        <p:spPr bwMode="gray">
          <a:xfrm>
            <a:off x="4290984" y="970020"/>
            <a:ext cx="2801296" cy="26481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Transformation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611" y="2826191"/>
            <a:ext cx="3768797" cy="1286782"/>
          </a:xfrm>
          <a:prstGeom prst="rect">
            <a:avLst/>
          </a:prstGeom>
        </p:spPr>
      </p:pic>
      <p:pic>
        <p:nvPicPr>
          <p:cNvPr id="12" name="Grafik 11"/>
          <p:cNvPicPr/>
          <p:nvPr/>
        </p:nvPicPr>
        <p:blipFill>
          <a:blip r:embed="rId7"/>
          <a:stretch>
            <a:fillRect/>
          </a:stretch>
        </p:blipFill>
        <p:spPr>
          <a:xfrm>
            <a:off x="1381753" y="3267220"/>
            <a:ext cx="1513373" cy="15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626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None/>
            </a:pPr>
            <a:r>
              <a:rPr lang="de-DE" dirty="0" err="1" smtClean="0"/>
              <a:t>Predictions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test</a:t>
            </a:r>
            <a:r>
              <a:rPr lang="de-DE" dirty="0" smtClean="0"/>
              <a:t> </a:t>
            </a:r>
            <a:r>
              <a:rPr lang="de-DE" dirty="0" err="1" smtClean="0"/>
              <a:t>set</a:t>
            </a:r>
            <a:r>
              <a:rPr lang="de-DE" dirty="0" smtClean="0"/>
              <a:t>			(</a:t>
            </a:r>
            <a:r>
              <a:rPr lang="de-DE" dirty="0" err="1" smtClean="0"/>
              <a:t>Residuals</a:t>
            </a:r>
            <a:r>
              <a:rPr lang="de-DE" dirty="0" smtClean="0"/>
              <a:t>)</a:t>
            </a: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3" name="Grafik 12"/>
          <p:cNvPicPr/>
          <p:nvPr/>
        </p:nvPicPr>
        <p:blipFill>
          <a:blip r:embed="rId4"/>
          <a:stretch>
            <a:fillRect/>
          </a:stretch>
        </p:blipFill>
        <p:spPr>
          <a:xfrm>
            <a:off x="198691" y="1466725"/>
            <a:ext cx="2884180" cy="2895083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1478" y="1521774"/>
            <a:ext cx="5519515" cy="271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0947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Lösung 1</a:t>
            </a:r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r>
              <a:rPr lang="de-DE" dirty="0" smtClean="0"/>
              <a:t>Vergleich Vorhersage / Reale Werte</a:t>
            </a:r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Optimizer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110" y="899590"/>
            <a:ext cx="7070050" cy="1833464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8343" y="2893599"/>
            <a:ext cx="2753949" cy="198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8852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Variationsbereich mit konstanter Schlitzverteilung:</a:t>
            </a:r>
            <a:endParaRPr lang="de-DE" dirty="0"/>
          </a:p>
          <a:p>
            <a:pPr lvl="1" indent="0">
              <a:buNone/>
            </a:pPr>
            <a:r>
              <a:rPr lang="de-DE" dirty="0" err="1" smtClean="0"/>
              <a:t>dim_X</a:t>
            </a:r>
            <a:r>
              <a:rPr lang="de-DE" dirty="0"/>
              <a:t>: 100 – (175) – 195	2 Schlitze</a:t>
            </a:r>
          </a:p>
          <a:p>
            <a:pPr lvl="1" indent="0">
              <a:buNone/>
            </a:pPr>
            <a:r>
              <a:rPr lang="de-DE" dirty="0" err="1" smtClean="0"/>
              <a:t>dim_Z</a:t>
            </a:r>
            <a:r>
              <a:rPr lang="de-DE" dirty="0"/>
              <a:t>: 200 – (240) – 280	4 Schlitze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Breiterer Bereich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1660255" y="1770294"/>
            <a:ext cx="4855961" cy="287386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 bwMode="gray">
          <a:xfrm>
            <a:off x="1835696" y="2480824"/>
            <a:ext cx="216024" cy="86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10" name="Rechteck 9"/>
          <p:cNvSpPr/>
          <p:nvPr/>
        </p:nvSpPr>
        <p:spPr bwMode="gray">
          <a:xfrm>
            <a:off x="2267744" y="1826446"/>
            <a:ext cx="216024" cy="7827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</p:spTree>
    <p:extLst>
      <p:ext uri="{BB962C8B-B14F-4D97-AF65-F5344CB8AC3E}">
        <p14:creationId xmlns:p14="http://schemas.microsoft.com/office/powerpoint/2010/main" val="241434944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Verteilung der Längsmoden</a:t>
            </a:r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Long. Frequenzen</a:t>
            </a:r>
          </a:p>
          <a:p>
            <a:pPr lvl="1" indent="0">
              <a:buNone/>
            </a:pPr>
            <a:r>
              <a:rPr lang="de-DE" dirty="0" smtClean="0"/>
              <a:t>+ MAC-Werte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Breiterer Bereich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Grafik 10"/>
          <p:cNvPicPr/>
          <p:nvPr/>
        </p:nvPicPr>
        <p:blipFill>
          <a:blip r:embed="rId4"/>
          <a:stretch>
            <a:fillRect/>
          </a:stretch>
        </p:blipFill>
        <p:spPr>
          <a:xfrm>
            <a:off x="3131839" y="888435"/>
            <a:ext cx="4479865" cy="1323275"/>
          </a:xfrm>
          <a:prstGeom prst="rect">
            <a:avLst/>
          </a:prstGeom>
        </p:spPr>
      </p:pic>
      <p:pic>
        <p:nvPicPr>
          <p:cNvPr id="12" name="Grafik 11"/>
          <p:cNvPicPr/>
          <p:nvPr/>
        </p:nvPicPr>
        <p:blipFill>
          <a:blip r:embed="rId5"/>
          <a:stretch>
            <a:fillRect/>
          </a:stretch>
        </p:blipFill>
        <p:spPr>
          <a:xfrm>
            <a:off x="2771800" y="2383264"/>
            <a:ext cx="2867452" cy="218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0986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Alle Frequenzen</a:t>
            </a:r>
          </a:p>
          <a:p>
            <a:pPr lvl="1" indent="0">
              <a:buNone/>
            </a:pPr>
            <a:r>
              <a:rPr lang="de-DE" dirty="0" smtClean="0"/>
              <a:t>	</a:t>
            </a:r>
            <a:r>
              <a:rPr lang="de-DE" dirty="0" err="1" smtClean="0"/>
              <a:t>Schmaller</a:t>
            </a:r>
            <a:r>
              <a:rPr lang="de-DE" dirty="0" smtClean="0"/>
              <a:t> Bereich				Breiter Bereich</a:t>
            </a:r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/>
              <a:t>	</a:t>
            </a:r>
            <a:r>
              <a:rPr lang="de-DE" dirty="0" err="1" smtClean="0"/>
              <a:t>Schmaller</a:t>
            </a:r>
            <a:r>
              <a:rPr lang="de-DE" dirty="0" smtClean="0"/>
              <a:t> Bereich				Breiter Bereich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Vergleich der Performances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1079663" y="1551839"/>
            <a:ext cx="4032448" cy="1199689"/>
          </a:xfrm>
          <a:prstGeom prst="rect">
            <a:avLst/>
          </a:prstGeom>
        </p:spPr>
      </p:pic>
      <p:pic>
        <p:nvPicPr>
          <p:cNvPr id="10" name="Grafik 9"/>
          <p:cNvPicPr/>
          <p:nvPr/>
        </p:nvPicPr>
        <p:blipFill>
          <a:blip r:embed="rId5"/>
          <a:stretch>
            <a:fillRect/>
          </a:stretch>
        </p:blipFill>
        <p:spPr>
          <a:xfrm>
            <a:off x="5302049" y="1601540"/>
            <a:ext cx="2850068" cy="1100286"/>
          </a:xfrm>
          <a:prstGeom prst="rect">
            <a:avLst/>
          </a:prstGeom>
        </p:spPr>
      </p:pic>
      <p:pic>
        <p:nvPicPr>
          <p:cNvPr id="11" name="Grafik 10"/>
          <p:cNvPicPr/>
          <p:nvPr/>
        </p:nvPicPr>
        <p:blipFill>
          <a:blip r:embed="rId6"/>
          <a:stretch>
            <a:fillRect/>
          </a:stretch>
        </p:blipFill>
        <p:spPr>
          <a:xfrm>
            <a:off x="827584" y="4147165"/>
            <a:ext cx="3614420" cy="270510"/>
          </a:xfrm>
          <a:prstGeom prst="rect">
            <a:avLst/>
          </a:prstGeom>
        </p:spPr>
      </p:pic>
      <p:pic>
        <p:nvPicPr>
          <p:cNvPr id="12" name="Grafik 11"/>
          <p:cNvPicPr/>
          <p:nvPr/>
        </p:nvPicPr>
        <p:blipFill>
          <a:blip r:embed="rId7"/>
          <a:stretch>
            <a:fillRect/>
          </a:stretch>
        </p:blipFill>
        <p:spPr>
          <a:xfrm>
            <a:off x="4949718" y="4147165"/>
            <a:ext cx="3554730" cy="306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5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PCA</a:t>
            </a:r>
            <a:r>
              <a:rPr lang="de-DE" dirty="0" smtClean="0"/>
              <a:t> (</a:t>
            </a:r>
            <a:r>
              <a:rPr lang="de-DE" dirty="0" err="1" smtClean="0"/>
              <a:t>Principal</a:t>
            </a:r>
            <a:r>
              <a:rPr lang="de-DE" dirty="0" smtClean="0"/>
              <a:t> </a:t>
            </a:r>
            <a:r>
              <a:rPr lang="de-DE" dirty="0" err="1" smtClean="0"/>
              <a:t>Component</a:t>
            </a:r>
            <a:r>
              <a:rPr lang="de-DE" dirty="0" smtClean="0"/>
              <a:t> Analysis)</a:t>
            </a:r>
          </a:p>
          <a:p>
            <a:pPr lvl="1" indent="0">
              <a:buNone/>
            </a:pP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smtClean="0"/>
              <a:t>transformiert korrelierte Variablen in neue, </a:t>
            </a:r>
            <a:r>
              <a:rPr lang="de-DE" dirty="0" err="1" smtClean="0"/>
              <a:t>unkorrelierte</a:t>
            </a:r>
            <a:r>
              <a:rPr lang="de-DE" dirty="0" smtClean="0"/>
              <a:t> Variablen</a:t>
            </a:r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Verschiebungen der 400 Knoten </a:t>
            </a:r>
            <a:r>
              <a:rPr lang="de-DE" dirty="0" smtClean="0">
                <a:sym typeface="Wingdings" panose="05000000000000000000" pitchFamily="2" charset="2"/>
              </a:rPr>
              <a:t> 10 Komponenten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Dimensionsreduktion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2283718"/>
            <a:ext cx="3168851" cy="2323430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787" y="3003798"/>
            <a:ext cx="4029637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734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4428232" cy="3814762"/>
          </a:xfrm>
        </p:spPr>
        <p:txBody>
          <a:bodyPr/>
          <a:lstStyle/>
          <a:p>
            <a:pPr lvl="1" indent="0">
              <a:buNone/>
            </a:pPr>
            <a:r>
              <a:rPr lang="de-DE" dirty="0" smtClean="0"/>
              <a:t>Nutzen aus der Weiterbildung</a:t>
            </a:r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r>
              <a:rPr lang="de-DE" dirty="0" smtClean="0"/>
              <a:t>1) Materialparameterermittlung</a:t>
            </a:r>
          </a:p>
          <a:p>
            <a:pPr lvl="1" indent="0">
              <a:buNone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Skalierung / Transformation der Variablen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Globaler + Lokaler </a:t>
            </a: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Clustering </a:t>
            </a:r>
            <a:r>
              <a:rPr lang="de-DE" dirty="0" err="1" smtClean="0"/>
              <a:t>Method</a:t>
            </a:r>
            <a:r>
              <a:rPr lang="de-DE" dirty="0" smtClean="0"/>
              <a:t> für die Modenzuordnung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Idee: Expl. und Target Variablen tauschen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Eigenfrequenzen sind die Eingaben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Gesucht werden die Materialkonstanten</a:t>
            </a:r>
          </a:p>
          <a:p>
            <a:pPr marL="644525" lvl="2" indent="-285750">
              <a:buFontTx/>
              <a:buChar char="-"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Dimensionsreduktion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Textplatzhalter 4"/>
          <p:cNvSpPr txBox="1">
            <a:spLocks/>
          </p:cNvSpPr>
          <p:nvPr/>
        </p:nvSpPr>
        <p:spPr bwMode="gray">
          <a:xfrm>
            <a:off x="4572000" y="862644"/>
            <a:ext cx="4428232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/>
          </a:p>
          <a:p>
            <a:pPr lvl="1" indent="0" defTabSz="914400">
              <a:buFont typeface="Wingdings" pitchFamily="2" charset="2"/>
              <a:buNone/>
            </a:pPr>
            <a:r>
              <a:rPr lang="de-DE" dirty="0" smtClean="0"/>
              <a:t>2) </a:t>
            </a:r>
            <a:r>
              <a:rPr lang="de-DE" dirty="0" err="1" smtClean="0"/>
              <a:t>Streamlit</a:t>
            </a:r>
            <a:r>
              <a:rPr lang="de-DE" dirty="0" smtClean="0"/>
              <a:t> – Einfache </a:t>
            </a:r>
            <a:r>
              <a:rPr lang="de-DE" dirty="0" err="1" smtClean="0"/>
              <a:t>GUI</a:t>
            </a: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marL="465750" lvl="1" indent="-285750" defTabSz="914400">
              <a:buFontTx/>
              <a:buChar char="-"/>
            </a:pPr>
            <a:r>
              <a:rPr lang="de-DE" dirty="0" smtClean="0"/>
              <a:t>Eingabeparameter</a:t>
            </a:r>
          </a:p>
          <a:p>
            <a:pPr marL="465750" lvl="1" indent="-285750" defTabSz="914400">
              <a:buFontTx/>
              <a:buChar char="-"/>
            </a:pPr>
            <a:r>
              <a:rPr lang="de-DE" dirty="0" smtClean="0"/>
              <a:t>Datenvisualisierung</a:t>
            </a:r>
          </a:p>
          <a:p>
            <a:pPr marL="644525" lvl="2" indent="-285750" defTabSz="914400">
              <a:buFontTx/>
              <a:buChar char="-"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328510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2418</Words>
  <Application>Microsoft Office PowerPoint</Application>
  <PresentationFormat>Bildschirmpräsentation (16:9)</PresentationFormat>
  <Paragraphs>441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Pre-processing</vt:lpstr>
      <vt:lpstr>Result overview</vt:lpstr>
      <vt:lpstr>Modelling</vt:lpstr>
      <vt:lpstr>Modelling</vt:lpstr>
      <vt:lpstr>Modelling</vt:lpstr>
      <vt:lpstr>Next steps &amp; Conclusion</vt:lpstr>
      <vt:lpstr>Optimizer</vt:lpstr>
      <vt:lpstr>Breiterer Bereich</vt:lpstr>
      <vt:lpstr>Breiterer Bereich</vt:lpstr>
      <vt:lpstr>Vergleich der Performances</vt:lpstr>
      <vt:lpstr>Dimensionsreduktion</vt:lpstr>
      <vt:lpstr>Dimensionsreduktion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187</cp:revision>
  <cp:lastPrinted>2024-10-28T09:15:24Z</cp:lastPrinted>
  <dcterms:created xsi:type="dcterms:W3CDTF">2024-10-21T06:24:53Z</dcterms:created>
  <dcterms:modified xsi:type="dcterms:W3CDTF">2025-09-22T07:45:36Z</dcterms:modified>
</cp:coreProperties>
</file>