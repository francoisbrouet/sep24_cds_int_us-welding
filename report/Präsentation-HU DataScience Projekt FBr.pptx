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4" r:id="rId1"/>
  </p:sldMasterIdLst>
  <p:notesMasterIdLst>
    <p:notesMasterId r:id="rId23"/>
  </p:notesMasterIdLst>
  <p:handoutMasterIdLst>
    <p:handoutMasterId r:id="rId24"/>
  </p:handoutMasterIdLst>
  <p:sldIdLst>
    <p:sldId id="383" r:id="rId2"/>
    <p:sldId id="378" r:id="rId3"/>
    <p:sldId id="394" r:id="rId4"/>
    <p:sldId id="398" r:id="rId5"/>
    <p:sldId id="399" r:id="rId6"/>
    <p:sldId id="405" r:id="rId7"/>
    <p:sldId id="400" r:id="rId8"/>
    <p:sldId id="401" r:id="rId9"/>
    <p:sldId id="414" r:id="rId10"/>
    <p:sldId id="402" r:id="rId11"/>
    <p:sldId id="407" r:id="rId12"/>
    <p:sldId id="415" r:id="rId13"/>
    <p:sldId id="416" r:id="rId14"/>
    <p:sldId id="403" r:id="rId15"/>
    <p:sldId id="408" r:id="rId16"/>
    <p:sldId id="409" r:id="rId17"/>
    <p:sldId id="412" r:id="rId18"/>
    <p:sldId id="410" r:id="rId19"/>
    <p:sldId id="411" r:id="rId20"/>
    <p:sldId id="413" r:id="rId21"/>
    <p:sldId id="381" r:id="rId22"/>
  </p:sldIdLst>
  <p:sldSz cx="9144000" cy="5143500" type="screen16x9"/>
  <p:notesSz cx="6645275" cy="9775825"/>
  <p:custDataLst>
    <p:tags r:id="rId25"/>
  </p:custDataLst>
  <p:defaultTextStyle>
    <a:defPPr>
      <a:defRPr lang="de-DE"/>
    </a:defPPr>
    <a:lvl1pPr algn="l" defTabSz="45713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130" algn="l" defTabSz="45713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260" algn="l" defTabSz="45713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390" algn="l" defTabSz="45713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520" algn="l" defTabSz="45713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5650" algn="l" defTabSz="91426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2780" algn="l" defTabSz="91426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199910" algn="l" defTabSz="91426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040" algn="l" defTabSz="91426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ermann Ultraschall Template" id="{E288A15B-C61F-46F5-9AF1-9B20770DE8A5}">
          <p14:sldIdLst>
            <p14:sldId id="383"/>
            <p14:sldId id="378"/>
            <p14:sldId id="394"/>
            <p14:sldId id="398"/>
            <p14:sldId id="399"/>
            <p14:sldId id="405"/>
            <p14:sldId id="400"/>
            <p14:sldId id="401"/>
            <p14:sldId id="414"/>
            <p14:sldId id="402"/>
            <p14:sldId id="407"/>
            <p14:sldId id="415"/>
            <p14:sldId id="416"/>
            <p14:sldId id="403"/>
            <p14:sldId id="408"/>
            <p14:sldId id="409"/>
            <p14:sldId id="412"/>
            <p14:sldId id="410"/>
            <p14:sldId id="411"/>
            <p14:sldId id="413"/>
            <p14:sldId id="381"/>
          </p14:sldIdLst>
        </p14:section>
      </p14:sectionLst>
    </p:ext>
    <p:ext uri="{EFAFB233-063F-42B5-8137-9DF3F51BA10A}">
      <p15:sldGuideLst xmlns:p15="http://schemas.microsoft.com/office/powerpoint/2012/main">
        <p15:guide id="7" pos="2880">
          <p15:clr>
            <a:srgbClr val="A4A3A4"/>
          </p15:clr>
        </p15:guide>
        <p15:guide id="8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44" userDrawn="1">
          <p15:clr>
            <a:srgbClr val="A4A3A4"/>
          </p15:clr>
        </p15:guide>
        <p15:guide id="2" orient="horz" pos="2410" userDrawn="1">
          <p15:clr>
            <a:srgbClr val="A4A3A4"/>
          </p15:clr>
        </p15:guide>
        <p15:guide id="3" pos="542" userDrawn="1">
          <p15:clr>
            <a:srgbClr val="A4A3A4"/>
          </p15:clr>
        </p15:guide>
        <p15:guide id="4" pos="3919" userDrawn="1">
          <p15:clr>
            <a:srgbClr val="A4A3A4"/>
          </p15:clr>
        </p15:guide>
        <p15:guide id="5" orient="horz" pos="199" userDrawn="1">
          <p15:clr>
            <a:srgbClr val="A4A3A4"/>
          </p15:clr>
        </p15:guide>
        <p15:guide id="6" orient="horz" pos="5721" userDrawn="1">
          <p15:clr>
            <a:srgbClr val="A4A3A4"/>
          </p15:clr>
        </p15:guide>
        <p15:guide id="7" orient="horz" pos="5851" userDrawn="1">
          <p15:clr>
            <a:srgbClr val="A4A3A4"/>
          </p15:clr>
        </p15:guide>
        <p15:guide id="8" orient="horz" pos="6004" userDrawn="1">
          <p15:clr>
            <a:srgbClr val="A4A3A4"/>
          </p15:clr>
        </p15:guide>
        <p15:guide id="9" pos="438" userDrawn="1">
          <p15:clr>
            <a:srgbClr val="A4A3A4"/>
          </p15:clr>
        </p15:guide>
        <p15:guide id="10" pos="3960" userDrawn="1">
          <p15:clr>
            <a:srgbClr val="A4A3A4"/>
          </p15:clr>
        </p15:guide>
        <p15:guide id="11" pos="2687" userDrawn="1">
          <p15:clr>
            <a:srgbClr val="A4A3A4"/>
          </p15:clr>
        </p15:guide>
        <p15:guide id="12" pos="277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CC"/>
    <a:srgbClr val="99FF66"/>
    <a:srgbClr val="007BBD"/>
    <a:srgbClr val="000000"/>
    <a:srgbClr val="05FFFF"/>
    <a:srgbClr val="D9D9D9"/>
    <a:srgbClr val="333333"/>
    <a:srgbClr val="FF0000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unkle Formatvorlage 2 - Akzent 1/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7CE84F3-28C3-443E-9E96-99CF82512B78}" styleName="Dunkle Formatvorlage 1 - Akz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05" autoAdjust="0"/>
    <p:restoredTop sz="70957" autoAdjust="0"/>
  </p:normalViewPr>
  <p:slideViewPr>
    <p:cSldViewPr snapToObjects="1">
      <p:cViewPr varScale="1">
        <p:scale>
          <a:sx n="133" d="100"/>
          <a:sy n="133" d="100"/>
        </p:scale>
        <p:origin x="402" y="114"/>
      </p:cViewPr>
      <p:guideLst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>
        <p:scale>
          <a:sx n="75" d="100"/>
          <a:sy n="75" d="100"/>
        </p:scale>
        <p:origin x="6060" y="1344"/>
      </p:cViewPr>
      <p:guideLst>
        <p:guide orient="horz" pos="2544"/>
        <p:guide orient="horz" pos="2410"/>
        <p:guide pos="542"/>
        <p:guide pos="3919"/>
        <p:guide orient="horz" pos="199"/>
        <p:guide orient="horz" pos="5721"/>
        <p:guide orient="horz" pos="5851"/>
        <p:guide orient="horz" pos="6004"/>
        <p:guide pos="438"/>
        <p:guide pos="3960"/>
        <p:guide pos="2687"/>
        <p:guide pos="277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22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/>
          <p:cNvGrpSpPr/>
          <p:nvPr/>
        </p:nvGrpSpPr>
        <p:grpSpPr bwMode="gray">
          <a:xfrm>
            <a:off x="-143730" y="-141131"/>
            <a:ext cx="6932735" cy="10058091"/>
            <a:chOff x="-153653" y="-147757"/>
            <a:chExt cx="7411369" cy="10530126"/>
          </a:xfrm>
        </p:grpSpPr>
        <p:sp>
          <p:nvSpPr>
            <p:cNvPr id="4" name="Isosceles Triangle 9"/>
            <p:cNvSpPr/>
            <p:nvPr/>
          </p:nvSpPr>
          <p:spPr bwMode="gray">
            <a:xfrm rot="10800000">
              <a:off x="710046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6" name="Isosceles Triangle 9"/>
            <p:cNvSpPr/>
            <p:nvPr/>
          </p:nvSpPr>
          <p:spPr bwMode="gray">
            <a:xfrm rot="10800000">
              <a:off x="6689365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7" name="Isosceles Triangle 9"/>
            <p:cNvSpPr/>
            <p:nvPr/>
          </p:nvSpPr>
          <p:spPr bwMode="gray">
            <a:xfrm rot="10800000">
              <a:off x="4671254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8" name="Isosceles Triangle 9"/>
            <p:cNvSpPr/>
            <p:nvPr/>
          </p:nvSpPr>
          <p:spPr bwMode="gray">
            <a:xfrm rot="10800000">
              <a:off x="4528778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9" name="Isosceles Triangle 9"/>
            <p:cNvSpPr/>
            <p:nvPr/>
          </p:nvSpPr>
          <p:spPr bwMode="gray">
            <a:xfrm rot="10800000" flipV="1">
              <a:off x="710046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0" name="Isosceles Triangle 9"/>
            <p:cNvSpPr/>
            <p:nvPr/>
          </p:nvSpPr>
          <p:spPr bwMode="gray">
            <a:xfrm rot="10800000" flipV="1">
              <a:off x="6689365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1" name="Isosceles Triangle 9"/>
            <p:cNvSpPr/>
            <p:nvPr/>
          </p:nvSpPr>
          <p:spPr bwMode="gray">
            <a:xfrm rot="10800000" flipV="1">
              <a:off x="4671254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2" name="Isosceles Triangle 9"/>
            <p:cNvSpPr/>
            <p:nvPr/>
          </p:nvSpPr>
          <p:spPr bwMode="gray">
            <a:xfrm rot="10800000" flipV="1">
              <a:off x="4528778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3" name="Isosceles Triangle 9"/>
            <p:cNvSpPr/>
            <p:nvPr/>
          </p:nvSpPr>
          <p:spPr bwMode="gray">
            <a:xfrm rot="5400000">
              <a:off x="-157863" y="29991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4" name="Isosceles Triangle 9"/>
            <p:cNvSpPr/>
            <p:nvPr/>
          </p:nvSpPr>
          <p:spPr bwMode="gray">
            <a:xfrm rot="5400000">
              <a:off x="-157863" y="397656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5" name="Isosceles Triangle 9"/>
            <p:cNvSpPr/>
            <p:nvPr/>
          </p:nvSpPr>
          <p:spPr bwMode="gray">
            <a:xfrm rot="5400000">
              <a:off x="-157863" y="419881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6" name="Isosceles Triangle 9"/>
            <p:cNvSpPr/>
            <p:nvPr/>
          </p:nvSpPr>
          <p:spPr bwMode="gray">
            <a:xfrm rot="5400000">
              <a:off x="-157863" y="948092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7" name="Isosceles Triangle 9"/>
            <p:cNvSpPr/>
            <p:nvPr/>
          </p:nvSpPr>
          <p:spPr bwMode="gray">
            <a:xfrm rot="5400000">
              <a:off x="-157863" y="96987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8" name="Isosceles Triangle 9"/>
            <p:cNvSpPr/>
            <p:nvPr/>
          </p:nvSpPr>
          <p:spPr bwMode="gray">
            <a:xfrm rot="5400000">
              <a:off x="-157863" y="99511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9" name="Isosceles Triangle 9"/>
            <p:cNvSpPr/>
            <p:nvPr/>
          </p:nvSpPr>
          <p:spPr bwMode="gray">
            <a:xfrm rot="16200000" flipH="1">
              <a:off x="7200880" y="29991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20" name="Isosceles Triangle 9"/>
            <p:cNvSpPr/>
            <p:nvPr/>
          </p:nvSpPr>
          <p:spPr bwMode="gray">
            <a:xfrm rot="16200000" flipH="1">
              <a:off x="7200880" y="397656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21" name="Isosceles Triangle 9"/>
            <p:cNvSpPr/>
            <p:nvPr/>
          </p:nvSpPr>
          <p:spPr bwMode="gray">
            <a:xfrm rot="16200000" flipH="1">
              <a:off x="7200880" y="419881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22" name="Isosceles Triangle 9"/>
            <p:cNvSpPr/>
            <p:nvPr/>
          </p:nvSpPr>
          <p:spPr bwMode="gray">
            <a:xfrm rot="16200000" flipH="1">
              <a:off x="7200880" y="948092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23" name="Isosceles Triangle 9"/>
            <p:cNvSpPr/>
            <p:nvPr/>
          </p:nvSpPr>
          <p:spPr bwMode="gray">
            <a:xfrm rot="16200000" flipH="1">
              <a:off x="7200880" y="96987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24" name="Isosceles Triangle 9"/>
            <p:cNvSpPr/>
            <p:nvPr/>
          </p:nvSpPr>
          <p:spPr bwMode="gray">
            <a:xfrm rot="16200000" flipH="1">
              <a:off x="7200880" y="99511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</p:grpSp>
      <p:sp>
        <p:nvSpPr>
          <p:cNvPr id="28" name="Foliennummernplatzhalter 6"/>
          <p:cNvSpPr>
            <a:spLocks noGrp="1"/>
          </p:cNvSpPr>
          <p:nvPr>
            <p:ph type="sldNum" sz="quarter" idx="3"/>
          </p:nvPr>
        </p:nvSpPr>
        <p:spPr bwMode="gray">
          <a:xfrm>
            <a:off x="4972347" y="9289839"/>
            <a:ext cx="1313565" cy="240341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2"/>
                </a:solidFill>
                <a:latin typeface="+mn-lt"/>
              </a:defRPr>
            </a:lvl1pPr>
          </a:lstStyle>
          <a:p>
            <a:fld id="{34E13925-E938-4228-AE74-92AB500038A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9" name="Kopfzeilenplatzhalter 13"/>
          <p:cNvSpPr>
            <a:spLocks noGrp="1"/>
          </p:cNvSpPr>
          <p:nvPr>
            <p:ph type="hdr" sz="quarter"/>
          </p:nvPr>
        </p:nvSpPr>
        <p:spPr bwMode="gray">
          <a:xfrm>
            <a:off x="694971" y="313884"/>
            <a:ext cx="4347515" cy="299831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lvl1pPr algn="l">
              <a:defRPr sz="1000">
                <a:solidFill>
                  <a:schemeClr val="bg2"/>
                </a:solidFill>
                <a:latin typeface="+mn-lt"/>
              </a:defRPr>
            </a:lvl1pPr>
          </a:lstStyle>
          <a:p>
            <a:endParaRPr lang="de-DE" dirty="0"/>
          </a:p>
        </p:txBody>
      </p:sp>
      <p:sp>
        <p:nvSpPr>
          <p:cNvPr id="30" name="Datumsplatzhalter 32"/>
          <p:cNvSpPr>
            <a:spLocks noGrp="1"/>
          </p:cNvSpPr>
          <p:nvPr>
            <p:ph type="dt" idx="1"/>
          </p:nvPr>
        </p:nvSpPr>
        <p:spPr bwMode="gray">
          <a:xfrm>
            <a:off x="5042485" y="313884"/>
            <a:ext cx="1243426" cy="299831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lvl1pPr algn="r">
              <a:defRPr sz="1000">
                <a:solidFill>
                  <a:schemeClr val="bg2"/>
                </a:solidFill>
                <a:latin typeface="+mn-lt"/>
              </a:defRPr>
            </a:lvl1pPr>
          </a:lstStyle>
          <a:p>
            <a:fld id="{4898E2BF-6B10-4B00-9BEA-AA866B211861}" type="datetimeFigureOut">
              <a:rPr lang="de-DE" smtClean="0"/>
              <a:pPr/>
              <a:t>03.09.2025</a:t>
            </a:fld>
            <a:endParaRPr lang="de-DE" dirty="0"/>
          </a:p>
        </p:txBody>
      </p:sp>
      <p:sp>
        <p:nvSpPr>
          <p:cNvPr id="31" name="Fußzeilenplatzhalter 33"/>
          <p:cNvSpPr>
            <a:spLocks noGrp="1"/>
          </p:cNvSpPr>
          <p:nvPr>
            <p:ph type="ftr" sz="quarter" idx="2"/>
          </p:nvPr>
        </p:nvSpPr>
        <p:spPr bwMode="gray">
          <a:xfrm>
            <a:off x="694970" y="9289839"/>
            <a:ext cx="2184402" cy="240341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lvl1pPr algn="l">
              <a:defRPr sz="1000">
                <a:solidFill>
                  <a:schemeClr val="bg2"/>
                </a:solidFill>
                <a:latin typeface="+mn-lt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2403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uppieren 62"/>
          <p:cNvGrpSpPr/>
          <p:nvPr/>
        </p:nvGrpSpPr>
        <p:grpSpPr bwMode="gray">
          <a:xfrm>
            <a:off x="-143730" y="-141131"/>
            <a:ext cx="6932735" cy="10058091"/>
            <a:chOff x="-153653" y="-147757"/>
            <a:chExt cx="7411369" cy="10530126"/>
          </a:xfrm>
        </p:grpSpPr>
        <p:sp>
          <p:nvSpPr>
            <p:cNvPr id="10" name="Isosceles Triangle 9"/>
            <p:cNvSpPr/>
            <p:nvPr/>
          </p:nvSpPr>
          <p:spPr bwMode="gray">
            <a:xfrm rot="10800000">
              <a:off x="710046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11" name="Isosceles Triangle 9"/>
            <p:cNvSpPr/>
            <p:nvPr/>
          </p:nvSpPr>
          <p:spPr bwMode="gray">
            <a:xfrm rot="10800000">
              <a:off x="6689365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38" name="Isosceles Triangle 9"/>
            <p:cNvSpPr/>
            <p:nvPr/>
          </p:nvSpPr>
          <p:spPr bwMode="gray">
            <a:xfrm rot="10800000">
              <a:off x="4671254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39" name="Isosceles Triangle 9"/>
            <p:cNvSpPr/>
            <p:nvPr/>
          </p:nvSpPr>
          <p:spPr bwMode="gray">
            <a:xfrm rot="10800000">
              <a:off x="4528778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41" name="Isosceles Triangle 9"/>
            <p:cNvSpPr/>
            <p:nvPr/>
          </p:nvSpPr>
          <p:spPr bwMode="gray">
            <a:xfrm rot="10800000" flipV="1">
              <a:off x="710046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42" name="Isosceles Triangle 9"/>
            <p:cNvSpPr/>
            <p:nvPr/>
          </p:nvSpPr>
          <p:spPr bwMode="gray">
            <a:xfrm rot="10800000" flipV="1">
              <a:off x="6689365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43" name="Isosceles Triangle 9"/>
            <p:cNvSpPr/>
            <p:nvPr/>
          </p:nvSpPr>
          <p:spPr bwMode="gray">
            <a:xfrm rot="10800000" flipV="1">
              <a:off x="4671254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44" name="Isosceles Triangle 9"/>
            <p:cNvSpPr/>
            <p:nvPr/>
          </p:nvSpPr>
          <p:spPr bwMode="gray">
            <a:xfrm rot="10800000" flipV="1">
              <a:off x="4528778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47" name="Isosceles Triangle 9"/>
            <p:cNvSpPr/>
            <p:nvPr/>
          </p:nvSpPr>
          <p:spPr bwMode="gray">
            <a:xfrm rot="5400000">
              <a:off x="-157863" y="29991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48" name="Isosceles Triangle 9"/>
            <p:cNvSpPr/>
            <p:nvPr/>
          </p:nvSpPr>
          <p:spPr bwMode="gray">
            <a:xfrm rot="5400000">
              <a:off x="-157863" y="397656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50" name="Isosceles Triangle 9"/>
            <p:cNvSpPr/>
            <p:nvPr/>
          </p:nvSpPr>
          <p:spPr bwMode="gray">
            <a:xfrm rot="5400000">
              <a:off x="-157863" y="419881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51" name="Isosceles Triangle 9"/>
            <p:cNvSpPr/>
            <p:nvPr/>
          </p:nvSpPr>
          <p:spPr bwMode="gray">
            <a:xfrm rot="5400000">
              <a:off x="-157863" y="948092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52" name="Isosceles Triangle 9"/>
            <p:cNvSpPr/>
            <p:nvPr/>
          </p:nvSpPr>
          <p:spPr bwMode="gray">
            <a:xfrm rot="5400000">
              <a:off x="-157863" y="96987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53" name="Isosceles Triangle 9"/>
            <p:cNvSpPr/>
            <p:nvPr/>
          </p:nvSpPr>
          <p:spPr bwMode="gray">
            <a:xfrm rot="5400000">
              <a:off x="-157863" y="99511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55" name="Isosceles Triangle 9"/>
            <p:cNvSpPr/>
            <p:nvPr/>
          </p:nvSpPr>
          <p:spPr bwMode="gray">
            <a:xfrm rot="16200000" flipH="1">
              <a:off x="7200880" y="29991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56" name="Isosceles Triangle 9"/>
            <p:cNvSpPr/>
            <p:nvPr/>
          </p:nvSpPr>
          <p:spPr bwMode="gray">
            <a:xfrm rot="16200000" flipH="1">
              <a:off x="7200880" y="397656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57" name="Isosceles Triangle 9"/>
            <p:cNvSpPr/>
            <p:nvPr/>
          </p:nvSpPr>
          <p:spPr bwMode="gray">
            <a:xfrm rot="16200000" flipH="1">
              <a:off x="7200880" y="419881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58" name="Isosceles Triangle 9"/>
            <p:cNvSpPr/>
            <p:nvPr/>
          </p:nvSpPr>
          <p:spPr bwMode="gray">
            <a:xfrm rot="16200000" flipH="1">
              <a:off x="7200880" y="948092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59" name="Isosceles Triangle 9"/>
            <p:cNvSpPr/>
            <p:nvPr/>
          </p:nvSpPr>
          <p:spPr bwMode="gray">
            <a:xfrm rot="16200000" flipH="1">
              <a:off x="7200880" y="96987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60" name="Isosceles Triangle 9"/>
            <p:cNvSpPr/>
            <p:nvPr/>
          </p:nvSpPr>
          <p:spPr bwMode="gray">
            <a:xfrm rot="16200000" flipH="1">
              <a:off x="7200880" y="99511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</p:grp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gray">
          <a:xfrm>
            <a:off x="694970" y="3794290"/>
            <a:ext cx="5650268" cy="5489409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</a:t>
            </a:r>
            <a:r>
              <a:rPr lang="de-DE" noProof="0" dirty="0" smtClean="0"/>
              <a:t>Ebene</a:t>
            </a:r>
          </a:p>
          <a:p>
            <a:pPr lvl="4"/>
            <a:r>
              <a:rPr lang="de-DE" noProof="0" dirty="0" err="1" smtClean="0"/>
              <a:t>Asdf</a:t>
            </a:r>
            <a:endParaRPr lang="de-DE" noProof="0" dirty="0" smtClean="0"/>
          </a:p>
          <a:p>
            <a:pPr lvl="5"/>
            <a:r>
              <a:rPr lang="de-DE" noProof="0" dirty="0" err="1" smtClean="0"/>
              <a:t>Asdf</a:t>
            </a:r>
            <a:endParaRPr lang="de-DE" noProof="0" dirty="0" smtClean="0"/>
          </a:p>
          <a:p>
            <a:pPr lvl="6"/>
            <a:r>
              <a:rPr lang="de-DE" noProof="0" dirty="0" err="1" smtClean="0"/>
              <a:t>Asdf</a:t>
            </a:r>
            <a:endParaRPr lang="de-DE" noProof="0" dirty="0" smtClean="0"/>
          </a:p>
          <a:p>
            <a:pPr lvl="7"/>
            <a:r>
              <a:rPr lang="de-DE" noProof="0" dirty="0" err="1" smtClean="0"/>
              <a:t>Asdf</a:t>
            </a:r>
            <a:endParaRPr lang="de-DE" noProof="0" dirty="0" smtClean="0"/>
          </a:p>
          <a:p>
            <a:pPr lvl="8"/>
            <a:r>
              <a:rPr lang="de-DE" noProof="0" dirty="0" err="1" smtClean="0"/>
              <a:t>asdf</a:t>
            </a:r>
            <a:endParaRPr lang="de-DE" noProof="0" dirty="0"/>
          </a:p>
        </p:txBody>
      </p:sp>
      <p:sp>
        <p:nvSpPr>
          <p:cNvPr id="23" name="Folienbildplatzhalter 22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636588" y="351408"/>
            <a:ext cx="5708650" cy="3211512"/>
          </a:xfrm>
          <a:prstGeom prst="rect">
            <a:avLst/>
          </a:prstGeom>
          <a:noFill/>
          <a:ln w="3175"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txBody>
          <a:bodyPr vert="horz" lIns="86545" tIns="43273" rIns="86545" bIns="43273" rtlCol="0" anchor="ctr"/>
          <a:lstStyle/>
          <a:p>
            <a:pPr lvl="0"/>
            <a:endParaRPr lang="de-DE" noProof="0"/>
          </a:p>
        </p:txBody>
      </p:sp>
      <p:sp>
        <p:nvSpPr>
          <p:cNvPr id="34" name="Fußzeilenplatzhalter 33"/>
          <p:cNvSpPr>
            <a:spLocks noGrp="1"/>
          </p:cNvSpPr>
          <p:nvPr>
            <p:ph type="ftr" sz="quarter" idx="4"/>
          </p:nvPr>
        </p:nvSpPr>
        <p:spPr bwMode="gray">
          <a:xfrm>
            <a:off x="694970" y="9289839"/>
            <a:ext cx="2184402" cy="240341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lvl1pPr algn="l">
              <a:defRPr sz="1000">
                <a:solidFill>
                  <a:schemeClr val="bg2"/>
                </a:solidFill>
                <a:latin typeface="+mn-lt"/>
              </a:defRPr>
            </a:lvl1pPr>
          </a:lstStyle>
          <a:p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5"/>
          </p:nvPr>
        </p:nvSpPr>
        <p:spPr>
          <a:xfrm>
            <a:off x="4185238" y="9318235"/>
            <a:ext cx="2160000" cy="241201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lvl1pPr algn="r">
              <a:defRPr lang="de-DE" sz="1000" smtClean="0">
                <a:solidFill>
                  <a:schemeClr val="bg2"/>
                </a:solidFill>
                <a:latin typeface="+mn-lt"/>
              </a:defRPr>
            </a:lvl1pPr>
          </a:lstStyle>
          <a:p>
            <a:fld id="{567B3B95-3F62-486B-BCAC-65A3E0C7085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88819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130" rtl="0" eaLnBrk="0" fontAlgn="base" hangingPunct="0">
      <a:spcBef>
        <a:spcPts val="200"/>
      </a:spcBef>
      <a:spcAft>
        <a:spcPts val="200"/>
      </a:spcAft>
      <a:defRPr sz="1600" kern="1200">
        <a:solidFill>
          <a:schemeClr val="tx1"/>
        </a:solidFill>
        <a:latin typeface="+mn-lt"/>
        <a:ea typeface="ＭＳ Ｐゴシック" pitchFamily="-84" charset="-128"/>
        <a:cs typeface="ＭＳ Ｐゴシック" charset="0"/>
      </a:defRPr>
    </a:lvl1pPr>
    <a:lvl2pPr marL="180000" indent="-180000" algn="l" defTabSz="457130" rtl="0" eaLnBrk="0" fontAlgn="base" hangingPunct="0">
      <a:spcBef>
        <a:spcPts val="200"/>
      </a:spcBef>
      <a:spcAft>
        <a:spcPts val="200"/>
      </a:spcAft>
      <a:buClr>
        <a:srgbClr val="FF0000"/>
      </a:buClr>
      <a:buSzPct val="90000"/>
      <a:buFont typeface="Wingdings" pitchFamily="2" charset="2"/>
      <a:buChar char="§"/>
      <a:defRPr sz="1600" kern="1200">
        <a:solidFill>
          <a:schemeClr val="tx1"/>
        </a:solidFill>
        <a:latin typeface="+mn-lt"/>
        <a:ea typeface="ＭＳ Ｐゴシック" pitchFamily="-84" charset="-128"/>
        <a:cs typeface="+mn-cs"/>
      </a:defRPr>
    </a:lvl2pPr>
    <a:lvl3pPr marL="360000" indent="-180000" algn="l" defTabSz="457130" rtl="0" eaLnBrk="0" fontAlgn="base" hangingPunct="0">
      <a:spcBef>
        <a:spcPts val="200"/>
      </a:spcBef>
      <a:spcAft>
        <a:spcPts val="200"/>
      </a:spcAft>
      <a:buClr>
        <a:srgbClr val="FF0000"/>
      </a:buClr>
      <a:buSzPct val="90000"/>
      <a:buFont typeface="Wingdings" pitchFamily="2" charset="2"/>
      <a:buChar char="§"/>
      <a:defRPr sz="1600" kern="1200">
        <a:solidFill>
          <a:schemeClr val="tx1"/>
        </a:solidFill>
        <a:latin typeface="+mn-lt"/>
        <a:ea typeface="ＭＳ Ｐゴシック" pitchFamily="-84" charset="-128"/>
        <a:cs typeface="+mn-cs"/>
      </a:defRPr>
    </a:lvl3pPr>
    <a:lvl4pPr marL="540000" indent="-180000" algn="l" defTabSz="457130" rtl="0" eaLnBrk="0" fontAlgn="base" hangingPunct="0">
      <a:spcBef>
        <a:spcPts val="200"/>
      </a:spcBef>
      <a:spcAft>
        <a:spcPts val="200"/>
      </a:spcAft>
      <a:buClr>
        <a:srgbClr val="FF0000"/>
      </a:buClr>
      <a:buSzPct val="90000"/>
      <a:buFont typeface="Wingdings" pitchFamily="2" charset="2"/>
      <a:buChar char="§"/>
      <a:defRPr sz="1600" b="0" kern="1200">
        <a:solidFill>
          <a:schemeClr val="tx1"/>
        </a:solidFill>
        <a:latin typeface="+mn-lt"/>
        <a:ea typeface="ＭＳ Ｐゴシック" pitchFamily="-84" charset="-128"/>
        <a:cs typeface="+mn-cs"/>
      </a:defRPr>
    </a:lvl4pPr>
    <a:lvl5pPr marL="270000" indent="-270000" algn="l" defTabSz="457130" rtl="0" eaLnBrk="0" fontAlgn="base" hangingPunct="0">
      <a:spcBef>
        <a:spcPts val="200"/>
      </a:spcBef>
      <a:spcAft>
        <a:spcPts val="200"/>
      </a:spcAft>
      <a:buClr>
        <a:srgbClr val="FF0000"/>
      </a:buClr>
      <a:buSzPct val="90000"/>
      <a:buFont typeface="+mj-lt"/>
      <a:buAutoNum type="arabicPeriod"/>
      <a:defRPr sz="1600" b="0" kern="1200">
        <a:solidFill>
          <a:schemeClr val="tx1"/>
        </a:solidFill>
        <a:latin typeface="+mn-lt"/>
        <a:ea typeface="ＭＳ Ｐゴシック" pitchFamily="-84" charset="-128"/>
        <a:cs typeface="+mn-cs"/>
      </a:defRPr>
    </a:lvl5pPr>
    <a:lvl6pPr marL="450850" indent="-180000" algn="l" defTabSz="457130" rtl="0" eaLnBrk="1" latinLnBrk="0" hangingPunct="1">
      <a:spcBef>
        <a:spcPts val="200"/>
      </a:spcBef>
      <a:spcAft>
        <a:spcPts val="200"/>
      </a:spcAft>
      <a:buClr>
        <a:schemeClr val="accent2"/>
      </a:buClr>
      <a:buFont typeface="+mj-lt"/>
      <a:buAutoNum type="alphaLcPeriod"/>
      <a:defRPr sz="1600" b="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457130" rtl="0" eaLnBrk="1" latinLnBrk="0" hangingPunct="1">
      <a:spcBef>
        <a:spcPts val="200"/>
      </a:spcBef>
      <a:spcAft>
        <a:spcPts val="200"/>
      </a:spcAft>
      <a:defRPr sz="2000" b="1" kern="1200">
        <a:solidFill>
          <a:schemeClr val="accent2"/>
        </a:solidFill>
        <a:latin typeface="+mn-lt"/>
        <a:ea typeface="+mn-ea"/>
        <a:cs typeface="+mn-cs"/>
      </a:defRPr>
    </a:lvl7pPr>
    <a:lvl8pPr marL="0" indent="0" algn="l" defTabSz="457130" rtl="0" eaLnBrk="1" latinLnBrk="0" hangingPunct="1">
      <a:spcBef>
        <a:spcPts val="200"/>
      </a:spcBef>
      <a:spcAft>
        <a:spcPts val="200"/>
      </a:spcAft>
      <a:defRPr sz="1100" b="0" kern="1200">
        <a:solidFill>
          <a:schemeClr val="tx2"/>
        </a:solidFill>
        <a:latin typeface="+mn-lt"/>
        <a:ea typeface="+mn-ea"/>
        <a:cs typeface="+mn-cs"/>
      </a:defRPr>
    </a:lvl8pPr>
    <a:lvl9pPr marL="0" indent="0" algn="l" defTabSz="457130" rtl="0" eaLnBrk="1" latinLnBrk="0" hangingPunct="1">
      <a:spcBef>
        <a:spcPts val="200"/>
      </a:spcBef>
      <a:spcAft>
        <a:spcPts val="200"/>
      </a:spcAft>
      <a:defRPr sz="1100" b="0" kern="1200">
        <a:solidFill>
          <a:schemeClr val="tx2"/>
        </a:solidFill>
        <a:latin typeface="+mn-lt"/>
        <a:ea typeface="+mn-ea"/>
        <a:cs typeface="+mn-cs"/>
      </a:defRPr>
    </a:lvl9pPr>
  </p:notesStyle>
  <p:extLst mod="1">
    <p:ext uri="{620B2872-D7B9-4A21-9093-7833F8D536E1}">
      <p15:sldGuideLst xmlns:p15="http://schemas.microsoft.com/office/powerpoint/2012/main">
        <p15:guide id="1" orient="horz" pos="2391" userDrawn="1">
          <p15:clr>
            <a:srgbClr val="F26B43"/>
          </p15:clr>
        </p15:guide>
        <p15:guide id="2" pos="2093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 err="1" smtClean="0"/>
              <a:t>Good</a:t>
            </a:r>
            <a:r>
              <a:rPr lang="de-DE" dirty="0" smtClean="0"/>
              <a:t> </a:t>
            </a:r>
            <a:r>
              <a:rPr lang="de-DE" dirty="0" err="1" smtClean="0"/>
              <a:t>afternoon</a:t>
            </a:r>
            <a:r>
              <a:rPr lang="de-DE" dirty="0" smtClean="0"/>
              <a:t>, I am </a:t>
            </a:r>
            <a:r>
              <a:rPr lang="de-DE" dirty="0" err="1" smtClean="0"/>
              <a:t>pleased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present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you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today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results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my</a:t>
            </a:r>
            <a:r>
              <a:rPr lang="de-DE" baseline="0" dirty="0" smtClean="0"/>
              <a:t> Data Science Project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5536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 </a:t>
            </a:r>
            <a:r>
              <a:rPr lang="de-DE" dirty="0" err="1" smtClean="0"/>
              <a:t>presentation</a:t>
            </a:r>
            <a:r>
              <a:rPr lang="de-DE" dirty="0" smtClean="0"/>
              <a:t> will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divided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following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sections</a:t>
            </a:r>
            <a:r>
              <a:rPr lang="de-DE" baseline="0" dirty="0" smtClean="0"/>
              <a:t>: I will </a:t>
            </a:r>
            <a:r>
              <a:rPr lang="de-DE" baseline="0" dirty="0" err="1" smtClean="0"/>
              <a:t>show</a:t>
            </a:r>
            <a:r>
              <a:rPr lang="de-DE" baseline="0" dirty="0" smtClean="0"/>
              <a:t> </a:t>
            </a:r>
            <a:r>
              <a:rPr lang="de-DE" baseline="0" dirty="0" err="1" smtClean="0"/>
              <a:t>you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some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elements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slides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then</a:t>
            </a:r>
            <a:r>
              <a:rPr lang="de-DE" baseline="0" dirty="0" smtClean="0"/>
              <a:t> at </a:t>
            </a:r>
            <a:r>
              <a:rPr lang="de-DE" baseline="0" dirty="0" err="1" smtClean="0"/>
              <a:t>some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points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presentation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we</a:t>
            </a:r>
            <a:r>
              <a:rPr lang="de-DE" baseline="0" dirty="0" smtClean="0"/>
              <a:t> will </a:t>
            </a:r>
            <a:r>
              <a:rPr lang="de-DE" baseline="0" dirty="0" err="1" smtClean="0"/>
              <a:t>switch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streamlit</a:t>
            </a:r>
            <a:endParaRPr lang="de-DE" baseline="0" dirty="0" smtClean="0"/>
          </a:p>
          <a:p>
            <a:endParaRPr lang="de-DE" baseline="0" dirty="0" smtClean="0"/>
          </a:p>
          <a:p>
            <a:r>
              <a:rPr lang="de-DE" baseline="0" dirty="0" smtClean="0"/>
              <a:t>After a </a:t>
            </a:r>
            <a:r>
              <a:rPr lang="de-DE" baseline="0" dirty="0" err="1" smtClean="0"/>
              <a:t>short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introduction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</a:t>
            </a:r>
            <a:r>
              <a:rPr lang="de-DE" baseline="0" dirty="0" smtClean="0"/>
              <a:t> will </a:t>
            </a:r>
            <a:r>
              <a:rPr lang="de-DE" baseline="0" dirty="0" err="1" smtClean="0"/>
              <a:t>have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look</a:t>
            </a:r>
            <a:r>
              <a:rPr lang="de-DE" baseline="0" dirty="0" smtClean="0"/>
              <a:t> at:</a:t>
            </a:r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data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targets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models</a:t>
            </a: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err="1" smtClean="0"/>
              <a:t>and</a:t>
            </a:r>
            <a:r>
              <a:rPr lang="de-DE" baseline="0" dirty="0" smtClean="0"/>
              <a:t> finish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an </a:t>
            </a:r>
            <a:r>
              <a:rPr lang="de-DE" baseline="0" dirty="0" err="1" smtClean="0"/>
              <a:t>outlook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project</a:t>
            </a:r>
            <a:endParaRPr lang="de-DE" baseline="0" dirty="0" smtClean="0"/>
          </a:p>
          <a:p>
            <a:endParaRPr lang="de-DE" baseline="0" dirty="0" smtClean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4972347" y="9289839"/>
            <a:ext cx="1313565" cy="240341"/>
          </a:xfrm>
          <a:prstGeom prst="rect">
            <a:avLst/>
          </a:prstGeom>
        </p:spPr>
        <p:txBody>
          <a:bodyPr/>
          <a:lstStyle/>
          <a:p>
            <a:fld id="{34E13925-E938-4228-AE74-92AB500038AB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3659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de-DE" dirty="0" err="1" smtClean="0"/>
              <a:t>Principle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dirty="0" smtClean="0"/>
              <a:t>US-</a:t>
            </a:r>
            <a:r>
              <a:rPr lang="de-DE" dirty="0" err="1" smtClean="0"/>
              <a:t>Welding</a:t>
            </a:r>
            <a:endParaRPr lang="de-DE" dirty="0" smtClean="0"/>
          </a:p>
          <a:p>
            <a:pPr marL="285750" indent="-285750">
              <a:buFontTx/>
              <a:buChar char="-"/>
            </a:pPr>
            <a:r>
              <a:rPr lang="de-DE" dirty="0" err="1" smtClean="0"/>
              <a:t>Mechanical</a:t>
            </a:r>
            <a:r>
              <a:rPr lang="de-DE" dirty="0" smtClean="0"/>
              <a:t> </a:t>
            </a:r>
            <a:r>
              <a:rPr lang="de-DE" dirty="0" err="1" smtClean="0"/>
              <a:t>vibrations</a:t>
            </a:r>
            <a:r>
              <a:rPr lang="de-DE" dirty="0" smtClean="0"/>
              <a:t> </a:t>
            </a:r>
            <a:r>
              <a:rPr lang="de-DE" dirty="0" err="1" smtClean="0"/>
              <a:t>transfer</a:t>
            </a:r>
            <a:r>
              <a:rPr lang="de-DE" dirty="0" smtClean="0"/>
              <a:t> </a:t>
            </a:r>
            <a:r>
              <a:rPr lang="de-DE" dirty="0" err="1" smtClean="0"/>
              <a:t>kinetic</a:t>
            </a:r>
            <a:r>
              <a:rPr lang="de-DE" dirty="0" smtClean="0"/>
              <a:t> </a:t>
            </a:r>
            <a:r>
              <a:rPr lang="de-DE" dirty="0" err="1" smtClean="0"/>
              <a:t>energy</a:t>
            </a:r>
            <a:r>
              <a:rPr lang="de-DE" dirty="0" smtClean="0"/>
              <a:t> </a:t>
            </a:r>
            <a:r>
              <a:rPr lang="de-DE" dirty="0" err="1" smtClean="0"/>
              <a:t>into</a:t>
            </a:r>
            <a:r>
              <a:rPr lang="de-DE" dirty="0" smtClean="0"/>
              <a:t> a </a:t>
            </a:r>
            <a:r>
              <a:rPr lang="de-DE" dirty="0" err="1" smtClean="0"/>
              <a:t>welding</a:t>
            </a:r>
            <a:r>
              <a:rPr lang="de-DE" dirty="0" smtClean="0"/>
              <a:t> </a:t>
            </a:r>
            <a:r>
              <a:rPr lang="de-DE" dirty="0" err="1" smtClean="0"/>
              <a:t>part</a:t>
            </a:r>
            <a:endParaRPr lang="de-DE" dirty="0" smtClean="0"/>
          </a:p>
          <a:p>
            <a:pPr marL="285750" indent="-285750">
              <a:buFontTx/>
              <a:buChar char="-"/>
            </a:pPr>
            <a:r>
              <a:rPr lang="de-DE" dirty="0" smtClean="0"/>
              <a:t>The </a:t>
            </a:r>
            <a:r>
              <a:rPr lang="de-DE" dirty="0" err="1" smtClean="0"/>
              <a:t>surface</a:t>
            </a:r>
            <a:r>
              <a:rPr lang="de-DE" dirty="0" smtClean="0"/>
              <a:t> </a:t>
            </a:r>
            <a:r>
              <a:rPr lang="de-DE" dirty="0" err="1" smtClean="0"/>
              <a:t>friction</a:t>
            </a:r>
            <a:r>
              <a:rPr lang="de-DE" dirty="0" smtClean="0"/>
              <a:t> </a:t>
            </a:r>
            <a:r>
              <a:rPr lang="de-DE" dirty="0" err="1" smtClean="0"/>
              <a:t>transforms</a:t>
            </a:r>
            <a:r>
              <a:rPr lang="de-DE" dirty="0" smtClean="0"/>
              <a:t> </a:t>
            </a:r>
            <a:r>
              <a:rPr lang="de-DE" dirty="0" err="1" smtClean="0"/>
              <a:t>this</a:t>
            </a:r>
            <a:r>
              <a:rPr lang="de-DE" dirty="0" smtClean="0"/>
              <a:t> </a:t>
            </a:r>
            <a:r>
              <a:rPr lang="de-DE" dirty="0" err="1" smtClean="0"/>
              <a:t>energy</a:t>
            </a:r>
            <a:r>
              <a:rPr lang="de-DE" dirty="0" smtClean="0"/>
              <a:t> </a:t>
            </a:r>
            <a:r>
              <a:rPr lang="de-DE" dirty="0" err="1" smtClean="0"/>
              <a:t>into</a:t>
            </a:r>
            <a:r>
              <a:rPr lang="de-DE" dirty="0" smtClean="0"/>
              <a:t> </a:t>
            </a:r>
            <a:r>
              <a:rPr lang="de-DE" dirty="0" err="1" smtClean="0"/>
              <a:t>heat</a:t>
            </a:r>
            <a:endParaRPr lang="de-DE" dirty="0" smtClean="0"/>
          </a:p>
          <a:p>
            <a:pPr marL="285750" indent="-285750">
              <a:buFontTx/>
              <a:buChar char="-"/>
            </a:pPr>
            <a:r>
              <a:rPr lang="de-DE" dirty="0" err="1" smtClean="0"/>
              <a:t>Then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material </a:t>
            </a:r>
            <a:r>
              <a:rPr lang="de-DE" dirty="0" err="1" smtClean="0"/>
              <a:t>begins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melt</a:t>
            </a:r>
            <a:endParaRPr lang="de-DE" dirty="0" smtClean="0"/>
          </a:p>
          <a:p>
            <a:pPr marL="285750" indent="-285750">
              <a:buFontTx/>
              <a:buChar char="-"/>
            </a:pPr>
            <a:r>
              <a:rPr lang="de-DE" dirty="0" smtClean="0"/>
              <a:t>A </a:t>
            </a:r>
            <a:r>
              <a:rPr lang="de-DE" dirty="0" err="1" smtClean="0"/>
              <a:t>mechanical</a:t>
            </a:r>
            <a:r>
              <a:rPr lang="de-DE" dirty="0" smtClean="0"/>
              <a:t> </a:t>
            </a:r>
            <a:r>
              <a:rPr lang="de-DE" dirty="0" err="1" smtClean="0"/>
              <a:t>force</a:t>
            </a:r>
            <a:r>
              <a:rPr lang="de-DE" dirty="0" smtClean="0"/>
              <a:t> </a:t>
            </a:r>
            <a:r>
              <a:rPr lang="de-DE" dirty="0" err="1" smtClean="0"/>
              <a:t>compresses</a:t>
            </a:r>
            <a:r>
              <a:rPr lang="de-DE" dirty="0" smtClean="0"/>
              <a:t> </a:t>
            </a:r>
            <a:r>
              <a:rPr lang="de-DE" dirty="0" err="1" smtClean="0"/>
              <a:t>it</a:t>
            </a:r>
            <a:r>
              <a:rPr lang="de-DE" dirty="0" smtClean="0"/>
              <a:t>, parallel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melting</a:t>
            </a:r>
            <a:endParaRPr lang="de-DE" dirty="0" smtClean="0"/>
          </a:p>
          <a:p>
            <a:pPr marL="285750" indent="-285750">
              <a:buFontTx/>
              <a:buChar char="-"/>
            </a:pPr>
            <a:r>
              <a:rPr lang="de-DE" dirty="0" smtClean="0"/>
              <a:t>A </a:t>
            </a:r>
            <a:r>
              <a:rPr lang="de-DE" dirty="0" err="1" smtClean="0"/>
              <a:t>new</a:t>
            </a:r>
            <a:r>
              <a:rPr lang="de-DE" dirty="0" smtClean="0"/>
              <a:t> </a:t>
            </a:r>
            <a:r>
              <a:rPr lang="de-DE" dirty="0" err="1" smtClean="0"/>
              <a:t>homogeneous</a:t>
            </a:r>
            <a:r>
              <a:rPr lang="de-DE" dirty="0" smtClean="0"/>
              <a:t> </a:t>
            </a:r>
            <a:r>
              <a:rPr lang="de-DE" dirty="0" err="1" smtClean="0"/>
              <a:t>connection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created</a:t>
            </a:r>
            <a:endParaRPr lang="de-DE" dirty="0" smtClean="0"/>
          </a:p>
          <a:p>
            <a:endParaRPr lang="de-DE" dirty="0" smtClean="0"/>
          </a:p>
          <a:p>
            <a:r>
              <a:rPr lang="de-DE" dirty="0" smtClean="0"/>
              <a:t>Sonotrode:</a:t>
            </a:r>
          </a:p>
          <a:p>
            <a:pPr marL="285750" indent="-285750">
              <a:buFontTx/>
              <a:buChar char="-"/>
            </a:pPr>
            <a:r>
              <a:rPr lang="de-DE" dirty="0" err="1" smtClean="0"/>
              <a:t>is</a:t>
            </a:r>
            <a:r>
              <a:rPr lang="de-DE" dirty="0" smtClean="0"/>
              <a:t> in </a:t>
            </a:r>
            <a:r>
              <a:rPr lang="de-DE" dirty="0" err="1" smtClean="0"/>
              <a:t>contact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welding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part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dirty="0" err="1" smtClean="0"/>
              <a:t>has</a:t>
            </a:r>
            <a:r>
              <a:rPr lang="de-DE" dirty="0" smtClean="0"/>
              <a:t> </a:t>
            </a:r>
            <a:r>
              <a:rPr lang="de-DE" dirty="0" err="1" smtClean="0"/>
              <a:t>many</a:t>
            </a:r>
            <a:r>
              <a:rPr lang="de-DE" dirty="0" smtClean="0"/>
              <a:t> </a:t>
            </a:r>
            <a:r>
              <a:rPr lang="de-DE" dirty="0" err="1" smtClean="0"/>
              <a:t>vibrating</a:t>
            </a:r>
            <a:r>
              <a:rPr lang="de-DE" dirty="0" smtClean="0"/>
              <a:t> </a:t>
            </a:r>
            <a:r>
              <a:rPr lang="de-DE" dirty="0" err="1" smtClean="0"/>
              <a:t>modes</a:t>
            </a:r>
            <a:r>
              <a:rPr lang="de-DE" dirty="0" smtClean="0"/>
              <a:t> (</a:t>
            </a:r>
            <a:r>
              <a:rPr lang="de-DE" dirty="0" err="1" smtClean="0"/>
              <a:t>each</a:t>
            </a:r>
            <a:r>
              <a:rPr lang="de-DE" dirty="0" smtClean="0"/>
              <a:t> </a:t>
            </a:r>
            <a:r>
              <a:rPr lang="de-DE" dirty="0" err="1" smtClean="0"/>
              <a:t>mode</a:t>
            </a:r>
            <a:r>
              <a:rPr lang="de-DE" dirty="0" smtClean="0"/>
              <a:t> </a:t>
            </a:r>
            <a:r>
              <a:rPr lang="de-DE" dirty="0" err="1" smtClean="0"/>
              <a:t>has</a:t>
            </a:r>
            <a:r>
              <a:rPr lang="de-DE" dirty="0" smtClean="0"/>
              <a:t> a</a:t>
            </a:r>
            <a:r>
              <a:rPr lang="de-DE" baseline="0" dirty="0" smtClean="0"/>
              <a:t> </a:t>
            </a:r>
            <a:r>
              <a:rPr lang="de-DE" dirty="0" err="1" smtClean="0"/>
              <a:t>frequency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a </a:t>
            </a:r>
            <a:r>
              <a:rPr lang="de-DE" dirty="0" err="1" smtClean="0"/>
              <a:t>deformed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</a:t>
            </a:r>
            <a:r>
              <a:rPr lang="de-DE" dirty="0" err="1" smtClean="0"/>
              <a:t>hape</a:t>
            </a:r>
            <a:r>
              <a:rPr lang="de-DE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de-DE" dirty="0" smtClean="0"/>
              <a:t>longitudinal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used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these</a:t>
            </a:r>
            <a:r>
              <a:rPr lang="de-DE" baseline="0" dirty="0" smtClean="0"/>
              <a:t> modal </a:t>
            </a:r>
            <a:r>
              <a:rPr lang="de-DE" baseline="0" dirty="0" err="1" smtClean="0"/>
              <a:t>properties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calculated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ANSYS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FEM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software</a:t>
            </a:r>
            <a:r>
              <a:rPr lang="de-DE" baseline="0" dirty="0" smtClean="0"/>
              <a:t>)</a:t>
            </a:r>
            <a:endParaRPr lang="de-DE" dirty="0" smtClean="0"/>
          </a:p>
          <a:p>
            <a:endParaRPr lang="de-D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baseline="0" dirty="0" err="1" smtClean="0"/>
              <a:t>Requirements</a:t>
            </a:r>
            <a:endParaRPr lang="de-DE" baseline="0" dirty="0" smtClean="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baseline="0" dirty="0" smtClean="0"/>
              <a:t>Longitudinal </a:t>
            </a:r>
            <a:r>
              <a:rPr lang="de-DE" baseline="0" dirty="0" err="1" smtClean="0"/>
              <a:t>mode‘s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frequency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should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close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20 kHz (</a:t>
            </a:r>
            <a:r>
              <a:rPr lang="de-DE" baseline="0" dirty="0" err="1" smtClean="0"/>
              <a:t>driving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frequency</a:t>
            </a:r>
            <a:r>
              <a:rPr lang="de-DE" baseline="0" dirty="0" smtClean="0"/>
              <a:t>)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baseline="0" dirty="0" smtClean="0"/>
              <a:t>Longitudinal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should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isolated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from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other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modes</a:t>
            </a:r>
            <a:endParaRPr lang="de-DE" baseline="0" dirty="0" smtClean="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baseline="0" dirty="0" smtClean="0"/>
              <a:t>Longitudinal </a:t>
            </a:r>
            <a:r>
              <a:rPr lang="de-DE" baseline="0" dirty="0" err="1" smtClean="0"/>
              <a:t>mode‘s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should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 uniform 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possible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over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welding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surface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3315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Goal of this project</a:t>
            </a:r>
            <a:r>
              <a:rPr lang="en-US" sz="1600" kern="1200" baseline="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 was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 to predict the results of FEM simulations (calculation of modal properties) without running them</a:t>
            </a:r>
          </a:p>
          <a:p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Simulations of complex geometries are very computer-intensive</a:t>
            </a:r>
            <a:r>
              <a:rPr lang="en-US" sz="1600" kern="1200" baseline="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 </a:t>
            </a:r>
            <a:r>
              <a:rPr lang="en-US" sz="1600" kern="1200" baseline="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  <a:sym typeface="Wingdings" panose="05000000000000000000" pitchFamily="2" charset="2"/>
              </a:rPr>
              <a:t> so 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one iteration can take up to an hour</a:t>
            </a:r>
          </a:p>
          <a:p>
            <a:endParaRPr lang="de-DE" dirty="0" smtClean="0"/>
          </a:p>
          <a:p>
            <a:r>
              <a:rPr lang="de-DE" dirty="0" smtClean="0"/>
              <a:t>FEM </a:t>
            </a:r>
            <a:r>
              <a:rPr lang="de-DE" dirty="0" err="1" smtClean="0"/>
              <a:t>results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splitted</a:t>
            </a:r>
            <a:r>
              <a:rPr lang="de-DE" baseline="0" dirty="0" smtClean="0"/>
              <a:t> in 3 </a:t>
            </a:r>
            <a:r>
              <a:rPr lang="de-DE" baseline="0" dirty="0" err="1" smtClean="0"/>
              <a:t>subgoals</a:t>
            </a:r>
            <a:r>
              <a:rPr lang="de-DE" baseline="0" dirty="0" smtClean="0"/>
              <a:t> (different </a:t>
            </a:r>
            <a:r>
              <a:rPr lang="de-DE" baseline="0" dirty="0" err="1" smtClean="0"/>
              <a:t>target</a:t>
            </a:r>
            <a:r>
              <a:rPr lang="de-DE" baseline="0" dirty="0" smtClean="0"/>
              <a:t> variables)</a:t>
            </a:r>
          </a:p>
          <a:p>
            <a:pPr lvl="0"/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- Prediction of the longitudinal mode’s frequency</a:t>
            </a:r>
          </a:p>
          <a:p>
            <a:pPr lvl="0"/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- Prediction of the frequencies of all other modes:</a:t>
            </a:r>
            <a:r>
              <a:rPr lang="en-US" sz="1600" kern="1200" baseline="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 in particular those near 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the longitudinal mode (ex: 5 modes below and 5 modes above). </a:t>
            </a:r>
            <a:endParaRPr lang="de-DE" sz="1600" kern="1200" dirty="0" smtClean="0">
              <a:solidFill>
                <a:schemeClr val="tx1"/>
              </a:solidFill>
              <a:effectLst/>
              <a:latin typeface="+mn-lt"/>
              <a:ea typeface="ＭＳ Ｐゴシック" pitchFamily="-84" charset="-128"/>
              <a:cs typeface="ＭＳ Ｐゴシック" charset="0"/>
            </a:endParaRPr>
          </a:p>
          <a:p>
            <a:pPr lvl="0"/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- Prediction of the displacements’ uniformity (as a number),</a:t>
            </a:r>
            <a:r>
              <a:rPr lang="en-US" sz="1600" kern="1200" baseline="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 rather than all displacement values</a:t>
            </a:r>
            <a:endParaRPr lang="de-DE" sz="1600" kern="1200" dirty="0" smtClean="0">
              <a:solidFill>
                <a:schemeClr val="tx1"/>
              </a:solidFill>
              <a:effectLst/>
              <a:latin typeface="+mn-lt"/>
              <a:ea typeface="ＭＳ Ｐゴシック" pitchFamily="-84" charset="-128"/>
              <a:cs typeface="ＭＳ Ｐゴシック" charset="0"/>
            </a:endParaRPr>
          </a:p>
          <a:p>
            <a:pPr marL="285750" indent="-285750">
              <a:buFontTx/>
              <a:buChar char="-"/>
            </a:pP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err="1" smtClean="0"/>
              <a:t>Geometry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described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by</a:t>
            </a:r>
            <a:r>
              <a:rPr lang="de-DE" baseline="0" dirty="0" smtClean="0"/>
              <a:t> 23 </a:t>
            </a:r>
            <a:r>
              <a:rPr lang="de-DE" baseline="0" dirty="0" err="1" smtClean="0"/>
              <a:t>parameters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dim_x</a:t>
            </a:r>
            <a:r>
              <a:rPr lang="de-DE" baseline="0" dirty="0" smtClean="0"/>
              <a:t> / </a:t>
            </a:r>
            <a:r>
              <a:rPr lang="de-DE" baseline="0" dirty="0" err="1" smtClean="0"/>
              <a:t>dim_z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welding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output</a:t>
            </a:r>
            <a:r>
              <a:rPr lang="de-DE" baseline="0" dirty="0" smtClean="0"/>
              <a:t>) </a:t>
            </a:r>
            <a:r>
              <a:rPr lang="de-DE" baseline="0" dirty="0" err="1" smtClean="0"/>
              <a:t>surface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usually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fixed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welding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part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dim_y</a:t>
            </a:r>
            <a:r>
              <a:rPr lang="de-DE" baseline="0" dirty="0" smtClean="0"/>
              <a:t>: </a:t>
            </a:r>
            <a:r>
              <a:rPr lang="de-DE" baseline="0" dirty="0" err="1" smtClean="0"/>
              <a:t>oscillation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length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important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feature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tune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longitudinal </a:t>
            </a:r>
            <a:r>
              <a:rPr lang="de-DE" baseline="0" dirty="0" err="1" smtClean="0"/>
              <a:t>frequency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here</a:t>
            </a:r>
            <a:r>
              <a:rPr lang="de-DE" baseline="0" dirty="0" smtClean="0"/>
              <a:t>: 4 </a:t>
            </a:r>
            <a:r>
              <a:rPr lang="de-DE" baseline="0" dirty="0" err="1" smtClean="0"/>
              <a:t>slots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2 </a:t>
            </a:r>
            <a:r>
              <a:rPr lang="de-DE" baseline="0" dirty="0" err="1" smtClean="0"/>
              <a:t>slots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both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directions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other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dimensions</a:t>
            </a:r>
            <a:r>
              <a:rPr lang="de-DE" baseline="0" dirty="0" smtClean="0"/>
              <a:t>: </a:t>
            </a:r>
            <a:r>
              <a:rPr lang="de-DE" baseline="0" dirty="0" err="1" smtClean="0"/>
              <a:t>free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used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optimize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modal </a:t>
            </a:r>
            <a:r>
              <a:rPr lang="de-DE" baseline="0" dirty="0" err="1" smtClean="0"/>
              <a:t>properties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sonotrode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5478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 smtClean="0"/>
              <a:t>Before</a:t>
            </a:r>
            <a:r>
              <a:rPr lang="de-DE" dirty="0" smtClean="0"/>
              <a:t> </a:t>
            </a:r>
            <a:r>
              <a:rPr lang="de-DE" baseline="0" dirty="0" err="1" smtClean="0"/>
              <a:t>we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look</a:t>
            </a:r>
            <a:r>
              <a:rPr lang="de-DE" baseline="0" dirty="0" smtClean="0"/>
              <a:t> at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dataset</a:t>
            </a:r>
            <a:r>
              <a:rPr lang="de-DE" baseline="0" dirty="0" smtClean="0"/>
              <a:t>, I </a:t>
            </a:r>
            <a:r>
              <a:rPr lang="de-DE" baseline="0" dirty="0" err="1" smtClean="0"/>
              <a:t>would</a:t>
            </a:r>
            <a:r>
              <a:rPr lang="de-DE" baseline="0" dirty="0" smtClean="0"/>
              <a:t> like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introduce</a:t>
            </a:r>
            <a:r>
              <a:rPr lang="de-DE" baseline="0" dirty="0" smtClean="0"/>
              <a:t> 2 </a:t>
            </a:r>
            <a:r>
              <a:rPr lang="de-DE" baseline="0" dirty="0" err="1" smtClean="0"/>
              <a:t>important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notions</a:t>
            </a:r>
            <a:r>
              <a:rPr lang="de-DE" baseline="0" dirty="0" smtClean="0"/>
              <a:t>:</a:t>
            </a:r>
            <a:endParaRPr lang="de-DE" dirty="0" smtClean="0"/>
          </a:p>
          <a:p>
            <a:pPr marL="285750" indent="-285750">
              <a:buFontTx/>
              <a:buChar char="-"/>
            </a:pPr>
            <a:r>
              <a:rPr lang="de-DE" dirty="0" err="1" smtClean="0"/>
              <a:t>the</a:t>
            </a:r>
            <a:r>
              <a:rPr lang="de-DE" dirty="0" smtClean="0"/>
              <a:t> MAC</a:t>
            </a:r>
            <a:r>
              <a:rPr lang="de-DE" baseline="0" dirty="0" smtClean="0"/>
              <a:t> </a:t>
            </a:r>
            <a:r>
              <a:rPr lang="de-DE" baseline="0" dirty="0" err="1" smtClean="0"/>
              <a:t>value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an </a:t>
            </a:r>
            <a:r>
              <a:rPr lang="de-DE" baseline="0" dirty="0" err="1" smtClean="0"/>
              <a:t>indicator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that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compares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calculated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shapes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reference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shape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chosen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 an ideal </a:t>
            </a:r>
            <a:r>
              <a:rPr lang="de-DE" baseline="0" dirty="0" err="1" smtClean="0"/>
              <a:t>long</a:t>
            </a:r>
            <a:r>
              <a:rPr lang="de-DE" baseline="0" dirty="0" smtClean="0"/>
              <a:t>.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shape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smtClean="0"/>
              <a:t>The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shapes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displacement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vectors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a matter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simplicity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we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take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only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node‘s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located</a:t>
            </a:r>
            <a:r>
              <a:rPr lang="de-DE" baseline="0" dirty="0" smtClean="0"/>
              <a:t> at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input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output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surfaces</a:t>
            </a:r>
            <a:r>
              <a:rPr lang="de-DE" baseline="0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the</a:t>
            </a:r>
            <a:r>
              <a:rPr lang="de-DE" baseline="0" dirty="0" smtClean="0"/>
              <a:t> MAC </a:t>
            </a:r>
            <a:r>
              <a:rPr lang="de-DE" baseline="0" dirty="0" err="1" smtClean="0"/>
              <a:t>value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in a </a:t>
            </a:r>
            <a:r>
              <a:rPr lang="de-DE" baseline="0" dirty="0" err="1" smtClean="0"/>
              <a:t>range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from</a:t>
            </a:r>
            <a:r>
              <a:rPr lang="de-DE" baseline="0" dirty="0" smtClean="0"/>
              <a:t> 0 (</a:t>
            </a:r>
            <a:r>
              <a:rPr lang="de-DE" baseline="0" dirty="0" err="1" smtClean="0"/>
              <a:t>no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correspondance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long</a:t>
            </a:r>
            <a:r>
              <a:rPr lang="de-DE" baseline="0" dirty="0" smtClean="0"/>
              <a:t>.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shape</a:t>
            </a:r>
            <a:r>
              <a:rPr lang="de-DE" baseline="0" dirty="0" smtClean="0"/>
              <a:t> at </a:t>
            </a:r>
            <a:r>
              <a:rPr lang="de-DE" baseline="0" dirty="0" err="1" smtClean="0"/>
              <a:t>alll</a:t>
            </a:r>
            <a:r>
              <a:rPr lang="de-DE" baseline="0" dirty="0" smtClean="0"/>
              <a:t>)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1 (</a:t>
            </a:r>
            <a:r>
              <a:rPr lang="de-DE" baseline="0" dirty="0" err="1" smtClean="0"/>
              <a:t>equals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perfect</a:t>
            </a:r>
            <a:r>
              <a:rPr lang="de-DE" baseline="0" dirty="0" smtClean="0"/>
              <a:t> longitudinal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shape</a:t>
            </a:r>
            <a:r>
              <a:rPr lang="de-DE" baseline="0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the</a:t>
            </a:r>
            <a:r>
              <a:rPr lang="de-DE" baseline="0" dirty="0" smtClean="0"/>
              <a:t> FEM </a:t>
            </a:r>
            <a:r>
              <a:rPr lang="de-DE" baseline="0" dirty="0" err="1" smtClean="0"/>
              <a:t>program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directly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calculates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MAC </a:t>
            </a:r>
            <a:r>
              <a:rPr lang="de-DE" baseline="0" dirty="0" err="1" smtClean="0"/>
              <a:t>value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when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simulation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complete</a:t>
            </a:r>
            <a:endParaRPr lang="de-DE" dirty="0" smtClean="0"/>
          </a:p>
          <a:p>
            <a:endParaRPr lang="de-DE" dirty="0" smtClean="0"/>
          </a:p>
          <a:p>
            <a:r>
              <a:rPr lang="de-DE" dirty="0" err="1" smtClean="0"/>
              <a:t>When</a:t>
            </a:r>
            <a:r>
              <a:rPr lang="de-DE" dirty="0" smtClean="0"/>
              <a:t> a </a:t>
            </a:r>
            <a:r>
              <a:rPr lang="de-DE" dirty="0" err="1" smtClean="0"/>
              <a:t>simulation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complete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all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have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been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calculated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t</a:t>
            </a:r>
            <a:r>
              <a:rPr lang="de-DE" dirty="0" err="1" smtClean="0"/>
              <a:t>he</a:t>
            </a:r>
            <a:r>
              <a:rPr lang="de-DE" dirty="0" smtClean="0"/>
              <a:t> </a:t>
            </a:r>
            <a:r>
              <a:rPr lang="de-DE" dirty="0" err="1" smtClean="0"/>
              <a:t>long</a:t>
            </a:r>
            <a:r>
              <a:rPr lang="de-DE" dirty="0" smtClean="0"/>
              <a:t>. </a:t>
            </a:r>
            <a:r>
              <a:rPr lang="de-DE" dirty="0" err="1" smtClean="0"/>
              <a:t>mode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found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dirty="0" err="1" smtClean="0"/>
              <a:t>comparing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MAC </a:t>
            </a:r>
            <a:r>
              <a:rPr lang="de-DE" dirty="0" err="1" smtClean="0"/>
              <a:t>value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each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.</a:t>
            </a:r>
          </a:p>
          <a:p>
            <a:r>
              <a:rPr lang="de-DE" baseline="0" dirty="0" smtClean="0"/>
              <a:t>The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highest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value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marked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long</a:t>
            </a:r>
            <a:r>
              <a:rPr lang="de-DE" baseline="0" dirty="0" smtClean="0"/>
              <a:t>.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. The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number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change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between</a:t>
            </a:r>
            <a:r>
              <a:rPr lang="de-DE" baseline="0" dirty="0" smtClean="0"/>
              <a:t> 2 geometries.</a:t>
            </a:r>
            <a:endParaRPr lang="de-DE" dirty="0" smtClean="0"/>
          </a:p>
          <a:p>
            <a:endParaRPr lang="de-DE" dirty="0" smtClean="0"/>
          </a:p>
          <a:p>
            <a:r>
              <a:rPr lang="de-DE" dirty="0" smtClean="0"/>
              <a:t>A design </a:t>
            </a:r>
            <a:r>
              <a:rPr lang="de-DE" dirty="0" err="1" smtClean="0"/>
              <a:t>point</a:t>
            </a:r>
            <a:r>
              <a:rPr lang="de-DE" dirty="0" smtClean="0"/>
              <a:t> </a:t>
            </a:r>
            <a:r>
              <a:rPr lang="de-DE" dirty="0" err="1" smtClean="0"/>
              <a:t>represents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distinct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geometry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 a 23-dimensional </a:t>
            </a:r>
            <a:r>
              <a:rPr lang="de-DE" baseline="0" dirty="0" err="1" smtClean="0"/>
              <a:t>vector</a:t>
            </a:r>
            <a:r>
              <a:rPr lang="de-DE" baseline="0" dirty="0" smtClean="0"/>
              <a:t>. </a:t>
            </a:r>
            <a:r>
              <a:rPr lang="de-DE" baseline="0" dirty="0" err="1" smtClean="0"/>
              <a:t>Before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starting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project</a:t>
            </a:r>
            <a:r>
              <a:rPr lang="de-DE" baseline="0" dirty="0" smtClean="0"/>
              <a:t>, I </a:t>
            </a:r>
            <a:r>
              <a:rPr lang="de-DE" baseline="0" dirty="0" err="1" smtClean="0"/>
              <a:t>generated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DPs </a:t>
            </a:r>
            <a:r>
              <a:rPr lang="de-DE" baseline="0" dirty="0" err="1" smtClean="0"/>
              <a:t>randomly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within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defined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parameter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space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ensure</a:t>
            </a:r>
            <a:r>
              <a:rPr lang="de-DE" baseline="0" dirty="0" smtClean="0"/>
              <a:t> valid sonotrode geometries.</a:t>
            </a:r>
          </a:p>
          <a:p>
            <a:r>
              <a:rPr lang="de-DE" baseline="0" dirty="0" err="1" smtClean="0"/>
              <a:t>There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about</a:t>
            </a:r>
            <a:r>
              <a:rPr lang="de-DE" baseline="0" dirty="0" smtClean="0"/>
              <a:t> 8000 DPs. The </a:t>
            </a:r>
            <a:r>
              <a:rPr lang="de-DE" baseline="0" dirty="0" err="1" smtClean="0"/>
              <a:t>data</a:t>
            </a:r>
            <a:r>
              <a:rPr lang="de-DE" baseline="0" dirty="0" smtClean="0"/>
              <a:t> was </a:t>
            </a:r>
            <a:r>
              <a:rPr lang="de-DE" baseline="0" dirty="0" err="1" smtClean="0"/>
              <a:t>stored</a:t>
            </a:r>
            <a:r>
              <a:rPr lang="de-DE" baseline="0" dirty="0" smtClean="0"/>
              <a:t> in CSV </a:t>
            </a:r>
            <a:r>
              <a:rPr lang="de-DE" baseline="0" dirty="0" err="1" smtClean="0"/>
              <a:t>files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written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FEM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program</a:t>
            </a:r>
            <a:r>
              <a:rPr lang="de-DE" baseline="0" dirty="0" smtClean="0"/>
              <a:t>.</a:t>
            </a:r>
          </a:p>
          <a:p>
            <a:r>
              <a:rPr lang="de-DE" baseline="0" dirty="0" err="1" smtClean="0"/>
              <a:t>During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data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collection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step</a:t>
            </a:r>
            <a:r>
              <a:rPr lang="de-DE" baseline="0" dirty="0" smtClean="0"/>
              <a:t>, I </a:t>
            </a:r>
            <a:r>
              <a:rPr lang="de-DE" baseline="0" dirty="0" err="1" smtClean="0"/>
              <a:t>imported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24,000 CSV </a:t>
            </a:r>
            <a:r>
              <a:rPr lang="de-DE" baseline="0" dirty="0" err="1" smtClean="0"/>
              <a:t>files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into</a:t>
            </a:r>
            <a:r>
              <a:rPr lang="de-DE" baseline="0" dirty="0" smtClean="0"/>
              <a:t> 4 </a:t>
            </a:r>
            <a:r>
              <a:rPr lang="de-DE" baseline="0" dirty="0" err="1" smtClean="0"/>
              <a:t>dataframes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that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</a:t>
            </a:r>
            <a:r>
              <a:rPr lang="de-DE" baseline="0" dirty="0" smtClean="0"/>
              <a:t> will </a:t>
            </a:r>
            <a:r>
              <a:rPr lang="de-DE" baseline="0" dirty="0" err="1" smtClean="0"/>
              <a:t>see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now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streamlit</a:t>
            </a:r>
            <a:endParaRPr lang="de-DE" dirty="0" smtClean="0"/>
          </a:p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6070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* Exploration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endParaRPr lang="de-DE" dirty="0" smtClean="0"/>
          </a:p>
          <a:p>
            <a:r>
              <a:rPr lang="de-DE" dirty="0" err="1" smtClean="0"/>
              <a:t>There</a:t>
            </a:r>
            <a:r>
              <a:rPr lang="de-DE" dirty="0" smtClean="0"/>
              <a:t> </a:t>
            </a:r>
            <a:r>
              <a:rPr lang="de-DE" dirty="0" err="1" smtClean="0"/>
              <a:t>are</a:t>
            </a:r>
            <a:r>
              <a:rPr lang="de-DE" dirty="0" smtClean="0"/>
              <a:t> 4 </a:t>
            </a:r>
            <a:r>
              <a:rPr lang="de-DE" dirty="0" err="1" smtClean="0"/>
              <a:t>dataframes</a:t>
            </a:r>
            <a:r>
              <a:rPr lang="de-DE" dirty="0" smtClean="0"/>
              <a:t>:</a:t>
            </a:r>
          </a:p>
          <a:p>
            <a:endParaRPr lang="de-DE" dirty="0" smtClean="0"/>
          </a:p>
          <a:p>
            <a:pPr marL="0" indent="0">
              <a:buFontTx/>
              <a:buNone/>
            </a:pPr>
            <a:r>
              <a:rPr lang="de-DE" dirty="0" smtClean="0"/>
              <a:t>- </a:t>
            </a:r>
            <a:r>
              <a:rPr lang="de-DE" b="1" dirty="0" err="1" smtClean="0"/>
              <a:t>parameters</a:t>
            </a:r>
            <a:r>
              <a:rPr lang="de-DE" dirty="0" smtClean="0"/>
              <a:t> (</a:t>
            </a:r>
            <a:r>
              <a:rPr lang="de-DE" dirty="0" err="1" smtClean="0"/>
              <a:t>concatenation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3 </a:t>
            </a:r>
            <a:r>
              <a:rPr lang="de-DE" dirty="0" err="1" smtClean="0"/>
              <a:t>groups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columns</a:t>
            </a:r>
            <a:r>
              <a:rPr lang="de-DE" dirty="0" smtClean="0"/>
              <a:t>)</a:t>
            </a:r>
          </a:p>
          <a:p>
            <a:pPr marL="0" indent="0">
              <a:buFontTx/>
              <a:buNone/>
            </a:pPr>
            <a:endParaRPr lang="de-DE" dirty="0" smtClean="0"/>
          </a:p>
          <a:p>
            <a:pPr marL="0" indent="0">
              <a:buFontTx/>
              <a:buNone/>
            </a:pPr>
            <a:r>
              <a:rPr lang="de-DE" dirty="0" smtClean="0"/>
              <a:t>(</a:t>
            </a:r>
            <a:r>
              <a:rPr lang="de-DE" dirty="0" err="1" smtClean="0"/>
              <a:t>columns</a:t>
            </a:r>
            <a:r>
              <a:rPr lang="de-DE" dirty="0" smtClean="0"/>
              <a:t>)</a:t>
            </a:r>
          </a:p>
          <a:p>
            <a:pPr marL="0" indent="0">
              <a:buFontTx/>
              <a:buNone/>
            </a:pPr>
            <a:r>
              <a:rPr lang="de-DE" dirty="0" smtClean="0"/>
              <a:t>  * 1st </a:t>
            </a:r>
            <a:r>
              <a:rPr lang="de-DE" dirty="0" err="1" smtClean="0"/>
              <a:t>part</a:t>
            </a:r>
            <a:r>
              <a:rPr lang="de-DE" dirty="0" smtClean="0"/>
              <a:t> </a:t>
            </a:r>
            <a:r>
              <a:rPr lang="de-DE" dirty="0" err="1" smtClean="0"/>
              <a:t>contains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geometric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parameters</a:t>
            </a: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dirty="0" smtClean="0"/>
              <a:t>  * </a:t>
            </a:r>
            <a:r>
              <a:rPr lang="de-DE" dirty="0" err="1" smtClean="0"/>
              <a:t>second</a:t>
            </a:r>
            <a:r>
              <a:rPr lang="de-DE" dirty="0" smtClean="0"/>
              <a:t> </a:t>
            </a:r>
            <a:r>
              <a:rPr lang="de-DE" dirty="0" err="1" smtClean="0"/>
              <a:t>part</a:t>
            </a:r>
            <a:r>
              <a:rPr lang="de-DE" dirty="0" smtClean="0"/>
              <a:t> </a:t>
            </a:r>
            <a:r>
              <a:rPr lang="de-DE" dirty="0" err="1" smtClean="0"/>
              <a:t>contains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identification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features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long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</a:t>
            </a: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  * final </a:t>
            </a:r>
            <a:r>
              <a:rPr lang="de-DE" baseline="0" dirty="0" err="1" smtClean="0"/>
              <a:t>part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contains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additional </a:t>
            </a:r>
            <a:r>
              <a:rPr lang="de-DE" baseline="0" dirty="0" err="1" smtClean="0"/>
              <a:t>features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see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later</a:t>
            </a:r>
            <a:r>
              <a:rPr lang="de-DE" baseline="0" dirty="0" smtClean="0"/>
              <a:t>: </a:t>
            </a:r>
            <a:r>
              <a:rPr lang="de-DE" baseline="0" dirty="0" err="1" smtClean="0"/>
              <a:t>slot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class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uniformity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criterion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frequency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isolation</a:t>
            </a:r>
            <a:r>
              <a:rPr lang="de-DE" baseline="0" dirty="0" smtClean="0"/>
              <a:t>)</a:t>
            </a:r>
          </a:p>
          <a:p>
            <a:pPr marL="0" indent="0">
              <a:buFontTx/>
              <a:buNone/>
            </a:pPr>
            <a:r>
              <a:rPr lang="de-DE" baseline="0" dirty="0" smtClean="0"/>
              <a:t>(</a:t>
            </a:r>
            <a:r>
              <a:rPr lang="de-DE" baseline="0" dirty="0" err="1" smtClean="0"/>
              <a:t>rows</a:t>
            </a:r>
            <a:r>
              <a:rPr lang="de-DE" baseline="0" dirty="0" smtClean="0"/>
              <a:t>)</a:t>
            </a:r>
          </a:p>
          <a:p>
            <a:pPr marL="0" indent="0">
              <a:buFontTx/>
              <a:buNone/>
            </a:pPr>
            <a:r>
              <a:rPr lang="de-DE" baseline="0" dirty="0" err="1" smtClean="0"/>
              <a:t>DP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here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only</a:t>
            </a:r>
            <a:r>
              <a:rPr lang="de-DE" baseline="0" dirty="0" smtClean="0"/>
              <a:t> 100)</a:t>
            </a:r>
          </a:p>
          <a:p>
            <a:pPr marL="0" indent="0">
              <a:buFontTx/>
              <a:buNone/>
            </a:pP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- </a:t>
            </a:r>
            <a:r>
              <a:rPr lang="de-DE" b="1" dirty="0" err="1" smtClean="0"/>
              <a:t>modes</a:t>
            </a:r>
            <a:r>
              <a:rPr lang="de-DE" dirty="0" smtClean="0"/>
              <a:t>: all </a:t>
            </a:r>
            <a:r>
              <a:rPr lang="de-DE" dirty="0" err="1" smtClean="0"/>
              <a:t>combinations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DP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numbers</a:t>
            </a:r>
            <a:endParaRPr lang="de-DE" dirty="0" smtClean="0"/>
          </a:p>
          <a:p>
            <a:pPr marL="0" indent="0">
              <a:buFontTx/>
              <a:buNone/>
            </a:pPr>
            <a:r>
              <a:rPr lang="de-DE" dirty="0" smtClean="0"/>
              <a:t>Start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DP</a:t>
            </a:r>
            <a:r>
              <a:rPr lang="de-DE" dirty="0" smtClean="0"/>
              <a:t> 1001, all </a:t>
            </a:r>
            <a:r>
              <a:rPr lang="de-DE" dirty="0" err="1" smtClean="0"/>
              <a:t>modes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</a:t>
            </a:r>
            <a:r>
              <a:rPr lang="de-DE" dirty="0" err="1" smtClean="0"/>
              <a:t>position</a:t>
            </a:r>
            <a:r>
              <a:rPr lang="de-DE" dirty="0" smtClean="0"/>
              <a:t> 25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position</a:t>
            </a:r>
            <a:r>
              <a:rPr lang="de-DE" dirty="0" smtClean="0"/>
              <a:t> 100</a:t>
            </a:r>
          </a:p>
          <a:p>
            <a:pPr marL="0" indent="0">
              <a:buFontTx/>
              <a:buNone/>
            </a:pP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each</a:t>
            </a:r>
            <a:r>
              <a:rPr lang="de-DE" dirty="0" smtClean="0"/>
              <a:t> </a:t>
            </a:r>
            <a:r>
              <a:rPr lang="de-DE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get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some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properties</a:t>
            </a:r>
            <a:r>
              <a:rPr lang="de-DE" baseline="0" dirty="0" smtClean="0"/>
              <a:t>: </a:t>
            </a:r>
            <a:r>
              <a:rPr lang="de-DE" baseline="0" dirty="0" err="1" smtClean="0"/>
              <a:t>frequency</a:t>
            </a:r>
            <a:r>
              <a:rPr lang="de-DE" baseline="0" dirty="0" smtClean="0"/>
              <a:t>, MAC</a:t>
            </a:r>
          </a:p>
          <a:p>
            <a:pPr marL="0" indent="0">
              <a:buFontTx/>
              <a:buNone/>
            </a:pPr>
            <a:endParaRPr lang="de-DE" dirty="0" smtClean="0"/>
          </a:p>
          <a:p>
            <a:pPr marL="0" indent="0">
              <a:buFontTx/>
              <a:buNone/>
            </a:pPr>
            <a:r>
              <a:rPr lang="de-DE" dirty="0" smtClean="0"/>
              <a:t>- </a:t>
            </a:r>
            <a:r>
              <a:rPr lang="de-DE" b="1" dirty="0" err="1" smtClean="0"/>
              <a:t>nodes</a:t>
            </a:r>
            <a:r>
              <a:rPr lang="de-DE" dirty="0" smtClean="0"/>
              <a:t>: all </a:t>
            </a:r>
            <a:r>
              <a:rPr lang="de-DE" dirty="0" err="1" smtClean="0"/>
              <a:t>combinations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DP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nodes</a:t>
            </a:r>
            <a:endParaRPr lang="de-DE" dirty="0" smtClean="0"/>
          </a:p>
          <a:p>
            <a:pPr marL="0" indent="0">
              <a:buFontTx/>
              <a:buNone/>
            </a:pPr>
            <a:r>
              <a:rPr lang="de-DE" dirty="0" err="1" smtClean="0"/>
              <a:t>Node</a:t>
            </a:r>
            <a:r>
              <a:rPr lang="de-DE" dirty="0" smtClean="0"/>
              <a:t> </a:t>
            </a:r>
            <a:r>
              <a:rPr lang="de-DE" dirty="0" err="1" smtClean="0"/>
              <a:t>coordinates</a:t>
            </a:r>
            <a:r>
              <a:rPr lang="de-DE" dirty="0" smtClean="0"/>
              <a:t> XYZ </a:t>
            </a:r>
            <a:r>
              <a:rPr lang="de-DE" dirty="0" err="1" smtClean="0"/>
              <a:t>located</a:t>
            </a:r>
            <a:r>
              <a:rPr lang="de-DE" dirty="0" smtClean="0"/>
              <a:t> on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output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surface</a:t>
            </a:r>
            <a:endParaRPr lang="de-DE" dirty="0" smtClean="0"/>
          </a:p>
          <a:p>
            <a:pPr marL="0" indent="0">
              <a:buFontTx/>
              <a:buNone/>
            </a:pPr>
            <a:endParaRPr lang="de-DE" dirty="0" smtClean="0"/>
          </a:p>
          <a:p>
            <a:pPr marL="0" indent="0">
              <a:buFontTx/>
              <a:buNone/>
            </a:pPr>
            <a:r>
              <a:rPr lang="de-DE" dirty="0" smtClean="0"/>
              <a:t>-</a:t>
            </a:r>
            <a:r>
              <a:rPr lang="de-DE" baseline="0" dirty="0" smtClean="0"/>
              <a:t> </a:t>
            </a:r>
            <a:r>
              <a:rPr lang="de-DE" b="1" dirty="0" err="1" smtClean="0"/>
              <a:t>displacements</a:t>
            </a:r>
            <a:r>
              <a:rPr lang="de-DE" dirty="0" smtClean="0"/>
              <a:t>: </a:t>
            </a:r>
            <a:r>
              <a:rPr lang="de-DE" dirty="0" err="1" smtClean="0"/>
              <a:t>largest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dataframe</a:t>
            </a:r>
            <a:endParaRPr lang="de-DE" dirty="0" smtClean="0"/>
          </a:p>
          <a:p>
            <a:pPr marL="0" indent="0">
              <a:buFontTx/>
              <a:buNone/>
            </a:pPr>
            <a:r>
              <a:rPr lang="de-DE" dirty="0" err="1" smtClean="0"/>
              <a:t>contains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same </a:t>
            </a:r>
            <a:r>
              <a:rPr lang="de-DE" dirty="0" err="1" smtClean="0"/>
              <a:t>combination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DP / </a:t>
            </a:r>
            <a:r>
              <a:rPr lang="de-DE" baseline="0" dirty="0" err="1" smtClean="0"/>
              <a:t>nodes</a:t>
            </a:r>
            <a:r>
              <a:rPr lang="de-DE" baseline="0" dirty="0" smtClean="0"/>
              <a:t> but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all </a:t>
            </a:r>
            <a:r>
              <a:rPr lang="de-DE" baseline="0" dirty="0" err="1" smtClean="0"/>
              <a:t>modes</a:t>
            </a:r>
            <a:r>
              <a:rPr lang="de-DE" baseline="0" dirty="0" smtClean="0"/>
              <a:t> 25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100</a:t>
            </a:r>
            <a:endParaRPr lang="de-DE" dirty="0" smtClean="0"/>
          </a:p>
          <a:p>
            <a:pPr marL="0" indent="0">
              <a:buFontTx/>
              <a:buNone/>
            </a:pPr>
            <a:endParaRPr lang="de-DE" dirty="0" smtClean="0"/>
          </a:p>
          <a:p>
            <a:pPr marL="0" indent="0">
              <a:buFontTx/>
              <a:buNone/>
            </a:pPr>
            <a:r>
              <a:rPr lang="de-DE" dirty="0" err="1" smtClean="0"/>
              <a:t>Let‘s</a:t>
            </a:r>
            <a:r>
              <a:rPr lang="de-DE" dirty="0" smtClean="0"/>
              <a:t> </a:t>
            </a:r>
            <a:r>
              <a:rPr lang="de-DE" dirty="0" err="1" smtClean="0"/>
              <a:t>move</a:t>
            </a:r>
            <a:r>
              <a:rPr lang="de-DE" dirty="0" smtClean="0"/>
              <a:t> on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endParaRPr lang="de-DE" dirty="0" smtClean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 smtClean="0"/>
              <a:t>* Data </a:t>
            </a:r>
            <a:r>
              <a:rPr lang="de-DE" dirty="0" err="1" smtClean="0"/>
              <a:t>visualization</a:t>
            </a:r>
            <a:endParaRPr lang="de-DE" dirty="0" smtClean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lang="de-DE" dirty="0" smtClean="0"/>
          </a:p>
          <a:p>
            <a:pPr marL="0" indent="0">
              <a:buFontTx/>
              <a:buNone/>
            </a:pPr>
            <a:r>
              <a:rPr lang="en-US" baseline="0" dirty="0" smtClean="0"/>
              <a:t>We start with the distribution of t</a:t>
            </a:r>
            <a:r>
              <a:rPr lang="en-US" dirty="0" smtClean="0"/>
              <a:t>he explanatory variables: the geometric parameters are distributed according </a:t>
            </a:r>
            <a:r>
              <a:rPr lang="en-US" baseline="0" dirty="0" smtClean="0"/>
              <a:t>a </a:t>
            </a:r>
            <a:r>
              <a:rPr lang="en-US" dirty="0" smtClean="0"/>
              <a:t>normal</a:t>
            </a:r>
            <a:r>
              <a:rPr lang="en-US" baseline="0" dirty="0" smtClean="0"/>
              <a:t> distribution</a:t>
            </a:r>
          </a:p>
          <a:p>
            <a:pPr marL="0" indent="0">
              <a:buFontTx/>
              <a:buNone/>
            </a:pPr>
            <a:r>
              <a:rPr lang="en-US" baseline="0" dirty="0" smtClean="0">
                <a:sym typeface="Wingdings" panose="05000000000000000000" pitchFamily="2" charset="2"/>
              </a:rPr>
              <a:t> boxplots are symmetrical, median in the center and equal-length whiskers on both sides</a:t>
            </a:r>
          </a:p>
          <a:p>
            <a:pPr marL="0" indent="0">
              <a:buFontTx/>
              <a:buNone/>
            </a:pPr>
            <a:r>
              <a:rPr lang="de-DE" baseline="0" dirty="0" err="1" smtClean="0"/>
              <a:t>slot_x_distance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slot_z_distance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have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skew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distribution</a:t>
            </a:r>
            <a:r>
              <a:rPr lang="de-DE" baseline="0" dirty="0" smtClean="0"/>
              <a:t> </a:t>
            </a:r>
            <a:r>
              <a:rPr lang="de-DE" baseline="0" dirty="0" smtClean="0">
                <a:sym typeface="Wingdings" panose="05000000000000000000" pitchFamily="2" charset="2"/>
              </a:rPr>
              <a:t> </a:t>
            </a:r>
            <a:r>
              <a:rPr lang="de-DE" baseline="0" dirty="0" err="1" smtClean="0">
                <a:sym typeface="Wingdings" panose="05000000000000000000" pitchFamily="2" charset="2"/>
              </a:rPr>
              <a:t>they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depending</a:t>
            </a:r>
            <a:r>
              <a:rPr lang="de-DE" baseline="0" dirty="0" smtClean="0"/>
              <a:t> on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variable </a:t>
            </a:r>
            <a:r>
              <a:rPr lang="de-DE" baseline="0" dirty="0" err="1" smtClean="0"/>
              <a:t>number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slots</a:t>
            </a:r>
            <a:endParaRPr lang="de-DE" baseline="0" dirty="0" smtClean="0"/>
          </a:p>
          <a:p>
            <a:pPr marL="0" indent="0">
              <a:buFontTx/>
              <a:buNone/>
            </a:pPr>
            <a:endParaRPr lang="de-DE" dirty="0" smtClean="0"/>
          </a:p>
          <a:p>
            <a:pPr marL="0" indent="0">
              <a:buFontTx/>
              <a:buNone/>
            </a:pPr>
            <a:r>
              <a:rPr lang="de-DE" dirty="0" err="1" smtClean="0"/>
              <a:t>Example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DP</a:t>
            </a:r>
            <a:r>
              <a:rPr lang="de-DE" dirty="0" smtClean="0"/>
              <a:t> 1001:</a:t>
            </a:r>
          </a:p>
          <a:p>
            <a:pPr marL="285750" indent="-285750">
              <a:buFontTx/>
              <a:buChar char="-"/>
            </a:pPr>
            <a:r>
              <a:rPr lang="de-DE" dirty="0" err="1" smtClean="0"/>
              <a:t>You</a:t>
            </a:r>
            <a:r>
              <a:rPr lang="de-DE" dirty="0" smtClean="0"/>
              <a:t> </a:t>
            </a:r>
            <a:r>
              <a:rPr lang="de-DE" dirty="0" err="1" smtClean="0"/>
              <a:t>see</a:t>
            </a:r>
            <a:r>
              <a:rPr lang="de-DE" dirty="0" smtClean="0"/>
              <a:t> 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dataframe</a:t>
            </a:r>
            <a:r>
              <a:rPr lang="de-DE" dirty="0" smtClean="0"/>
              <a:t> </a:t>
            </a:r>
            <a:r>
              <a:rPr lang="de-DE" dirty="0" err="1" smtClean="0"/>
              <a:t>extracts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geometric</a:t>
            </a:r>
            <a:r>
              <a:rPr lang="de-DE" dirty="0" smtClean="0"/>
              <a:t> </a:t>
            </a:r>
            <a:r>
              <a:rPr lang="de-DE" dirty="0" err="1" smtClean="0"/>
              <a:t>parameters</a:t>
            </a:r>
            <a:endParaRPr lang="de-DE" dirty="0" smtClean="0"/>
          </a:p>
          <a:p>
            <a:pPr marL="285750" indent="-285750">
              <a:buFontTx/>
              <a:buChar char="-"/>
            </a:pPr>
            <a:endParaRPr lang="de-DE" dirty="0" smtClean="0"/>
          </a:p>
          <a:p>
            <a:pPr marL="0" indent="0">
              <a:buFontTx/>
              <a:buNone/>
            </a:pPr>
            <a:r>
              <a:rPr lang="de-DE" dirty="0" err="1" smtClean="0"/>
              <a:t>Identified</a:t>
            </a:r>
            <a:r>
              <a:rPr lang="de-DE" dirty="0" smtClean="0"/>
              <a:t> </a:t>
            </a:r>
            <a:r>
              <a:rPr lang="de-DE" dirty="0" err="1" smtClean="0"/>
              <a:t>long</a:t>
            </a:r>
            <a:r>
              <a:rPr lang="de-DE" dirty="0" smtClean="0"/>
              <a:t>. </a:t>
            </a:r>
            <a:r>
              <a:rPr lang="de-DE" dirty="0" err="1" smtClean="0"/>
              <a:t>mode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mode</a:t>
            </a:r>
            <a:r>
              <a:rPr lang="de-DE" dirty="0" smtClean="0"/>
              <a:t> 77, </a:t>
            </a:r>
            <a:r>
              <a:rPr lang="de-DE" dirty="0" err="1" smtClean="0"/>
              <a:t>why</a:t>
            </a:r>
            <a:r>
              <a:rPr lang="de-DE" dirty="0" smtClean="0"/>
              <a:t>?</a:t>
            </a:r>
          </a:p>
          <a:p>
            <a:pPr marL="0" indent="0">
              <a:buFontTx/>
              <a:buNone/>
            </a:pPr>
            <a:r>
              <a:rPr lang="de-DE" dirty="0" smtClean="0"/>
              <a:t>- 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list</a:t>
            </a:r>
            <a:r>
              <a:rPr lang="de-DE" baseline="0" dirty="0" smtClean="0"/>
              <a:t>:</a:t>
            </a:r>
          </a:p>
          <a:p>
            <a:pPr marL="0" indent="0">
              <a:buFontTx/>
              <a:buNone/>
            </a:pPr>
            <a:r>
              <a:rPr lang="de-DE" baseline="0" dirty="0" smtClean="0"/>
              <a:t>MAC </a:t>
            </a:r>
            <a:r>
              <a:rPr lang="de-DE" baseline="0" dirty="0" err="1" smtClean="0"/>
              <a:t>value</a:t>
            </a:r>
            <a:r>
              <a:rPr lang="de-DE" baseline="0" dirty="0" smtClean="0"/>
              <a:t> 0.92 maximal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77</a:t>
            </a:r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baseline="0" dirty="0" smtClean="0"/>
              <a:t>Long. </a:t>
            </a:r>
            <a:r>
              <a:rPr lang="de-DE" baseline="0" dirty="0" err="1" smtClean="0"/>
              <a:t>frequency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frequency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77: 19218</a:t>
            </a:r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 smtClean="0"/>
              <a:t>Delta </a:t>
            </a:r>
            <a:r>
              <a:rPr lang="de-DE" dirty="0" err="1" smtClean="0"/>
              <a:t>frequency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next</a:t>
            </a:r>
            <a:r>
              <a:rPr lang="de-DE" dirty="0" smtClean="0"/>
              <a:t> </a:t>
            </a:r>
            <a:r>
              <a:rPr lang="de-DE" dirty="0" err="1" smtClean="0"/>
              <a:t>mode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only</a:t>
            </a:r>
            <a:r>
              <a:rPr lang="de-DE" dirty="0" smtClean="0"/>
              <a:t> 61 Hz</a:t>
            </a:r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lang="de-DE" dirty="0" smtClean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 err="1" smtClean="0"/>
              <a:t>Now</a:t>
            </a:r>
            <a:r>
              <a:rPr lang="de-DE" dirty="0" smtClean="0"/>
              <a:t> </a:t>
            </a:r>
            <a:r>
              <a:rPr lang="de-DE" dirty="0" err="1" smtClean="0"/>
              <a:t>let‘s</a:t>
            </a:r>
            <a:r>
              <a:rPr lang="de-DE" dirty="0" smtClean="0"/>
              <a:t> </a:t>
            </a:r>
            <a:r>
              <a:rPr lang="de-DE" dirty="0" err="1" smtClean="0"/>
              <a:t>see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these</a:t>
            </a:r>
            <a:r>
              <a:rPr lang="de-DE" baseline="0" dirty="0" smtClean="0"/>
              <a:t> 3 </a:t>
            </a:r>
            <a:r>
              <a:rPr lang="de-DE" baseline="0" dirty="0" err="1" smtClean="0"/>
              <a:t>modes</a:t>
            </a:r>
            <a:endParaRPr lang="de-DE" baseline="0" dirty="0" smtClean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 err="1" smtClean="0"/>
              <a:t>Displacements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77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not </a:t>
            </a:r>
            <a:r>
              <a:rPr lang="de-DE" baseline="0" dirty="0" err="1" smtClean="0"/>
              <a:t>perfectly</a:t>
            </a:r>
            <a:r>
              <a:rPr lang="de-DE" baseline="0" dirty="0" smtClean="0"/>
              <a:t> uniform (</a:t>
            </a:r>
            <a:r>
              <a:rPr lang="de-DE" baseline="0" dirty="0" err="1" smtClean="0"/>
              <a:t>although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have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same </a:t>
            </a:r>
            <a:r>
              <a:rPr lang="de-DE" baseline="0" dirty="0" err="1" smtClean="0"/>
              <a:t>sign</a:t>
            </a:r>
            <a:r>
              <a:rPr lang="de-DE" baseline="0" dirty="0" smtClean="0"/>
              <a:t>)</a:t>
            </a:r>
            <a:endParaRPr lang="de-DE" dirty="0" smtClean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0589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I </a:t>
            </a:r>
            <a:r>
              <a:rPr lang="de-DE" dirty="0" err="1" smtClean="0"/>
              <a:t>added</a:t>
            </a:r>
            <a:r>
              <a:rPr lang="de-DE" dirty="0" smtClean="0"/>
              <a:t> </a:t>
            </a:r>
            <a:r>
              <a:rPr lang="de-DE" dirty="0" err="1" smtClean="0"/>
              <a:t>new</a:t>
            </a:r>
            <a:r>
              <a:rPr lang="de-DE" dirty="0" smtClean="0"/>
              <a:t> </a:t>
            </a:r>
            <a:r>
              <a:rPr lang="de-DE" dirty="0" err="1" smtClean="0"/>
              <a:t>features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dataset</a:t>
            </a:r>
            <a:endParaRPr lang="de-DE" dirty="0" smtClean="0"/>
          </a:p>
          <a:p>
            <a:endParaRPr lang="de-DE" dirty="0" smtClean="0"/>
          </a:p>
          <a:p>
            <a:r>
              <a:rPr lang="de-DE" dirty="0" smtClean="0"/>
              <a:t>The sonotrode </a:t>
            </a:r>
            <a:r>
              <a:rPr lang="de-DE" dirty="0" err="1" smtClean="0"/>
              <a:t>needs</a:t>
            </a:r>
            <a:r>
              <a:rPr lang="de-DE" dirty="0" smtClean="0"/>
              <a:t> </a:t>
            </a:r>
            <a:r>
              <a:rPr lang="de-DE" dirty="0" err="1" smtClean="0"/>
              <a:t>slots</a:t>
            </a:r>
            <a:r>
              <a:rPr lang="de-DE" dirty="0" smtClean="0"/>
              <a:t> in </a:t>
            </a:r>
            <a:r>
              <a:rPr lang="de-DE" dirty="0" err="1" smtClean="0"/>
              <a:t>both</a:t>
            </a:r>
            <a:r>
              <a:rPr lang="de-DE" dirty="0" smtClean="0"/>
              <a:t> </a:t>
            </a:r>
            <a:r>
              <a:rPr lang="de-DE" dirty="0" err="1" smtClean="0"/>
              <a:t>directions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acoustic</a:t>
            </a:r>
            <a:r>
              <a:rPr lang="de-DE" dirty="0" smtClean="0"/>
              <a:t> </a:t>
            </a:r>
            <a:r>
              <a:rPr lang="de-DE" dirty="0" err="1" smtClean="0"/>
              <a:t>reasons</a:t>
            </a:r>
            <a:r>
              <a:rPr lang="de-DE" dirty="0" smtClean="0"/>
              <a:t>,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number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slots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variable. </a:t>
            </a:r>
            <a:r>
              <a:rPr lang="de-DE" baseline="0" dirty="0" err="1" smtClean="0"/>
              <a:t>During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DP generation, I </a:t>
            </a:r>
            <a:r>
              <a:rPr lang="de-DE" baseline="0" dirty="0" err="1" smtClean="0"/>
              <a:t>used</a:t>
            </a:r>
            <a:r>
              <a:rPr lang="de-DE" baseline="0" dirty="0" smtClean="0"/>
              <a:t> 4 </a:t>
            </a:r>
            <a:r>
              <a:rPr lang="de-DE" baseline="0" dirty="0" err="1" smtClean="0"/>
              <a:t>combinations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slot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distributions</a:t>
            </a:r>
            <a:r>
              <a:rPr lang="de-DE" baseline="0" dirty="0" smtClean="0"/>
              <a:t>.</a:t>
            </a:r>
          </a:p>
          <a:p>
            <a:r>
              <a:rPr lang="de-DE" baseline="0" dirty="0" smtClean="0"/>
              <a:t>The </a:t>
            </a:r>
            <a:r>
              <a:rPr lang="de-DE" baseline="0" dirty="0" err="1" smtClean="0"/>
              <a:t>width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largest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dimension</a:t>
            </a:r>
            <a:r>
              <a:rPr lang="de-DE" baseline="0" dirty="0" smtClean="0"/>
              <a:t>) </a:t>
            </a:r>
            <a:r>
              <a:rPr lang="de-DE" baseline="0" dirty="0" err="1" smtClean="0"/>
              <a:t>needs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slots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than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depth</a:t>
            </a:r>
            <a:r>
              <a:rPr lang="de-DE" baseline="0" dirty="0" smtClean="0"/>
              <a:t>.</a:t>
            </a:r>
            <a:endParaRPr lang="de-DE" dirty="0" smtClean="0"/>
          </a:p>
          <a:p>
            <a:r>
              <a:rPr lang="de-DE" dirty="0" smtClean="0"/>
              <a:t>The </a:t>
            </a:r>
            <a:r>
              <a:rPr lang="de-DE" dirty="0" err="1" smtClean="0"/>
              <a:t>numbers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slots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both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directions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categorical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building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class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4 </a:t>
            </a:r>
            <a:r>
              <a:rPr lang="de-DE" baseline="0" dirty="0" err="1" smtClean="0"/>
              <a:t>values</a:t>
            </a:r>
            <a:endParaRPr lang="de-DE" baseline="0" dirty="0" smtClean="0"/>
          </a:p>
          <a:p>
            <a:endParaRPr lang="de-DE" baseline="0" dirty="0" smtClean="0"/>
          </a:p>
          <a:p>
            <a:r>
              <a:rPr lang="de-DE" dirty="0" smtClean="0"/>
              <a:t>The </a:t>
            </a:r>
            <a:r>
              <a:rPr lang="de-DE" dirty="0" err="1" smtClean="0"/>
              <a:t>prediction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output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themselves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did</a:t>
            </a:r>
            <a:r>
              <a:rPr lang="de-DE" baseline="0" dirty="0" smtClean="0"/>
              <a:t> not turn out </a:t>
            </a:r>
            <a:r>
              <a:rPr lang="de-DE" baseline="0" dirty="0" err="1" smtClean="0"/>
              <a:t>accurate</a:t>
            </a:r>
            <a:r>
              <a:rPr lang="de-DE" baseline="0" dirty="0" smtClean="0"/>
              <a:t>. </a:t>
            </a:r>
            <a:r>
              <a:rPr lang="de-DE" baseline="0" dirty="0" err="1" smtClean="0"/>
              <a:t>Since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3rd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goal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predict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only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uniformity</a:t>
            </a:r>
            <a:r>
              <a:rPr lang="de-DE" baseline="0" dirty="0" smtClean="0"/>
              <a:t>, I </a:t>
            </a:r>
            <a:r>
              <a:rPr lang="de-DE" baseline="0" dirty="0" err="1" smtClean="0"/>
              <a:t>introduced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new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metric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evaluate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‘ </a:t>
            </a:r>
            <a:r>
              <a:rPr lang="de-DE" baseline="0" dirty="0" err="1" smtClean="0"/>
              <a:t>uniformity</a:t>
            </a:r>
            <a:r>
              <a:rPr lang="de-DE" baseline="0" dirty="0" smtClean="0"/>
              <a:t>.</a:t>
            </a:r>
          </a:p>
          <a:p>
            <a:r>
              <a:rPr lang="de-DE" baseline="0" dirty="0" smtClean="0"/>
              <a:t>The Norm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Relative </a:t>
            </a:r>
            <a:r>
              <a:rPr lang="de-DE" baseline="0" dirty="0" err="1" smtClean="0"/>
              <a:t>Displacement</a:t>
            </a:r>
            <a:r>
              <a:rPr lang="de-DE" baseline="0" dirty="0" smtClean="0"/>
              <a:t> Deviation (</a:t>
            </a:r>
            <a:r>
              <a:rPr lang="de-DE" baseline="0" dirty="0" err="1" smtClean="0"/>
              <a:t>called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NRDD</a:t>
            </a:r>
            <a:r>
              <a:rPr lang="de-DE" baseline="0" dirty="0" smtClean="0"/>
              <a:t>)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obtained</a:t>
            </a:r>
            <a:r>
              <a:rPr lang="de-DE" baseline="0" dirty="0" smtClean="0"/>
              <a:t>:</a:t>
            </a:r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by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taking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relative </a:t>
            </a:r>
            <a:r>
              <a:rPr lang="de-DE" baseline="0" dirty="0" err="1" smtClean="0"/>
              <a:t>difference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each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node‘s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average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squarring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summing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these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differences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taking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square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root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result</a:t>
            </a:r>
            <a:endParaRPr lang="de-DE" baseline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478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 </a:t>
            </a:r>
            <a:r>
              <a:rPr lang="de-DE" dirty="0" err="1" smtClean="0"/>
              <a:t>low</a:t>
            </a:r>
            <a:r>
              <a:rPr lang="de-DE" dirty="0" smtClean="0"/>
              <a:t> </a:t>
            </a:r>
            <a:r>
              <a:rPr lang="de-DE" dirty="0" err="1" smtClean="0"/>
              <a:t>value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NRDD </a:t>
            </a:r>
            <a:r>
              <a:rPr lang="de-DE" dirty="0" err="1" smtClean="0"/>
              <a:t>corresponds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uniform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while</a:t>
            </a:r>
            <a:r>
              <a:rPr lang="de-DE" baseline="0" dirty="0" smtClean="0"/>
              <a:t> high </a:t>
            </a:r>
            <a:r>
              <a:rPr lang="de-DE" baseline="0" dirty="0" err="1" smtClean="0"/>
              <a:t>values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indicate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poor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uniformities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deviations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significant</a:t>
            </a:r>
            <a:r>
              <a:rPr lang="de-DE" baseline="0" dirty="0" smtClean="0"/>
              <a:t>)</a:t>
            </a:r>
          </a:p>
          <a:p>
            <a:r>
              <a:rPr lang="de-DE" dirty="0" smtClean="0"/>
              <a:t>As an </a:t>
            </a:r>
            <a:r>
              <a:rPr lang="de-DE" dirty="0" err="1" smtClean="0"/>
              <a:t>example</a:t>
            </a:r>
            <a:r>
              <a:rPr lang="de-DE" dirty="0" smtClean="0"/>
              <a:t>, </a:t>
            </a:r>
            <a:r>
              <a:rPr lang="de-DE" dirty="0" err="1" smtClean="0"/>
              <a:t>you</a:t>
            </a:r>
            <a:r>
              <a:rPr lang="de-DE" dirty="0" smtClean="0"/>
              <a:t> </a:t>
            </a:r>
            <a:r>
              <a:rPr lang="de-DE" dirty="0" err="1" smtClean="0"/>
              <a:t>see</a:t>
            </a:r>
            <a:r>
              <a:rPr lang="de-DE" dirty="0" smtClean="0"/>
              <a:t> 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left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DP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most</a:t>
            </a:r>
            <a:r>
              <a:rPr lang="de-DE" baseline="0" dirty="0" smtClean="0"/>
              <a:t> uniform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: </a:t>
            </a:r>
            <a:r>
              <a:rPr lang="de-DE" baseline="0" dirty="0" err="1" smtClean="0"/>
              <a:t>NRDD</a:t>
            </a:r>
            <a:r>
              <a:rPr lang="de-DE" baseline="0" dirty="0" smtClean="0"/>
              <a:t> = 1.3</a:t>
            </a:r>
            <a:endParaRPr lang="de-DE" dirty="0" smtClean="0"/>
          </a:p>
          <a:p>
            <a:endParaRPr lang="de-DE" dirty="0" smtClean="0"/>
          </a:p>
          <a:p>
            <a:r>
              <a:rPr lang="de-DE" dirty="0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graphs</a:t>
            </a:r>
            <a:r>
              <a:rPr lang="de-DE" baseline="0" dirty="0" smtClean="0"/>
              <a:t> </a:t>
            </a:r>
            <a:r>
              <a:rPr lang="de-DE" baseline="0" dirty="0" smtClean="0"/>
              <a:t>on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right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shows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correlation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between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MAC </a:t>
            </a:r>
            <a:r>
              <a:rPr lang="de-DE" baseline="0" dirty="0" err="1" smtClean="0"/>
              <a:t>values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new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metric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NRDD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distribution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NRDD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endParaRPr lang="de-DE" baseline="0" dirty="0" smtClean="0"/>
          </a:p>
          <a:p>
            <a:r>
              <a:rPr lang="de-DE" baseline="0" dirty="0" err="1" smtClean="0"/>
              <a:t>You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might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wonder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why</a:t>
            </a:r>
            <a:r>
              <a:rPr lang="de-DE" baseline="0" dirty="0" smtClean="0"/>
              <a:t> I </a:t>
            </a:r>
            <a:r>
              <a:rPr lang="de-DE" baseline="0" dirty="0" err="1" smtClean="0"/>
              <a:t>chose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NRDD 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target</a:t>
            </a:r>
            <a:r>
              <a:rPr lang="de-DE" baseline="0" dirty="0" smtClean="0"/>
              <a:t> variable, </a:t>
            </a:r>
            <a:r>
              <a:rPr lang="de-DE" baseline="0" dirty="0" err="1" smtClean="0"/>
              <a:t>rather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than</a:t>
            </a:r>
            <a:r>
              <a:rPr lang="de-DE" baseline="0" dirty="0" smtClean="0"/>
              <a:t> MAC. The </a:t>
            </a:r>
            <a:r>
              <a:rPr lang="de-DE" baseline="0" dirty="0" err="1" smtClean="0"/>
              <a:t>answer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that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models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performed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slightly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better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NRDD </a:t>
            </a:r>
            <a:r>
              <a:rPr lang="de-DE" baseline="0" dirty="0" err="1" smtClean="0"/>
              <a:t>than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MAC.</a:t>
            </a:r>
          </a:p>
          <a:p>
            <a:r>
              <a:rPr lang="de-DE" baseline="0" dirty="0" smtClean="0"/>
              <a:t>So I </a:t>
            </a:r>
            <a:r>
              <a:rPr lang="de-DE" baseline="0" dirty="0" err="1" smtClean="0"/>
              <a:t>decided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continue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this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direction</a:t>
            </a:r>
            <a:r>
              <a:rPr lang="de-DE" baseline="0" dirty="0" smtClean="0"/>
              <a:t>.</a:t>
            </a:r>
          </a:p>
          <a:p>
            <a:endParaRPr lang="de-DE" baseline="0" dirty="0" smtClean="0"/>
          </a:p>
          <a:p>
            <a:endParaRPr lang="de-DE" baseline="0" dirty="0" smtClean="0"/>
          </a:p>
          <a:p>
            <a:endParaRPr lang="de-DE" baseline="0" dirty="0" smtClean="0"/>
          </a:p>
          <a:p>
            <a:endParaRPr lang="de-DE" baseline="0" dirty="0" smtClean="0"/>
          </a:p>
          <a:p>
            <a:endParaRPr lang="de-DE" baseline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7312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aseline="0" dirty="0" smtClean="0"/>
          </a:p>
          <a:p>
            <a:endParaRPr lang="de-DE" baseline="0" dirty="0" smtClean="0"/>
          </a:p>
          <a:p>
            <a:endParaRPr lang="de-DE" baseline="0" dirty="0" smtClean="0"/>
          </a:p>
          <a:p>
            <a:endParaRPr lang="de-DE" baseline="0" dirty="0" smtClean="0"/>
          </a:p>
          <a:p>
            <a:endParaRPr lang="de-DE" baseline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09311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I </a:t>
            </a:r>
            <a:r>
              <a:rPr lang="de-DE" dirty="0" err="1" smtClean="0"/>
              <a:t>won‘t</a:t>
            </a:r>
            <a:r>
              <a:rPr lang="de-DE" dirty="0" smtClean="0"/>
              <a:t> </a:t>
            </a:r>
            <a:r>
              <a:rPr lang="de-DE" dirty="0" err="1" smtClean="0"/>
              <a:t>present</a:t>
            </a:r>
            <a:r>
              <a:rPr lang="de-DE" dirty="0" smtClean="0"/>
              <a:t> all </a:t>
            </a:r>
            <a:r>
              <a:rPr lang="de-DE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models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tested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this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work</a:t>
            </a:r>
            <a:r>
              <a:rPr lang="de-DE" baseline="0" dirty="0" smtClean="0"/>
              <a:t> but </a:t>
            </a:r>
            <a:r>
              <a:rPr lang="de-DE" baseline="0" dirty="0" err="1" smtClean="0"/>
              <a:t>you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see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overview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table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best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results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achieved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3 </a:t>
            </a:r>
            <a:r>
              <a:rPr lang="de-DE" baseline="0" dirty="0" err="1" smtClean="0"/>
              <a:t>targets</a:t>
            </a:r>
            <a:r>
              <a:rPr lang="de-DE" baseline="0" dirty="0" smtClean="0"/>
              <a:t>:</a:t>
            </a:r>
          </a:p>
          <a:p>
            <a:pPr marL="0" indent="0">
              <a:buFontTx/>
              <a:buNone/>
            </a:pPr>
            <a:r>
              <a:rPr lang="de-DE" baseline="0" dirty="0" smtClean="0"/>
              <a:t>- </a:t>
            </a:r>
            <a:r>
              <a:rPr lang="de-DE" baseline="0" dirty="0" err="1" smtClean="0"/>
              <a:t>predictions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frequencies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performed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Light Gradient-</a:t>
            </a:r>
            <a:r>
              <a:rPr lang="de-DE" baseline="0" dirty="0" err="1" smtClean="0"/>
              <a:t>Boosting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Machine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algorithm</a:t>
            </a: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- </a:t>
            </a:r>
            <a:r>
              <a:rPr lang="de-DE" baseline="0" dirty="0" err="1" smtClean="0"/>
              <a:t>prediction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uniformity</a:t>
            </a:r>
            <a:r>
              <a:rPr lang="de-DE" baseline="0" dirty="0" smtClean="0"/>
              <a:t> was </a:t>
            </a:r>
            <a:r>
              <a:rPr lang="de-DE" baseline="0" dirty="0" err="1" smtClean="0"/>
              <a:t>achieved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Keras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Neural</a:t>
            </a:r>
            <a:r>
              <a:rPr lang="de-DE" baseline="0" dirty="0" smtClean="0"/>
              <a:t> Network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Dense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layers</a:t>
            </a:r>
            <a:endParaRPr lang="de-DE" dirty="0" smtClean="0"/>
          </a:p>
          <a:p>
            <a:endParaRPr lang="de-DE" dirty="0" smtClean="0"/>
          </a:p>
          <a:p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rest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presentation</a:t>
            </a:r>
            <a:r>
              <a:rPr lang="de-DE" dirty="0" smtClean="0"/>
              <a:t>,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</a:t>
            </a:r>
            <a:r>
              <a:rPr lang="de-DE" baseline="0" dirty="0" smtClean="0"/>
              <a:t> will </a:t>
            </a:r>
            <a:r>
              <a:rPr lang="de-DE" baseline="0" dirty="0" err="1" smtClean="0"/>
              <a:t>f</a:t>
            </a:r>
            <a:r>
              <a:rPr lang="de-DE" dirty="0" err="1" smtClean="0"/>
              <a:t>ocus</a:t>
            </a:r>
            <a:r>
              <a:rPr lang="de-DE" dirty="0" smtClean="0"/>
              <a:t> on </a:t>
            </a:r>
            <a:r>
              <a:rPr lang="de-DE" dirty="0" err="1" smtClean="0"/>
              <a:t>Streamlit</a:t>
            </a:r>
            <a:r>
              <a:rPr lang="de-DE" baseline="0" dirty="0" smtClean="0"/>
              <a:t> on </a:t>
            </a:r>
            <a:r>
              <a:rPr lang="de-DE" dirty="0" err="1" smtClean="0"/>
              <a:t>the</a:t>
            </a:r>
            <a:r>
              <a:rPr lang="de-DE" dirty="0" smtClean="0"/>
              <a:t> longitudinal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frequencies</a:t>
            </a:r>
            <a:r>
              <a:rPr lang="de-DE" baseline="0" dirty="0" smtClean="0"/>
              <a:t>:</a:t>
            </a:r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target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single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value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contrary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all </a:t>
            </a:r>
            <a:r>
              <a:rPr lang="de-DE" baseline="0" dirty="0" err="1" smtClean="0"/>
              <a:t>frequencies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the</a:t>
            </a:r>
            <a:r>
              <a:rPr lang="de-DE" baseline="0" dirty="0" smtClean="0"/>
              <a:t> score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error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easy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interpret</a:t>
            </a:r>
            <a:endParaRPr lang="de-DE" baseline="0" dirty="0" smtClean="0"/>
          </a:p>
          <a:p>
            <a:pPr marL="0" indent="0">
              <a:buFontTx/>
              <a:buNone/>
            </a:pP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I </a:t>
            </a:r>
            <a:r>
              <a:rPr lang="de-DE" baseline="0" dirty="0" err="1" smtClean="0"/>
              <a:t>selected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coefficient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determination</a:t>
            </a:r>
            <a:r>
              <a:rPr lang="de-DE" baseline="0" dirty="0" smtClean="0"/>
              <a:t> R², 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evaluation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metric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because</a:t>
            </a:r>
            <a:r>
              <a:rPr lang="de-DE" baseline="0" dirty="0" smtClean="0"/>
              <a:t>:</a:t>
            </a:r>
          </a:p>
          <a:p>
            <a:pPr marL="0" indent="0">
              <a:buFontTx/>
              <a:buNone/>
            </a:pPr>
            <a:r>
              <a:rPr lang="de-DE" baseline="0" dirty="0" smtClean="0"/>
              <a:t>- </a:t>
            </a:r>
            <a:r>
              <a:rPr lang="de-DE" baseline="0" dirty="0" err="1" smtClean="0"/>
              <a:t>it‘s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default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metric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LightGBM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regressor</a:t>
            </a: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- </a:t>
            </a:r>
            <a:r>
              <a:rPr lang="de-DE" baseline="0" dirty="0" err="1" smtClean="0"/>
              <a:t>it‘s</a:t>
            </a:r>
            <a:r>
              <a:rPr lang="de-DE" baseline="0" dirty="0" smtClean="0"/>
              <a:t> a universal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absolute </a:t>
            </a:r>
            <a:r>
              <a:rPr lang="de-DE" baseline="0" dirty="0" err="1" smtClean="0"/>
              <a:t>metric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that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does</a:t>
            </a:r>
            <a:r>
              <a:rPr lang="de-DE" baseline="0" dirty="0" smtClean="0"/>
              <a:t> not </a:t>
            </a:r>
            <a:r>
              <a:rPr lang="de-DE" baseline="0" dirty="0" err="1" smtClean="0"/>
              <a:t>require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reference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point</a:t>
            </a:r>
            <a:endParaRPr lang="de-DE" baseline="0" dirty="0" smtClean="0"/>
          </a:p>
          <a:p>
            <a:endParaRPr lang="de-DE" dirty="0" smtClean="0"/>
          </a:p>
          <a:p>
            <a:r>
              <a:rPr lang="de-DE" dirty="0" err="1" smtClean="0"/>
              <a:t>If</a:t>
            </a:r>
            <a:r>
              <a:rPr lang="de-DE" baseline="0" dirty="0" smtClean="0"/>
              <a:t> I </a:t>
            </a:r>
            <a:r>
              <a:rPr lang="de-DE" baseline="0" dirty="0" err="1" smtClean="0"/>
              <a:t>had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more</a:t>
            </a:r>
            <a:r>
              <a:rPr lang="de-DE" baseline="0" dirty="0" smtClean="0"/>
              <a:t> time, I </a:t>
            </a:r>
            <a:r>
              <a:rPr lang="de-DE" baseline="0" dirty="0" err="1" smtClean="0"/>
              <a:t>would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have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tested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other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metrics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72730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I </a:t>
            </a:r>
            <a:r>
              <a:rPr lang="de-DE" dirty="0" err="1" smtClean="0"/>
              <a:t>chose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regressor</a:t>
            </a:r>
            <a:r>
              <a:rPr lang="de-DE" dirty="0" smtClean="0"/>
              <a:t> Light Gradient </a:t>
            </a:r>
            <a:r>
              <a:rPr lang="de-DE" dirty="0" err="1" smtClean="0"/>
              <a:t>Boosting</a:t>
            </a:r>
            <a:r>
              <a:rPr lang="de-DE" dirty="0" smtClean="0"/>
              <a:t> </a:t>
            </a:r>
            <a:r>
              <a:rPr lang="de-DE" dirty="0" err="1" smtClean="0"/>
              <a:t>Machine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predict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frequencies</a:t>
            </a:r>
            <a:r>
              <a:rPr lang="de-DE" dirty="0" smtClean="0"/>
              <a:t> </a:t>
            </a:r>
            <a:r>
              <a:rPr lang="de-DE" dirty="0" err="1" smtClean="0"/>
              <a:t>because</a:t>
            </a:r>
            <a:r>
              <a:rPr lang="de-DE" dirty="0" smtClean="0"/>
              <a:t>:</a:t>
            </a:r>
          </a:p>
          <a:p>
            <a:r>
              <a:rPr lang="de-DE" dirty="0" smtClean="0"/>
              <a:t>- fast</a:t>
            </a:r>
            <a:r>
              <a:rPr lang="de-DE" baseline="0" dirty="0" smtClean="0"/>
              <a:t> &amp; </a:t>
            </a:r>
            <a:r>
              <a:rPr lang="de-DE" baseline="0" dirty="0" err="1" smtClean="0"/>
              <a:t>accurate</a:t>
            </a:r>
            <a:endParaRPr lang="de-DE" baseline="0" dirty="0" smtClean="0"/>
          </a:p>
          <a:p>
            <a:r>
              <a:rPr lang="de-DE" baseline="0" dirty="0" smtClean="0"/>
              <a:t>- </a:t>
            </a:r>
            <a:r>
              <a:rPr lang="de-DE" baseline="0" dirty="0" err="1" smtClean="0"/>
              <a:t>can</a:t>
            </a:r>
            <a:r>
              <a:rPr lang="de-DE" baseline="0" dirty="0" smtClean="0"/>
              <a:t> handle large </a:t>
            </a:r>
            <a:r>
              <a:rPr lang="de-DE" baseline="0" dirty="0" err="1" smtClean="0"/>
              <a:t>datasets</a:t>
            </a:r>
            <a:endParaRPr lang="de-DE" dirty="0" smtClean="0"/>
          </a:p>
          <a:p>
            <a:endParaRPr lang="de-DE" dirty="0" smtClean="0"/>
          </a:p>
          <a:p>
            <a:r>
              <a:rPr lang="de-DE" baseline="0" dirty="0" err="1" smtClean="0"/>
              <a:t>Here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results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base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model</a:t>
            </a:r>
            <a:endParaRPr lang="de-DE" baseline="0" dirty="0" smtClean="0"/>
          </a:p>
          <a:p>
            <a:r>
              <a:rPr lang="de-DE" dirty="0" smtClean="0"/>
              <a:t>- </a:t>
            </a:r>
            <a:r>
              <a:rPr lang="de-DE" baseline="0" dirty="0" err="1" smtClean="0"/>
              <a:t>R²</a:t>
            </a:r>
            <a:r>
              <a:rPr lang="de-DE" baseline="0" dirty="0" smtClean="0"/>
              <a:t> score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already</a:t>
            </a:r>
            <a:r>
              <a:rPr lang="de-DE" baseline="0" dirty="0" smtClean="0"/>
              <a:t> high </a:t>
            </a:r>
            <a:endParaRPr lang="de-DE" dirty="0" smtClean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baseline="0" dirty="0" smtClean="0"/>
              <a:t>- MAE (</a:t>
            </a:r>
            <a:r>
              <a:rPr lang="de-DE" baseline="0" dirty="0" err="1" smtClean="0"/>
              <a:t>arithmetic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average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abs. </a:t>
            </a:r>
            <a:r>
              <a:rPr lang="de-DE" baseline="0" dirty="0" err="1" smtClean="0"/>
              <a:t>error</a:t>
            </a:r>
            <a:r>
              <a:rPr lang="de-DE" baseline="0" dirty="0" smtClean="0"/>
              <a:t>)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45 Hz</a:t>
            </a:r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 smtClean="0"/>
              <a:t>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baseline="0" dirty="0" err="1" smtClean="0"/>
              <a:t>plots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you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see</a:t>
            </a:r>
            <a:r>
              <a:rPr lang="de-DE" baseline="0" dirty="0" smtClean="0"/>
              <a:t>:</a:t>
            </a:r>
          </a:p>
          <a:p>
            <a:r>
              <a:rPr lang="de-DE" baseline="0" dirty="0" smtClean="0"/>
              <a:t>(</a:t>
            </a:r>
            <a:r>
              <a:rPr lang="de-DE" baseline="0" dirty="0" err="1" smtClean="0"/>
              <a:t>left</a:t>
            </a:r>
            <a:r>
              <a:rPr lang="de-DE" baseline="0" dirty="0" smtClean="0"/>
              <a:t>)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predicted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values</a:t>
            </a:r>
            <a:r>
              <a:rPr lang="de-DE" baseline="0" dirty="0" smtClean="0"/>
              <a:t> = f (real </a:t>
            </a:r>
            <a:r>
              <a:rPr lang="de-DE" baseline="0" dirty="0" err="1" smtClean="0"/>
              <a:t>values</a:t>
            </a:r>
            <a:r>
              <a:rPr lang="de-DE" baseline="0" dirty="0" smtClean="0"/>
              <a:t>)</a:t>
            </a:r>
          </a:p>
          <a:p>
            <a:r>
              <a:rPr lang="de-DE" baseline="0" dirty="0" smtClean="0"/>
              <a:t>(</a:t>
            </a:r>
            <a:r>
              <a:rPr lang="de-DE" baseline="0" dirty="0" err="1" smtClean="0"/>
              <a:t>right</a:t>
            </a:r>
            <a:r>
              <a:rPr lang="de-DE" baseline="0" dirty="0" smtClean="0"/>
              <a:t>)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residuals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calculated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difference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Prediction</a:t>
            </a:r>
            <a:r>
              <a:rPr lang="de-DE" baseline="0" dirty="0" smtClean="0"/>
              <a:t> – Real)</a:t>
            </a:r>
          </a:p>
          <a:p>
            <a:endParaRPr lang="de-DE" dirty="0" smtClean="0"/>
          </a:p>
          <a:p>
            <a:r>
              <a:rPr lang="de-DE" dirty="0" smtClean="0"/>
              <a:t># (</a:t>
            </a:r>
            <a:r>
              <a:rPr lang="de-DE" dirty="0" err="1" smtClean="0"/>
              <a:t>selectbox</a:t>
            </a:r>
            <a:r>
              <a:rPr lang="de-DE" dirty="0" smtClean="0"/>
              <a:t>)</a:t>
            </a:r>
          </a:p>
          <a:p>
            <a:r>
              <a:rPr lang="de-DE" dirty="0" err="1" smtClean="0"/>
              <a:t>Then</a:t>
            </a:r>
            <a:r>
              <a:rPr lang="de-DE" baseline="0" dirty="0" smtClean="0"/>
              <a:t> I </a:t>
            </a:r>
            <a:r>
              <a:rPr lang="de-DE" baseline="0" dirty="0" err="1" smtClean="0"/>
              <a:t>tuned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hyperparameters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using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Bayesian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approach</a:t>
            </a:r>
            <a:r>
              <a:rPr lang="de-DE" baseline="0" dirty="0" smtClean="0"/>
              <a:t>.</a:t>
            </a:r>
          </a:p>
          <a:p>
            <a:r>
              <a:rPr lang="de-DE" baseline="0" dirty="0" smtClean="0"/>
              <a:t>MAE </a:t>
            </a:r>
            <a:r>
              <a:rPr lang="de-DE" baseline="0" dirty="0" err="1" smtClean="0"/>
              <a:t>sinked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28 Hz, </a:t>
            </a:r>
            <a:r>
              <a:rPr lang="de-DE" baseline="0" dirty="0" err="1" smtClean="0"/>
              <a:t>compared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45 Hz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base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model</a:t>
            </a:r>
            <a:endParaRPr lang="de-DE" baseline="0" dirty="0" smtClean="0"/>
          </a:p>
          <a:p>
            <a:endParaRPr lang="de-DE" baseline="0" dirty="0" smtClean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 smtClean="0"/>
              <a:t># (</a:t>
            </a:r>
            <a:r>
              <a:rPr lang="de-DE" dirty="0" err="1" smtClean="0"/>
              <a:t>checkbox</a:t>
            </a:r>
            <a:r>
              <a:rPr lang="de-DE" dirty="0" smtClean="0"/>
              <a:t>) </a:t>
            </a:r>
            <a:r>
              <a:rPr lang="de-DE" dirty="0" err="1" smtClean="0"/>
              <a:t>Worst</a:t>
            </a:r>
            <a:r>
              <a:rPr lang="de-DE" dirty="0" smtClean="0"/>
              <a:t> </a:t>
            </a:r>
            <a:r>
              <a:rPr lang="de-DE" dirty="0" err="1" smtClean="0"/>
              <a:t>prediction</a:t>
            </a:r>
            <a:endParaRPr lang="de-DE" dirty="0" smtClean="0"/>
          </a:p>
          <a:p>
            <a:r>
              <a:rPr lang="de-DE" dirty="0" err="1" smtClean="0"/>
              <a:t>Let‘s</a:t>
            </a:r>
            <a:r>
              <a:rPr lang="de-DE" dirty="0" smtClean="0"/>
              <a:t> </a:t>
            </a:r>
            <a:r>
              <a:rPr lang="de-DE" dirty="0" err="1" smtClean="0"/>
              <a:t>take</a:t>
            </a:r>
            <a:r>
              <a:rPr lang="de-DE" dirty="0" smtClean="0"/>
              <a:t> a </a:t>
            </a:r>
            <a:r>
              <a:rPr lang="de-DE" dirty="0" err="1" smtClean="0"/>
              <a:t>closer</a:t>
            </a:r>
            <a:r>
              <a:rPr lang="de-DE" dirty="0" smtClean="0"/>
              <a:t> </a:t>
            </a:r>
            <a:r>
              <a:rPr lang="de-DE" dirty="0" err="1" smtClean="0"/>
              <a:t>look</a:t>
            </a:r>
            <a:r>
              <a:rPr lang="de-DE" dirty="0" smtClean="0"/>
              <a:t> at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worst</a:t>
            </a:r>
            <a:r>
              <a:rPr lang="de-DE" dirty="0" smtClean="0"/>
              <a:t> </a:t>
            </a:r>
            <a:r>
              <a:rPr lang="de-DE" dirty="0" err="1" smtClean="0"/>
              <a:t>prediction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understand</a:t>
            </a:r>
            <a:r>
              <a:rPr lang="de-DE" dirty="0" smtClean="0"/>
              <a:t> </a:t>
            </a:r>
            <a:r>
              <a:rPr lang="de-DE" dirty="0" err="1" smtClean="0"/>
              <a:t>why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model</a:t>
            </a:r>
            <a:r>
              <a:rPr lang="de-DE" dirty="0" smtClean="0"/>
              <a:t> was </a:t>
            </a:r>
            <a:r>
              <a:rPr lang="de-DE" dirty="0" err="1" smtClean="0"/>
              <a:t>less</a:t>
            </a:r>
            <a:r>
              <a:rPr lang="de-DE" dirty="0" smtClean="0"/>
              <a:t> </a:t>
            </a:r>
            <a:r>
              <a:rPr lang="de-DE" dirty="0" err="1" smtClean="0"/>
              <a:t>accurate</a:t>
            </a:r>
            <a:r>
              <a:rPr lang="de-DE" dirty="0" smtClean="0"/>
              <a:t>:</a:t>
            </a:r>
          </a:p>
          <a:p>
            <a:r>
              <a:rPr lang="de-DE" dirty="0" smtClean="0"/>
              <a:t>- Absolute </a:t>
            </a:r>
            <a:r>
              <a:rPr lang="de-DE" dirty="0" err="1" smtClean="0"/>
              <a:t>error</a:t>
            </a:r>
            <a:r>
              <a:rPr lang="de-DE" dirty="0" smtClean="0"/>
              <a:t> 237 Hz</a:t>
            </a:r>
          </a:p>
          <a:p>
            <a:r>
              <a:rPr lang="de-DE" dirty="0" smtClean="0"/>
              <a:t>-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long</a:t>
            </a:r>
            <a:r>
              <a:rPr lang="de-DE" baseline="0" dirty="0" smtClean="0"/>
              <a:t>.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= 57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dirty="0" err="1" smtClean="0">
                <a:sym typeface="Wingdings" panose="05000000000000000000" pitchFamily="2" charset="2"/>
              </a:rPr>
              <a:t>we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can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see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that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the</a:t>
            </a:r>
            <a:r>
              <a:rPr lang="de-DE" dirty="0" smtClean="0">
                <a:sym typeface="Wingdings" panose="05000000000000000000" pitchFamily="2" charset="2"/>
              </a:rPr>
              <a:t> MAC </a:t>
            </a:r>
            <a:r>
              <a:rPr lang="de-DE" dirty="0" err="1" smtClean="0">
                <a:sym typeface="Wingdings" panose="05000000000000000000" pitchFamily="2" charset="2"/>
              </a:rPr>
              <a:t>value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of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modes</a:t>
            </a:r>
            <a:r>
              <a:rPr lang="de-DE" dirty="0" smtClean="0">
                <a:sym typeface="Wingdings" panose="05000000000000000000" pitchFamily="2" charset="2"/>
              </a:rPr>
              <a:t> 55 + 57 </a:t>
            </a:r>
            <a:r>
              <a:rPr lang="de-DE" dirty="0" err="1" smtClean="0">
                <a:sym typeface="Wingdings" panose="05000000000000000000" pitchFamily="2" charset="2"/>
              </a:rPr>
              <a:t>are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quite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similar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and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significantly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below</a:t>
            </a:r>
            <a:r>
              <a:rPr lang="de-DE" baseline="0" dirty="0" smtClean="0">
                <a:sym typeface="Wingdings" panose="05000000000000000000" pitchFamily="2" charset="2"/>
              </a:rPr>
              <a:t> 1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baseline="0" dirty="0" err="1" smtClean="0">
                <a:sym typeface="Wingdings" panose="05000000000000000000" pitchFamily="2" charset="2"/>
              </a:rPr>
              <a:t>particular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case</a:t>
            </a:r>
            <a:r>
              <a:rPr lang="de-DE" baseline="0" dirty="0" smtClean="0">
                <a:sym typeface="Wingdings" panose="05000000000000000000" pitchFamily="2" charset="2"/>
              </a:rPr>
              <a:t>: </a:t>
            </a:r>
            <a:r>
              <a:rPr lang="de-DE" baseline="0" dirty="0" err="1" smtClean="0">
                <a:sym typeface="Wingdings" panose="05000000000000000000" pitchFamily="2" charset="2"/>
              </a:rPr>
              <a:t>both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modes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have</a:t>
            </a:r>
            <a:r>
              <a:rPr lang="de-DE" baseline="0" dirty="0" smtClean="0">
                <a:sym typeface="Wingdings" panose="05000000000000000000" pitchFamily="2" charset="2"/>
              </a:rPr>
              <a:t> a </a:t>
            </a:r>
            <a:r>
              <a:rPr lang="de-DE" baseline="0" dirty="0" err="1" smtClean="0">
                <a:sym typeface="Wingdings" panose="05000000000000000000" pitchFamily="2" charset="2"/>
              </a:rPr>
              <a:t>very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similar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shape</a:t>
            </a:r>
            <a:r>
              <a:rPr lang="de-DE" baseline="0" dirty="0" smtClean="0">
                <a:sym typeface="Wingdings" panose="05000000000000000000" pitchFamily="2" charset="2"/>
              </a:rPr>
              <a:t> (</a:t>
            </a:r>
            <a:r>
              <a:rPr lang="de-DE" baseline="0" dirty="0" err="1" smtClean="0">
                <a:sym typeface="Wingdings" panose="05000000000000000000" pitchFamily="2" charset="2"/>
              </a:rPr>
              <a:t>as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we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see</a:t>
            </a:r>
            <a:r>
              <a:rPr lang="de-DE" baseline="0" dirty="0" smtClean="0">
                <a:sym typeface="Wingdings" panose="05000000000000000000" pitchFamily="2" charset="2"/>
              </a:rPr>
              <a:t> in </a:t>
            </a:r>
            <a:r>
              <a:rPr lang="de-DE" baseline="0" dirty="0" err="1" smtClean="0">
                <a:sym typeface="Wingdings" panose="05000000000000000000" pitchFamily="2" charset="2"/>
              </a:rPr>
              <a:t>the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displacements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plots</a:t>
            </a:r>
            <a:r>
              <a:rPr lang="de-DE" baseline="0" dirty="0" smtClean="0">
                <a:sym typeface="Wingdings" panose="05000000000000000000" pitchFamily="2" charset="2"/>
              </a:rPr>
              <a:t>) </a:t>
            </a:r>
            <a:r>
              <a:rPr lang="de-DE" baseline="0" dirty="0" err="1" smtClean="0">
                <a:sym typeface="Wingdings" panose="05000000000000000000" pitchFamily="2" charset="2"/>
              </a:rPr>
              <a:t>the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identification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is</a:t>
            </a:r>
            <a:r>
              <a:rPr lang="de-DE" baseline="0" dirty="0" smtClean="0">
                <a:sym typeface="Wingdings" panose="05000000000000000000" pitchFamily="2" charset="2"/>
              </a:rPr>
              <a:t> not </a:t>
            </a:r>
            <a:r>
              <a:rPr lang="de-DE" baseline="0" dirty="0" err="1" smtClean="0">
                <a:sym typeface="Wingdings" panose="05000000000000000000" pitchFamily="2" charset="2"/>
              </a:rPr>
              <a:t>obvious</a:t>
            </a:r>
            <a:endParaRPr lang="de-DE" dirty="0" smtClean="0"/>
          </a:p>
          <a:p>
            <a:endParaRPr lang="de-DE" dirty="0" smtClean="0"/>
          </a:p>
          <a:p>
            <a:r>
              <a:rPr lang="de-DE" dirty="0" smtClean="0"/>
              <a:t># (</a:t>
            </a:r>
            <a:r>
              <a:rPr lang="de-DE" dirty="0" err="1" smtClean="0"/>
              <a:t>checkbox</a:t>
            </a:r>
            <a:r>
              <a:rPr lang="de-DE" dirty="0" smtClean="0"/>
              <a:t>) Scatterplot Res = f (MAC) </a:t>
            </a:r>
            <a:r>
              <a:rPr lang="de-DE" dirty="0" err="1" smtClean="0"/>
              <a:t>shows</a:t>
            </a:r>
            <a:r>
              <a:rPr lang="de-DE" dirty="0" smtClean="0"/>
              <a:t> </a:t>
            </a:r>
            <a:r>
              <a:rPr lang="de-DE" dirty="0" err="1" smtClean="0"/>
              <a:t>that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residuals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smaller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well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identified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modes</a:t>
            </a:r>
            <a:r>
              <a:rPr lang="de-DE" baseline="0" dirty="0" smtClean="0"/>
              <a:t> (high MAC </a:t>
            </a:r>
            <a:r>
              <a:rPr lang="de-DE" baseline="0" dirty="0" err="1" smtClean="0"/>
              <a:t>values</a:t>
            </a:r>
            <a:r>
              <a:rPr lang="de-DE" baseline="0" dirty="0" smtClean="0"/>
              <a:t>)</a:t>
            </a:r>
          </a:p>
          <a:p>
            <a:endParaRPr lang="de-DE" baseline="0" dirty="0" smtClean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 smtClean="0"/>
              <a:t># (</a:t>
            </a:r>
            <a:r>
              <a:rPr lang="de-DE" dirty="0" err="1" smtClean="0"/>
              <a:t>selectbox</a:t>
            </a:r>
            <a:r>
              <a:rPr lang="de-DE" dirty="0" smtClean="0"/>
              <a:t>)</a:t>
            </a:r>
          </a:p>
          <a:p>
            <a:r>
              <a:rPr lang="de-DE" dirty="0" err="1" smtClean="0"/>
              <a:t>Finally</a:t>
            </a:r>
            <a:r>
              <a:rPr lang="de-DE" dirty="0" smtClean="0"/>
              <a:t> I </a:t>
            </a:r>
            <a:r>
              <a:rPr lang="de-DE" dirty="0" err="1" smtClean="0"/>
              <a:t>chose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exclude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any</a:t>
            </a:r>
            <a:r>
              <a:rPr lang="de-DE" baseline="0" dirty="0" smtClean="0"/>
              <a:t> DP </a:t>
            </a:r>
            <a:r>
              <a:rPr lang="de-DE" baseline="0" dirty="0" err="1" smtClean="0"/>
              <a:t>from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training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low</a:t>
            </a:r>
            <a:r>
              <a:rPr lang="de-DE" baseline="0" dirty="0" smtClean="0"/>
              <a:t> MAC </a:t>
            </a:r>
            <a:r>
              <a:rPr lang="de-DE" baseline="0" dirty="0" err="1" smtClean="0"/>
              <a:t>values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below</a:t>
            </a:r>
            <a:r>
              <a:rPr lang="de-DE" baseline="0" dirty="0" smtClean="0"/>
              <a:t> 0.75) </a:t>
            </a:r>
            <a:r>
              <a:rPr lang="de-DE" baseline="0" dirty="0" smtClean="0">
                <a:sym typeface="Wingdings" panose="05000000000000000000" pitchFamily="2" charset="2"/>
              </a:rPr>
              <a:t> </a:t>
            </a:r>
            <a:r>
              <a:rPr lang="de-DE" baseline="0" dirty="0" err="1" smtClean="0">
                <a:sym typeface="Wingdings" panose="05000000000000000000" pitchFamily="2" charset="2"/>
              </a:rPr>
              <a:t>maintaining</a:t>
            </a:r>
            <a:r>
              <a:rPr lang="de-DE" baseline="0" dirty="0" smtClean="0">
                <a:sym typeface="Wingdings" panose="05000000000000000000" pitchFamily="2" charset="2"/>
              </a:rPr>
              <a:t> still 85% </a:t>
            </a:r>
            <a:r>
              <a:rPr lang="de-DE" baseline="0" dirty="0" err="1" smtClean="0">
                <a:sym typeface="Wingdings" panose="05000000000000000000" pitchFamily="2" charset="2"/>
              </a:rPr>
              <a:t>of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the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dataset</a:t>
            </a:r>
            <a:endParaRPr lang="de-DE" baseline="0" dirty="0" smtClean="0"/>
          </a:p>
          <a:p>
            <a:r>
              <a:rPr lang="de-DE" dirty="0" smtClean="0"/>
              <a:t>This </a:t>
            </a:r>
            <a:r>
              <a:rPr lang="de-DE" dirty="0" err="1" smtClean="0"/>
              <a:t>dataset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filtering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enhanced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model‘s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performance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leading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an </a:t>
            </a:r>
            <a:r>
              <a:rPr lang="de-DE" baseline="0" dirty="0" err="1" smtClean="0"/>
              <a:t>improvement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prediction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accuracy</a:t>
            </a:r>
            <a:endParaRPr lang="de-DE" baseline="0" dirty="0" smtClean="0"/>
          </a:p>
          <a:p>
            <a:r>
              <a:rPr lang="de-DE" baseline="0" dirty="0" smtClean="0">
                <a:sym typeface="Wingdings" panose="05000000000000000000" pitchFamily="2" charset="2"/>
              </a:rPr>
              <a:t> </a:t>
            </a:r>
            <a:r>
              <a:rPr lang="de-DE" baseline="0" dirty="0" err="1" smtClean="0">
                <a:sym typeface="Wingdings" panose="05000000000000000000" pitchFamily="2" charset="2"/>
              </a:rPr>
              <a:t>Mean</a:t>
            </a:r>
            <a:r>
              <a:rPr lang="de-DE" baseline="0" dirty="0" smtClean="0">
                <a:sym typeface="Wingdings" panose="05000000000000000000" pitchFamily="2" charset="2"/>
              </a:rPr>
              <a:t> Absolute Error MAE was </a:t>
            </a:r>
            <a:r>
              <a:rPr lang="de-DE" baseline="0" dirty="0" err="1" smtClean="0">
                <a:sym typeface="Wingdings" panose="05000000000000000000" pitchFamily="2" charset="2"/>
              </a:rPr>
              <a:t>reduced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to</a:t>
            </a:r>
            <a:r>
              <a:rPr lang="de-DE" baseline="0" dirty="0" smtClean="0">
                <a:sym typeface="Wingdings" panose="05000000000000000000" pitchFamily="2" charset="2"/>
              </a:rPr>
              <a:t> 21 Hz, an </a:t>
            </a:r>
            <a:r>
              <a:rPr lang="de-DE" baseline="0" dirty="0" err="1" smtClean="0">
                <a:sym typeface="Wingdings" panose="05000000000000000000" pitchFamily="2" charset="2"/>
              </a:rPr>
              <a:t>excellent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result</a:t>
            </a:r>
            <a:r>
              <a:rPr lang="de-DE" baseline="0" dirty="0" smtClean="0">
                <a:sym typeface="Wingdings" panose="05000000000000000000" pitchFamily="2" charset="2"/>
              </a:rPr>
              <a:t> (0.1 % </a:t>
            </a:r>
            <a:r>
              <a:rPr lang="de-DE" baseline="0" dirty="0" err="1" smtClean="0">
                <a:sym typeface="Wingdings" panose="05000000000000000000" pitchFamily="2" charset="2"/>
              </a:rPr>
              <a:t>of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the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driving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frequency</a:t>
            </a:r>
            <a:r>
              <a:rPr lang="de-DE" baseline="0" dirty="0" smtClean="0">
                <a:sym typeface="Wingdings" panose="05000000000000000000" pitchFamily="2" charset="2"/>
              </a:rPr>
              <a:t>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06661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Neurales Netz: </a:t>
            </a:r>
            <a:r>
              <a:rPr lang="de-DE" dirty="0" err="1" smtClean="0"/>
              <a:t>Structur</a:t>
            </a:r>
            <a:r>
              <a:rPr lang="de-DE" dirty="0" smtClean="0"/>
              <a:t> wird </a:t>
            </a:r>
            <a:r>
              <a:rPr lang="de-DE" dirty="0" err="1" smtClean="0"/>
              <a:t>getuned</a:t>
            </a:r>
            <a:endParaRPr lang="de-DE" dirty="0" smtClean="0"/>
          </a:p>
          <a:p>
            <a:endParaRPr lang="de-DE" dirty="0" smtClean="0"/>
          </a:p>
          <a:p>
            <a:r>
              <a:rPr lang="de-DE" dirty="0" smtClean="0"/>
              <a:t>Transformation hat einen großen </a:t>
            </a:r>
            <a:r>
              <a:rPr lang="de-DE" dirty="0" err="1" smtClean="0"/>
              <a:t>Einfluss</a:t>
            </a:r>
            <a:r>
              <a:rPr lang="de-DE" dirty="0" smtClean="0"/>
              <a:t>:</a:t>
            </a:r>
            <a:r>
              <a:rPr lang="de-DE" baseline="0" dirty="0" smtClean="0"/>
              <a:t> hier hat der </a:t>
            </a:r>
            <a:r>
              <a:rPr lang="de-DE" baseline="0" dirty="0" err="1" smtClean="0"/>
              <a:t>PowerTransformer</a:t>
            </a:r>
            <a:r>
              <a:rPr lang="de-DE" baseline="0" dirty="0" smtClean="0"/>
              <a:t> die beste Performance gezeigt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4674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Frequenzisolierung +</a:t>
            </a:r>
            <a:r>
              <a:rPr lang="de-DE" baseline="0" dirty="0" smtClean="0"/>
              <a:t> Höher MAC-Wert </a:t>
            </a:r>
            <a:r>
              <a:rPr lang="de-DE" baseline="0" dirty="0" smtClean="0">
                <a:sym typeface="Wingdings" panose="05000000000000000000" pitchFamily="2" charset="2"/>
              </a:rPr>
              <a:t> niedriges Residuum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2136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I</a:t>
            </a:r>
            <a:r>
              <a:rPr lang="de-DE" baseline="0" dirty="0" smtClean="0"/>
              <a:t> </a:t>
            </a:r>
            <a:r>
              <a:rPr lang="de-DE" baseline="0" dirty="0" err="1" smtClean="0"/>
              <a:t>have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completed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results</a:t>
            </a:r>
            <a:r>
              <a:rPr lang="de-DE" baseline="0" dirty="0" smtClean="0"/>
              <a:t>‘ </a:t>
            </a:r>
            <a:r>
              <a:rPr lang="de-DE" baseline="0" dirty="0" err="1" smtClean="0"/>
              <a:t>presentation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would</a:t>
            </a:r>
            <a:r>
              <a:rPr lang="de-DE" baseline="0" dirty="0" smtClean="0"/>
              <a:t> like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mention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next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steps</a:t>
            </a:r>
            <a:r>
              <a:rPr lang="de-DE" baseline="0" dirty="0" smtClean="0"/>
              <a:t>:</a:t>
            </a:r>
          </a:p>
          <a:p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-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deploy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model</a:t>
            </a:r>
            <a:r>
              <a:rPr lang="de-DE" baseline="0" dirty="0" smtClean="0"/>
              <a:t> in a </a:t>
            </a:r>
            <a:r>
              <a:rPr lang="de-DE" baseline="0" dirty="0" err="1" smtClean="0"/>
              <a:t>business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point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view</a:t>
            </a:r>
            <a:r>
              <a:rPr lang="de-DE" baseline="0" dirty="0" smtClean="0"/>
              <a:t>: </a:t>
            </a:r>
            <a:r>
              <a:rPr lang="de-DE" baseline="0" dirty="0" err="1" smtClean="0"/>
              <a:t>we</a:t>
            </a:r>
            <a:r>
              <a:rPr lang="de-DE" baseline="0" dirty="0" smtClean="0"/>
              <a:t> will </a:t>
            </a:r>
            <a:r>
              <a:rPr lang="de-DE" baseline="0" dirty="0" err="1" smtClean="0"/>
              <a:t>need</a:t>
            </a:r>
            <a:r>
              <a:rPr lang="de-DE" baseline="0" dirty="0" smtClean="0"/>
              <a:t> an </a:t>
            </a:r>
            <a:r>
              <a:rPr lang="de-DE" baseline="0" dirty="0" err="1" smtClean="0"/>
              <a:t>optimizer</a:t>
            </a:r>
            <a:r>
              <a:rPr lang="de-DE" baseline="0" dirty="0" smtClean="0"/>
              <a:t> </a:t>
            </a:r>
          </a:p>
          <a:p>
            <a:pPr marL="0" indent="0">
              <a:buFontTx/>
              <a:buNone/>
            </a:pPr>
            <a:r>
              <a:rPr lang="de-DE" baseline="0" dirty="0" smtClean="0"/>
              <a:t>  *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find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optimal </a:t>
            </a:r>
            <a:r>
              <a:rPr lang="de-DE" baseline="0" dirty="0" err="1" smtClean="0"/>
              <a:t>geometry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or</a:t>
            </a:r>
            <a:r>
              <a:rPr lang="de-DE" baseline="0" dirty="0" smtClean="0"/>
              <a:t> geometries)</a:t>
            </a:r>
          </a:p>
          <a:p>
            <a:pPr marL="0" indent="0">
              <a:buFontTx/>
              <a:buNone/>
            </a:pPr>
            <a:r>
              <a:rPr lang="de-DE" dirty="0" smtClean="0"/>
              <a:t>  *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optimizer</a:t>
            </a:r>
            <a:r>
              <a:rPr lang="de-DE" dirty="0" smtClean="0"/>
              <a:t> will </a:t>
            </a:r>
            <a:r>
              <a:rPr lang="de-DE" dirty="0" err="1" smtClean="0"/>
              <a:t>work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predictions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navigate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efficiently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parameter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space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than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FEM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simulations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would</a:t>
            </a:r>
            <a:endParaRPr lang="de-DE" baseline="0" dirty="0" smtClean="0"/>
          </a:p>
          <a:p>
            <a:pPr marL="0" indent="0">
              <a:buFontTx/>
              <a:buNone/>
            </a:pP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(</a:t>
            </a:r>
            <a:r>
              <a:rPr lang="de-DE" baseline="0" dirty="0" err="1" smtClean="0"/>
              <a:t>click</a:t>
            </a:r>
            <a:r>
              <a:rPr lang="de-DE" baseline="0" dirty="0" smtClean="0"/>
              <a:t>)</a:t>
            </a:r>
          </a:p>
          <a:p>
            <a:pPr marL="0" indent="0">
              <a:buFontTx/>
              <a:buNone/>
            </a:pPr>
            <a:r>
              <a:rPr lang="de-DE" baseline="0" dirty="0" smtClean="0"/>
              <a:t>  * I will </a:t>
            </a:r>
            <a:r>
              <a:rPr lang="de-DE" baseline="0" dirty="0" err="1" smtClean="0"/>
              <a:t>define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three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cost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functions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each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target</a:t>
            </a:r>
            <a:r>
              <a:rPr lang="de-DE" baseline="0" dirty="0" smtClean="0"/>
              <a:t> + </a:t>
            </a:r>
            <a:r>
              <a:rPr lang="de-DE" baseline="0" dirty="0" err="1" smtClean="0"/>
              <a:t>combine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them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build</a:t>
            </a:r>
            <a:r>
              <a:rPr lang="de-DE" baseline="0" dirty="0" smtClean="0"/>
              <a:t> a total </a:t>
            </a:r>
            <a:r>
              <a:rPr lang="de-DE" baseline="0" dirty="0" err="1" smtClean="0"/>
              <a:t>cost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minimized</a:t>
            </a: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(</a:t>
            </a:r>
            <a:r>
              <a:rPr lang="de-DE" baseline="0" dirty="0" err="1" smtClean="0"/>
              <a:t>click</a:t>
            </a:r>
            <a:r>
              <a:rPr lang="de-DE" baseline="0" dirty="0" smtClean="0"/>
              <a:t>)</a:t>
            </a:r>
          </a:p>
          <a:p>
            <a:pPr marL="0" indent="0">
              <a:buFontTx/>
              <a:buNone/>
            </a:pPr>
            <a:r>
              <a:rPr lang="de-DE" baseline="0" dirty="0" smtClean="0"/>
              <a:t>  * I will </a:t>
            </a:r>
            <a:r>
              <a:rPr lang="de-DE" baseline="0" dirty="0" err="1" smtClean="0"/>
              <a:t>start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exploring</a:t>
            </a:r>
            <a:r>
              <a:rPr lang="de-DE" baseline="0" dirty="0" smtClean="0"/>
              <a:t> a large </a:t>
            </a:r>
            <a:r>
              <a:rPr lang="de-DE" baseline="0" dirty="0" err="1" smtClean="0"/>
              <a:t>area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candidate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space</a:t>
            </a:r>
            <a:r>
              <a:rPr lang="de-DE" baseline="0" dirty="0" smtClean="0"/>
              <a:t> + </a:t>
            </a:r>
            <a:r>
              <a:rPr lang="de-DE" baseline="0" dirty="0" err="1" smtClean="0"/>
              <a:t>then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use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gradient-based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minimizer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fine</a:t>
            </a:r>
            <a:r>
              <a:rPr lang="de-DE" baseline="0" dirty="0" smtClean="0"/>
              <a:t>-tuning</a:t>
            </a:r>
          </a:p>
          <a:p>
            <a:pPr marL="0" indent="0">
              <a:buFontTx/>
              <a:buNone/>
            </a:pPr>
            <a:endParaRPr lang="de-DE" baseline="0" dirty="0" smtClean="0"/>
          </a:p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4503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85253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95953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3250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6343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86388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11075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55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+ Bild groß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31539" y="2733675"/>
            <a:ext cx="8279073" cy="19431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Project defense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5164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+ HUG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Project defense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135" y="2738063"/>
            <a:ext cx="8281440" cy="19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424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 + PL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Project defense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pic>
        <p:nvPicPr>
          <p:cNvPr id="67" name="Picture 2" descr="P:\Projekte\Herrmann_Ultraschall\06_TEMPLATE\_Data\slider-01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7981" b="7981"/>
          <a:stretch/>
        </p:blipFill>
        <p:spPr bwMode="gray">
          <a:xfrm>
            <a:off x="431539" y="2733675"/>
            <a:ext cx="8279073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286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+ PK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Project defense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388" y="2731879"/>
            <a:ext cx="8281440" cy="19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444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+ NW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Project defense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348" y="2732775"/>
            <a:ext cx="8281440" cy="19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13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 + MT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Project defense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pic>
        <p:nvPicPr>
          <p:cNvPr id="65" name="Grafik 6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772" y="2745032"/>
            <a:ext cx="8280000" cy="194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399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 + HU ACADEMY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Project defense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pic>
        <p:nvPicPr>
          <p:cNvPr id="64" name="Grafik 6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135" y="2738063"/>
            <a:ext cx="8281440" cy="19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885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el 4"/>
          <p:cNvSpPr>
            <a:spLocks noGrp="1"/>
          </p:cNvSpPr>
          <p:nvPr>
            <p:ph type="title" hasCustomPrompt="1"/>
          </p:nvPr>
        </p:nvSpPr>
        <p:spPr bwMode="gray">
          <a:xfrm>
            <a:off x="439347" y="2818071"/>
            <a:ext cx="4032510" cy="837371"/>
          </a:xfrm>
        </p:spPr>
        <p:txBody>
          <a:bodyPr wrap="square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 b="1" baseline="0">
                <a:solidFill>
                  <a:srgbClr val="33333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 smtClean="0"/>
              <a:t>Diese Folie leitet ein neues Kapitel ein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4193" y="2408806"/>
            <a:ext cx="324000" cy="324000"/>
          </a:xfrm>
          <a:solidFill>
            <a:schemeClr val="accent2"/>
          </a:solidFill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de-DE" dirty="0" smtClean="0"/>
              <a:t>01</a:t>
            </a:r>
          </a:p>
        </p:txBody>
      </p:sp>
      <p:sp>
        <p:nvSpPr>
          <p:cNvPr id="67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1871890" y="4853146"/>
            <a:ext cx="6480625" cy="1357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9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4864271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2" name="Gruppieren 12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3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4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5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6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sp>
        <p:nvSpPr>
          <p:cNvPr id="4" name="Bildplatzhalter 3"/>
          <p:cNvSpPr>
            <a:spLocks noGrp="1"/>
          </p:cNvSpPr>
          <p:nvPr>
            <p:ph type="pic" sz="quarter" idx="24"/>
          </p:nvPr>
        </p:nvSpPr>
        <p:spPr>
          <a:xfrm>
            <a:off x="4608513" y="862014"/>
            <a:ext cx="4105275" cy="381476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smtClean="0"/>
              <a:t>Bild durch Klicken auf Symbol hinzufügen</a:t>
            </a:r>
            <a:endParaRPr lang="de-DE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247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HU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el 4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39347" y="2818071"/>
            <a:ext cx="4032510" cy="837371"/>
          </a:xfrm>
        </p:spPr>
        <p:txBody>
          <a:bodyPr wrap="square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 b="1" baseline="0">
                <a:solidFill>
                  <a:srgbClr val="33333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 smtClean="0"/>
              <a:t>Diese Folie leitet ein neues Kapitel ein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4193" y="2408806"/>
            <a:ext cx="324000" cy="324000"/>
          </a:xfrm>
          <a:solidFill>
            <a:schemeClr val="accent2"/>
          </a:solidFill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de-DE" dirty="0" smtClean="0"/>
              <a:t>01</a:t>
            </a:r>
          </a:p>
        </p:txBody>
      </p:sp>
      <p:sp>
        <p:nvSpPr>
          <p:cNvPr id="67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1871890" y="4853146"/>
            <a:ext cx="6480625" cy="1357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9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4864271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2" name="Gruppieren 12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3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4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5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6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5485" y="870516"/>
            <a:ext cx="4104000" cy="380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PL/HU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el 4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39347" y="2818071"/>
            <a:ext cx="4032510" cy="837371"/>
          </a:xfrm>
        </p:spPr>
        <p:txBody>
          <a:bodyPr wrap="square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 b="1" baseline="0">
                <a:solidFill>
                  <a:srgbClr val="33333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 smtClean="0"/>
              <a:t>Diese Folie leitet ein neues Kapitel ein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4193" y="2408806"/>
            <a:ext cx="324000" cy="324000"/>
          </a:xfrm>
          <a:solidFill>
            <a:schemeClr val="accent2"/>
          </a:solidFill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de-DE" dirty="0" smtClean="0"/>
              <a:t>01</a:t>
            </a:r>
          </a:p>
        </p:txBody>
      </p:sp>
      <p:sp>
        <p:nvSpPr>
          <p:cNvPr id="67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1871890" y="4853146"/>
            <a:ext cx="6480625" cy="1357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9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4864271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2" name="Gruppieren 12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3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4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5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6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pic>
        <p:nvPicPr>
          <p:cNvPr id="38" name="Picture 2" descr="P:\Projekte\Herrmann_Ultraschall\06_TEMPLATE\_Data\slider-01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4697" r="15247"/>
          <a:stretch/>
        </p:blipFill>
        <p:spPr bwMode="gray">
          <a:xfrm>
            <a:off x="4600201" y="869355"/>
            <a:ext cx="4105275" cy="381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829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el 4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39347" y="2818071"/>
            <a:ext cx="4032510" cy="837371"/>
          </a:xfrm>
        </p:spPr>
        <p:txBody>
          <a:bodyPr wrap="square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 b="1" baseline="0">
                <a:solidFill>
                  <a:srgbClr val="33333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 smtClean="0"/>
              <a:t>Diese Folie leitet ein neues Kapitel ein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4193" y="2408806"/>
            <a:ext cx="324000" cy="324000"/>
          </a:xfrm>
          <a:solidFill>
            <a:schemeClr val="accent2"/>
          </a:solidFill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de-DE" dirty="0" smtClean="0"/>
              <a:t>01</a:t>
            </a:r>
          </a:p>
        </p:txBody>
      </p:sp>
      <p:sp>
        <p:nvSpPr>
          <p:cNvPr id="67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1871890" y="4853146"/>
            <a:ext cx="6480625" cy="1357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9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4864271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2" name="Gruppieren 12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3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4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5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6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8808" y="878576"/>
            <a:ext cx="4104000" cy="380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N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el 4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39347" y="2818071"/>
            <a:ext cx="4032510" cy="837371"/>
          </a:xfrm>
        </p:spPr>
        <p:txBody>
          <a:bodyPr wrap="square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 b="1" baseline="0">
                <a:solidFill>
                  <a:srgbClr val="33333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 smtClean="0"/>
              <a:t>Diese Folie leitet ein neues Kapitel ein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4193" y="2408806"/>
            <a:ext cx="324000" cy="324000"/>
          </a:xfrm>
          <a:solidFill>
            <a:schemeClr val="accent2"/>
          </a:solidFill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de-DE" dirty="0" smtClean="0"/>
              <a:t>01</a:t>
            </a:r>
          </a:p>
        </p:txBody>
      </p:sp>
      <p:sp>
        <p:nvSpPr>
          <p:cNvPr id="67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1871890" y="4853146"/>
            <a:ext cx="6480625" cy="1357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9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4864271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2" name="Gruppieren 12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3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4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5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6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552" y="871829"/>
            <a:ext cx="4104000" cy="380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97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apiteltrenner_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el 4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39347" y="2818071"/>
            <a:ext cx="4032510" cy="837371"/>
          </a:xfrm>
        </p:spPr>
        <p:txBody>
          <a:bodyPr wrap="square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 b="1" baseline="0">
                <a:solidFill>
                  <a:srgbClr val="33333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 smtClean="0"/>
              <a:t>Diese Folie leitet ein neues Kapitel ein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4193" y="2408806"/>
            <a:ext cx="324000" cy="324000"/>
          </a:xfrm>
          <a:solidFill>
            <a:schemeClr val="accent2"/>
          </a:solidFill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de-DE" dirty="0" smtClean="0"/>
              <a:t>01</a:t>
            </a:r>
          </a:p>
        </p:txBody>
      </p:sp>
      <p:sp>
        <p:nvSpPr>
          <p:cNvPr id="67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1871890" y="4853146"/>
            <a:ext cx="6480625" cy="1357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9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4864271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2" name="Gruppieren 12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3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4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5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6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pic>
        <p:nvPicPr>
          <p:cNvPr id="39" name="Grafik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2048" y="862363"/>
            <a:ext cx="4111740" cy="38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8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6"/>
          <p:cNvSpPr>
            <a:spLocks noGrp="1"/>
          </p:cNvSpPr>
          <p:nvPr>
            <p:ph type="sldNum" sz="quarter" idx="1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006133C-6716-453B-AA54-8455677CE4FF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5" name="Datumsplatzhalter 14"/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" name="Textplatzhalter 4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1800" y="468278"/>
            <a:ext cx="6444456" cy="30067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566763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4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64394"/>
            <a:ext cx="8278988" cy="3814762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Foliennummernplatzhalter 4"/>
          <p:cNvSpPr>
            <a:spLocks noGrp="1"/>
          </p:cNvSpPr>
          <p:nvPr>
            <p:ph type="sldNum" sz="quarter" idx="14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B3FB55F-4BDC-4E07-AC86-33CFA4FC381D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16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14967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50/50 Text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/>
          <p:cNvSpPr>
            <a:spLocks noGrp="1"/>
          </p:cNvSpPr>
          <p:nvPr>
            <p:ph type="body" sz="quarter" idx="29"/>
          </p:nvPr>
        </p:nvSpPr>
        <p:spPr bwMode="gray">
          <a:xfrm>
            <a:off x="434180" y="864543"/>
            <a:ext cx="4103689" cy="3816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33"/>
          </p:nvPr>
        </p:nvSpPr>
        <p:spPr bwMode="gray">
          <a:xfrm>
            <a:off x="4610894" y="864543"/>
            <a:ext cx="4102275" cy="3816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34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07F5F06-0E9B-45E0-BFA4-77694FA369A6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7" name="Datumsplatzhalter 14"/>
          <p:cNvSpPr>
            <a:spLocks noGrp="1"/>
          </p:cNvSpPr>
          <p:nvPr>
            <p:ph type="dt" sz="half" idx="35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69851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/SSCR Text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gray">
          <a:xfrm>
            <a:off x="431799" y="862013"/>
            <a:ext cx="4105276" cy="1871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lang="en-US" sz="12000" b="1" dirty="0" smtClean="0"/>
              <a:t>S</a:t>
            </a:r>
          </a:p>
        </p:txBody>
      </p:sp>
      <p:sp>
        <p:nvSpPr>
          <p:cNvPr id="13" name="Rechteck 12"/>
          <p:cNvSpPr/>
          <p:nvPr userDrawn="1"/>
        </p:nvSpPr>
        <p:spPr bwMode="gray">
          <a:xfrm>
            <a:off x="4608513" y="862013"/>
            <a:ext cx="4105276" cy="1871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lang="en-US" sz="12000" b="1" dirty="0" smtClean="0"/>
              <a:t>S</a:t>
            </a:r>
          </a:p>
        </p:txBody>
      </p:sp>
      <p:sp>
        <p:nvSpPr>
          <p:cNvPr id="14" name="Rechteck 13"/>
          <p:cNvSpPr/>
          <p:nvPr userDrawn="1"/>
        </p:nvSpPr>
        <p:spPr bwMode="gray">
          <a:xfrm>
            <a:off x="431800" y="2806701"/>
            <a:ext cx="4105276" cy="1871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lang="en-US" sz="12000" b="1" dirty="0" smtClean="0"/>
              <a:t>C</a:t>
            </a:r>
          </a:p>
        </p:txBody>
      </p:sp>
      <p:sp>
        <p:nvSpPr>
          <p:cNvPr id="15" name="Rechteck 14"/>
          <p:cNvSpPr/>
          <p:nvPr userDrawn="1"/>
        </p:nvSpPr>
        <p:spPr bwMode="gray">
          <a:xfrm>
            <a:off x="4608513" y="2806701"/>
            <a:ext cx="4101604" cy="1871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lang="en-US" sz="12000" b="1" dirty="0" smtClean="0"/>
              <a:t>R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34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07F5F06-0E9B-45E0-BFA4-77694FA369A6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7" name="Datumsplatzhalter 14"/>
          <p:cNvSpPr>
            <a:spLocks noGrp="1"/>
          </p:cNvSpPr>
          <p:nvPr>
            <p:ph type="dt" sz="half" idx="35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18" name="Textfeld 17"/>
          <p:cNvSpPr txBox="1"/>
          <p:nvPr userDrawn="1"/>
        </p:nvSpPr>
        <p:spPr bwMode="gray">
          <a:xfrm>
            <a:off x="440902" y="867581"/>
            <a:ext cx="4103097" cy="288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87313" indent="0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de-DE" sz="1600" b="1" dirty="0" smtClean="0">
                <a:solidFill>
                  <a:schemeClr val="tx1"/>
                </a:solidFill>
                <a:latin typeface="+mn-lt"/>
              </a:rPr>
              <a:t>Stärken</a:t>
            </a:r>
          </a:p>
        </p:txBody>
      </p:sp>
      <p:sp>
        <p:nvSpPr>
          <p:cNvPr id="28" name="Textplatzhalter 27"/>
          <p:cNvSpPr>
            <a:spLocks noGrp="1"/>
          </p:cNvSpPr>
          <p:nvPr>
            <p:ph type="body" sz="quarter" idx="40"/>
          </p:nvPr>
        </p:nvSpPr>
        <p:spPr>
          <a:xfrm>
            <a:off x="4614863" y="1167984"/>
            <a:ext cx="4102100" cy="1565691"/>
          </a:xfrm>
        </p:spPr>
        <p:txBody>
          <a:bodyPr/>
          <a:lstStyle>
            <a:lvl1pPr marL="269875" marR="0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 sz="1400"/>
            </a:lvl1pPr>
            <a:lvl2pPr marL="446088" indent="-176213">
              <a:defRPr sz="1200"/>
            </a:lvl2pPr>
            <a:lvl3pPr marL="636588" indent="-198438">
              <a:defRPr sz="1200"/>
            </a:lvl3pPr>
            <a:lvl4pPr marL="804863" indent="-176213">
              <a:defRPr sz="1200"/>
            </a:lvl4pPr>
            <a:lvl5pPr marL="269875" indent="-182563">
              <a:defRPr sz="1400"/>
            </a:lvl5pPr>
          </a:lstStyle>
          <a:p>
            <a:pPr marL="269875" marR="0" lvl="0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Formatvorlagen des Textmasters bearbeiten</a:t>
            </a:r>
          </a:p>
          <a:p>
            <a:pPr marL="269875" marR="0" lvl="1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Zweite Ebene</a:t>
            </a:r>
          </a:p>
          <a:p>
            <a:pPr marL="269875" marR="0" lvl="2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Dritte Ebene</a:t>
            </a:r>
          </a:p>
          <a:p>
            <a:pPr marL="269875" marR="0" lvl="3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Vierte Ebene</a:t>
            </a:r>
          </a:p>
          <a:p>
            <a:pPr marL="269875" marR="0" lvl="4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29" name="Textplatzhalter 27"/>
          <p:cNvSpPr>
            <a:spLocks noGrp="1"/>
          </p:cNvSpPr>
          <p:nvPr>
            <p:ph type="body" sz="quarter" idx="41"/>
          </p:nvPr>
        </p:nvSpPr>
        <p:spPr>
          <a:xfrm>
            <a:off x="436072" y="1174336"/>
            <a:ext cx="4102100" cy="1565414"/>
          </a:xfrm>
        </p:spPr>
        <p:txBody>
          <a:bodyPr/>
          <a:lstStyle>
            <a:lvl1pPr marL="269875" indent="-182563">
              <a:buClr>
                <a:schemeClr val="accent2"/>
              </a:buClr>
              <a:buFont typeface="Wingdings" panose="05000000000000000000" pitchFamily="2" charset="2"/>
              <a:buChar char="§"/>
              <a:tabLst/>
              <a:defRPr sz="1400"/>
            </a:lvl1pPr>
            <a:lvl2pPr marL="446088" indent="-176213">
              <a:defRPr sz="1200"/>
            </a:lvl2pPr>
            <a:lvl3pPr marL="636588" indent="-198438">
              <a:defRPr sz="1200"/>
            </a:lvl3pPr>
            <a:lvl4pPr marL="804863" indent="-176213">
              <a:defRPr sz="1200"/>
            </a:lvl4pPr>
            <a:lvl5pPr marL="269875" indent="-182563">
              <a:defRPr sz="1400"/>
            </a:lvl5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31" name="Textfeld 30"/>
          <p:cNvSpPr txBox="1"/>
          <p:nvPr userDrawn="1"/>
        </p:nvSpPr>
        <p:spPr bwMode="gray">
          <a:xfrm>
            <a:off x="436040" y="2813504"/>
            <a:ext cx="4103097" cy="288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87313" indent="0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de-DE" sz="1600" b="1" dirty="0" smtClean="0">
                <a:solidFill>
                  <a:schemeClr val="tx1"/>
                </a:solidFill>
                <a:latin typeface="+mn-lt"/>
              </a:rPr>
              <a:t>Chancen</a:t>
            </a:r>
          </a:p>
        </p:txBody>
      </p:sp>
      <p:sp>
        <p:nvSpPr>
          <p:cNvPr id="33" name="Textfeld 32"/>
          <p:cNvSpPr txBox="1"/>
          <p:nvPr userDrawn="1"/>
        </p:nvSpPr>
        <p:spPr bwMode="gray">
          <a:xfrm>
            <a:off x="4619152" y="2811301"/>
            <a:ext cx="4103097" cy="288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87313" indent="0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de-DE" sz="1600" b="1" dirty="0" smtClean="0">
                <a:solidFill>
                  <a:schemeClr val="tx1"/>
                </a:solidFill>
                <a:latin typeface="+mn-lt"/>
              </a:rPr>
              <a:t>Risiken</a:t>
            </a:r>
          </a:p>
        </p:txBody>
      </p:sp>
      <p:sp>
        <p:nvSpPr>
          <p:cNvPr id="34" name="Textfeld 33"/>
          <p:cNvSpPr txBox="1"/>
          <p:nvPr userDrawn="1"/>
        </p:nvSpPr>
        <p:spPr bwMode="gray">
          <a:xfrm>
            <a:off x="4615993" y="869949"/>
            <a:ext cx="4103097" cy="288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87313" indent="0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de-DE" sz="1600" b="1" dirty="0" smtClean="0">
                <a:solidFill>
                  <a:schemeClr val="tx1"/>
                </a:solidFill>
                <a:latin typeface="+mn-lt"/>
              </a:rPr>
              <a:t>Schwächen</a:t>
            </a:r>
          </a:p>
        </p:txBody>
      </p:sp>
      <p:sp>
        <p:nvSpPr>
          <p:cNvPr id="35" name="Textplatzhalter 27"/>
          <p:cNvSpPr>
            <a:spLocks noGrp="1"/>
          </p:cNvSpPr>
          <p:nvPr>
            <p:ph type="body" sz="quarter" idx="42"/>
          </p:nvPr>
        </p:nvSpPr>
        <p:spPr>
          <a:xfrm>
            <a:off x="4614560" y="3112674"/>
            <a:ext cx="4102100" cy="1566000"/>
          </a:xfrm>
        </p:spPr>
        <p:txBody>
          <a:bodyPr/>
          <a:lstStyle>
            <a:lvl1pPr marL="269875" marR="0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 sz="1400"/>
            </a:lvl1pPr>
            <a:lvl2pPr marL="446088" indent="-176213">
              <a:defRPr sz="1200"/>
            </a:lvl2pPr>
            <a:lvl3pPr marL="636588" indent="-198438">
              <a:defRPr sz="1200"/>
            </a:lvl3pPr>
            <a:lvl4pPr marL="804863" indent="-176213">
              <a:defRPr sz="1200"/>
            </a:lvl4pPr>
            <a:lvl5pPr marL="269875" indent="-182563">
              <a:defRPr sz="1400"/>
            </a:lvl5pPr>
          </a:lstStyle>
          <a:p>
            <a:pPr marL="269875" marR="0" lvl="0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Formatvorlagen des Textmasters bearbeiten</a:t>
            </a:r>
          </a:p>
          <a:p>
            <a:pPr marL="269875" marR="0" lvl="1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Zweite Ebene</a:t>
            </a:r>
          </a:p>
          <a:p>
            <a:pPr marL="269875" marR="0" lvl="2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Dritte Ebene</a:t>
            </a:r>
          </a:p>
          <a:p>
            <a:pPr marL="269875" marR="0" lvl="3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Vierte Ebene</a:t>
            </a:r>
          </a:p>
          <a:p>
            <a:pPr marL="269875" marR="0" lvl="4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36" name="Textplatzhalter 27"/>
          <p:cNvSpPr>
            <a:spLocks noGrp="1"/>
          </p:cNvSpPr>
          <p:nvPr>
            <p:ph type="body" sz="quarter" idx="43"/>
          </p:nvPr>
        </p:nvSpPr>
        <p:spPr>
          <a:xfrm>
            <a:off x="435769" y="3114876"/>
            <a:ext cx="4102100" cy="1565414"/>
          </a:xfrm>
        </p:spPr>
        <p:txBody>
          <a:bodyPr/>
          <a:lstStyle>
            <a:lvl1pPr marL="269875" marR="0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 sz="1400"/>
            </a:lvl1pPr>
            <a:lvl2pPr marL="446088" indent="-176213">
              <a:defRPr sz="1200"/>
            </a:lvl2pPr>
            <a:lvl3pPr marL="636588" indent="-198438">
              <a:defRPr sz="1200"/>
            </a:lvl3pPr>
            <a:lvl4pPr marL="804863" indent="-176213">
              <a:defRPr sz="1200"/>
            </a:lvl4pPr>
            <a:lvl5pPr marL="269875" indent="-182563">
              <a:defRPr sz="1400"/>
            </a:lvl5pPr>
          </a:lstStyle>
          <a:p>
            <a:pPr marL="269875" marR="0" lvl="0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Formatvorlagen des Textmasters bearbeiten</a:t>
            </a:r>
          </a:p>
          <a:p>
            <a:pPr marL="269875" marR="0" lvl="1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Zweite Ebene</a:t>
            </a:r>
          </a:p>
          <a:p>
            <a:pPr marL="269875" marR="0" lvl="2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Dritte Ebene</a:t>
            </a:r>
          </a:p>
          <a:p>
            <a:pPr marL="269875" marR="0" lvl="3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Vierte Ebene</a:t>
            </a:r>
          </a:p>
          <a:p>
            <a:pPr marL="269875" marR="0" lvl="4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750911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75/25 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6696870" y="864543"/>
            <a:ext cx="2016000" cy="3816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32"/>
          </p:nvPr>
        </p:nvSpPr>
        <p:spPr bwMode="gray">
          <a:xfrm>
            <a:off x="434181" y="864543"/>
            <a:ext cx="6191249" cy="3816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33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E71D169-7A98-4BE5-933F-E6FE8C57A4D3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4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259744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50/50 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608513" y="863973"/>
            <a:ext cx="4103687" cy="3816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32"/>
          </p:nvPr>
        </p:nvSpPr>
        <p:spPr bwMode="gray">
          <a:xfrm>
            <a:off x="431801" y="863973"/>
            <a:ext cx="4105274" cy="3816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33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E71D169-7A98-4BE5-933F-E6FE8C57A4D3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4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42689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5/75 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2520950" y="863973"/>
            <a:ext cx="6192000" cy="3816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32"/>
          </p:nvPr>
        </p:nvSpPr>
        <p:spPr bwMode="gray">
          <a:xfrm>
            <a:off x="434182" y="863973"/>
            <a:ext cx="2016124" cy="3816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33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E71D169-7A98-4BE5-933F-E6FE8C57A4D3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4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64589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50/50 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610894" y="864393"/>
            <a:ext cx="4103687" cy="3816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4180" y="864393"/>
            <a:ext cx="4105275" cy="3816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49882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Bild + Text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608513" y="863601"/>
            <a:ext cx="4103687" cy="1870073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1801" y="863601"/>
            <a:ext cx="4103687" cy="1870074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33"/>
          </p:nvPr>
        </p:nvSpPr>
        <p:spPr bwMode="gray">
          <a:xfrm>
            <a:off x="431802" y="2806822"/>
            <a:ext cx="4103686" cy="1869953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8" name="Textplatzhalter 3"/>
          <p:cNvSpPr>
            <a:spLocks noGrp="1"/>
          </p:cNvSpPr>
          <p:nvPr>
            <p:ph type="body" sz="quarter" idx="34"/>
          </p:nvPr>
        </p:nvSpPr>
        <p:spPr bwMode="gray">
          <a:xfrm>
            <a:off x="4610894" y="2806822"/>
            <a:ext cx="4102275" cy="1869953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0931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quer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608513" y="863601"/>
            <a:ext cx="4103687" cy="1870073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1801" y="863601"/>
            <a:ext cx="4103687" cy="1870074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36"/>
          </p:nvPr>
        </p:nvSpPr>
        <p:spPr bwMode="gray">
          <a:xfrm>
            <a:off x="4611484" y="2806701"/>
            <a:ext cx="4103687" cy="1870073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3" name="Bildplatzhalter 10"/>
          <p:cNvSpPr>
            <a:spLocks noGrp="1"/>
          </p:cNvSpPr>
          <p:nvPr>
            <p:ph type="pic" sz="quarter" idx="37"/>
          </p:nvPr>
        </p:nvSpPr>
        <p:spPr bwMode="gray">
          <a:xfrm>
            <a:off x="434772" y="2806701"/>
            <a:ext cx="4103687" cy="1870074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112013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Bilder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608513" y="863972"/>
            <a:ext cx="4103687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33"/>
          </p:nvPr>
        </p:nvSpPr>
        <p:spPr bwMode="gray">
          <a:xfrm>
            <a:off x="431801" y="864393"/>
            <a:ext cx="4105273" cy="3816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34"/>
          </p:nvPr>
        </p:nvSpPr>
        <p:spPr bwMode="gray">
          <a:xfrm>
            <a:off x="4610894" y="2806725"/>
            <a:ext cx="4103687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14829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oben + Text unten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4772" y="863972"/>
            <a:ext cx="8279016" cy="3290204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33"/>
          </p:nvPr>
        </p:nvSpPr>
        <p:spPr bwMode="gray">
          <a:xfrm>
            <a:off x="431801" y="4227934"/>
            <a:ext cx="8281987" cy="45042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200"/>
            </a:lvl5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73023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2/3 + Text 1/3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1799" y="863971"/>
            <a:ext cx="5148321" cy="381439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33"/>
          </p:nvPr>
        </p:nvSpPr>
        <p:spPr bwMode="gray">
          <a:xfrm>
            <a:off x="5656961" y="863971"/>
            <a:ext cx="3053827" cy="3816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29049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25/75 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2519363" y="864394"/>
            <a:ext cx="6192837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4182" y="864394"/>
            <a:ext cx="2016124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974274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75/25 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6696075" y="864394"/>
            <a:ext cx="2016125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4181" y="864394"/>
            <a:ext cx="6192838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16686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hoch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3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1801" y="864394"/>
            <a:ext cx="2016124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5" name="Bildplatzhalter 10"/>
          <p:cNvSpPr>
            <a:spLocks noGrp="1"/>
          </p:cNvSpPr>
          <p:nvPr>
            <p:ph type="pic" sz="quarter" idx="33"/>
          </p:nvPr>
        </p:nvSpPr>
        <p:spPr bwMode="gray">
          <a:xfrm>
            <a:off x="2519363" y="864394"/>
            <a:ext cx="2016124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6" name="Bildplatzhalter 10"/>
          <p:cNvSpPr>
            <a:spLocks noGrp="1"/>
          </p:cNvSpPr>
          <p:nvPr>
            <p:ph type="pic" sz="quarter" idx="34"/>
          </p:nvPr>
        </p:nvSpPr>
        <p:spPr bwMode="gray">
          <a:xfrm>
            <a:off x="4608513" y="864394"/>
            <a:ext cx="2016124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8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6696075" y="864394"/>
            <a:ext cx="2016125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87407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+ Text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35"/>
          </p:nvPr>
        </p:nvSpPr>
        <p:spPr bwMode="gray">
          <a:xfrm>
            <a:off x="434183" y="2807494"/>
            <a:ext cx="2015998" cy="1872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11" name="Textplatzhalter 3"/>
          <p:cNvSpPr>
            <a:spLocks noGrp="1"/>
          </p:cNvSpPr>
          <p:nvPr>
            <p:ph type="body" sz="quarter" idx="36"/>
          </p:nvPr>
        </p:nvSpPr>
        <p:spPr bwMode="gray">
          <a:xfrm>
            <a:off x="2520950" y="2807494"/>
            <a:ext cx="2016000" cy="1872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13" name="Textplatzhalter 3"/>
          <p:cNvSpPr>
            <a:spLocks noGrp="1"/>
          </p:cNvSpPr>
          <p:nvPr>
            <p:ph type="body" sz="quarter" idx="37"/>
          </p:nvPr>
        </p:nvSpPr>
        <p:spPr bwMode="gray">
          <a:xfrm>
            <a:off x="4610895" y="2807494"/>
            <a:ext cx="2014536" cy="1872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38"/>
          </p:nvPr>
        </p:nvSpPr>
        <p:spPr bwMode="gray">
          <a:xfrm>
            <a:off x="6696870" y="2807494"/>
            <a:ext cx="2011537" cy="1872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16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4182" y="864395"/>
            <a:ext cx="2016124" cy="1871661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8" name="Bildplatzhalter 10"/>
          <p:cNvSpPr>
            <a:spLocks noGrp="1"/>
          </p:cNvSpPr>
          <p:nvPr>
            <p:ph type="pic" sz="quarter" idx="33"/>
          </p:nvPr>
        </p:nvSpPr>
        <p:spPr bwMode="gray">
          <a:xfrm>
            <a:off x="2521744" y="864395"/>
            <a:ext cx="2016124" cy="1871661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9" name="Bildplatzhalter 10"/>
          <p:cNvSpPr>
            <a:spLocks noGrp="1"/>
          </p:cNvSpPr>
          <p:nvPr>
            <p:ph type="pic" sz="quarter" idx="34"/>
          </p:nvPr>
        </p:nvSpPr>
        <p:spPr bwMode="gray">
          <a:xfrm>
            <a:off x="4610894" y="864395"/>
            <a:ext cx="2016124" cy="1871661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20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6696075" y="864395"/>
            <a:ext cx="2016125" cy="1871661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00468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ilder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5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4182" y="865083"/>
            <a:ext cx="2016124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26" name="Bildplatzhalter 10"/>
          <p:cNvSpPr>
            <a:spLocks noGrp="1"/>
          </p:cNvSpPr>
          <p:nvPr>
            <p:ph type="pic" sz="quarter" idx="33"/>
          </p:nvPr>
        </p:nvSpPr>
        <p:spPr bwMode="gray">
          <a:xfrm>
            <a:off x="2521744" y="865083"/>
            <a:ext cx="2016124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27" name="Bildplatzhalter 10"/>
          <p:cNvSpPr>
            <a:spLocks noGrp="1"/>
          </p:cNvSpPr>
          <p:nvPr>
            <p:ph type="pic" sz="quarter" idx="34"/>
          </p:nvPr>
        </p:nvSpPr>
        <p:spPr bwMode="gray">
          <a:xfrm>
            <a:off x="4610894" y="865083"/>
            <a:ext cx="2016124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28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6696075" y="865083"/>
            <a:ext cx="2016125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29" name="Bildplatzhalter 10"/>
          <p:cNvSpPr>
            <a:spLocks noGrp="1"/>
          </p:cNvSpPr>
          <p:nvPr>
            <p:ph type="pic" sz="quarter" idx="35"/>
          </p:nvPr>
        </p:nvSpPr>
        <p:spPr bwMode="gray">
          <a:xfrm>
            <a:off x="434182" y="2808252"/>
            <a:ext cx="2016124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0" name="Bildplatzhalter 10"/>
          <p:cNvSpPr>
            <a:spLocks noGrp="1"/>
          </p:cNvSpPr>
          <p:nvPr>
            <p:ph type="pic" sz="quarter" idx="36"/>
          </p:nvPr>
        </p:nvSpPr>
        <p:spPr bwMode="gray">
          <a:xfrm>
            <a:off x="2521744" y="2808252"/>
            <a:ext cx="2016124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1" name="Bildplatzhalter 10"/>
          <p:cNvSpPr>
            <a:spLocks noGrp="1"/>
          </p:cNvSpPr>
          <p:nvPr>
            <p:ph type="pic" sz="quarter" idx="37"/>
          </p:nvPr>
        </p:nvSpPr>
        <p:spPr bwMode="gray">
          <a:xfrm>
            <a:off x="4610894" y="2808252"/>
            <a:ext cx="2016124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2" name="Bildplatzhalter 10"/>
          <p:cNvSpPr>
            <a:spLocks noGrp="1"/>
          </p:cNvSpPr>
          <p:nvPr>
            <p:ph type="pic" sz="quarter" idx="38"/>
          </p:nvPr>
        </p:nvSpPr>
        <p:spPr bwMode="gray">
          <a:xfrm>
            <a:off x="6696075" y="2808252"/>
            <a:ext cx="2016125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49834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0F93ECFF-9824-47E4-B741-FA9348AE5497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5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34182" y="864394"/>
            <a:ext cx="8278988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475646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6"/>
          <p:cNvSpPr>
            <a:spLocks noGrp="1"/>
          </p:cNvSpPr>
          <p:nvPr>
            <p:ph type="sldNum" sz="quarter" idx="1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006133C-6716-453B-AA54-8455677CE4FF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5" name="Datumsplatzhalter 14"/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45937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e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2521744" y="864393"/>
            <a:ext cx="6192837" cy="3816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32"/>
          </p:nvPr>
        </p:nvSpPr>
        <p:spPr bwMode="gray">
          <a:xfrm>
            <a:off x="434182" y="1900705"/>
            <a:ext cx="2016123" cy="2776069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33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E71D169-7A98-4BE5-933F-E6FE8C57A4D3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4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35"/>
          </p:nvPr>
        </p:nvSpPr>
        <p:spPr bwMode="gray">
          <a:xfrm>
            <a:off x="434181" y="865084"/>
            <a:ext cx="2016125" cy="936000"/>
          </a:xfrm>
        </p:spPr>
        <p:txBody>
          <a:bodyPr/>
          <a:lstStyle/>
          <a:p>
            <a:r>
              <a:rPr lang="de-DE" smtClean="0"/>
              <a:t>Bild durch Klicken auf Symbol hinzufügen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97354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Geschäftsbereiche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0F93ECFF-9824-47E4-B741-FA9348AE5497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5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31800" y="864393"/>
            <a:ext cx="2700000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8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3222000" y="864393"/>
            <a:ext cx="2700000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9" name="Bildplatzhalter 10"/>
          <p:cNvSpPr>
            <a:spLocks noGrp="1"/>
          </p:cNvSpPr>
          <p:nvPr>
            <p:ph type="pic" sz="quarter" idx="33"/>
          </p:nvPr>
        </p:nvSpPr>
        <p:spPr bwMode="gray">
          <a:xfrm>
            <a:off x="6010449" y="864691"/>
            <a:ext cx="2700000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34"/>
          </p:nvPr>
        </p:nvSpPr>
        <p:spPr bwMode="gray">
          <a:xfrm>
            <a:off x="434181" y="4244806"/>
            <a:ext cx="2700000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17" name="Textplatzhalter 11"/>
          <p:cNvSpPr>
            <a:spLocks noGrp="1"/>
          </p:cNvSpPr>
          <p:nvPr>
            <p:ph type="body" sz="quarter" idx="35"/>
          </p:nvPr>
        </p:nvSpPr>
        <p:spPr bwMode="gray">
          <a:xfrm>
            <a:off x="3222000" y="4244806"/>
            <a:ext cx="2700000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36"/>
          </p:nvPr>
        </p:nvSpPr>
        <p:spPr bwMode="gray">
          <a:xfrm>
            <a:off x="6010450" y="4244806"/>
            <a:ext cx="2700000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31909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Geschäftsbereiche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0F93ECFF-9824-47E4-B741-FA9348AE5497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5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34181" y="864095"/>
            <a:ext cx="2016125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9" name="Bildplatzhalter 10"/>
          <p:cNvSpPr>
            <a:spLocks noGrp="1"/>
          </p:cNvSpPr>
          <p:nvPr>
            <p:ph type="pic" sz="quarter" idx="33"/>
          </p:nvPr>
        </p:nvSpPr>
        <p:spPr bwMode="gray">
          <a:xfrm>
            <a:off x="6698456" y="864393"/>
            <a:ext cx="2014374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34"/>
          </p:nvPr>
        </p:nvSpPr>
        <p:spPr bwMode="gray">
          <a:xfrm>
            <a:off x="434181" y="4244659"/>
            <a:ext cx="2016125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36"/>
          </p:nvPr>
        </p:nvSpPr>
        <p:spPr bwMode="gray">
          <a:xfrm>
            <a:off x="6696074" y="4244659"/>
            <a:ext cx="2014375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13" name="Bildplatzhalter 10"/>
          <p:cNvSpPr>
            <a:spLocks noGrp="1"/>
          </p:cNvSpPr>
          <p:nvPr>
            <p:ph type="pic" sz="quarter" idx="37"/>
          </p:nvPr>
        </p:nvSpPr>
        <p:spPr bwMode="gray">
          <a:xfrm>
            <a:off x="2521744" y="864095"/>
            <a:ext cx="2016125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38"/>
          </p:nvPr>
        </p:nvSpPr>
        <p:spPr bwMode="gray">
          <a:xfrm>
            <a:off x="2521744" y="4244659"/>
            <a:ext cx="2016125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16" name="Bildplatzhalter 10"/>
          <p:cNvSpPr>
            <a:spLocks noGrp="1"/>
          </p:cNvSpPr>
          <p:nvPr>
            <p:ph type="pic" sz="quarter" idx="39"/>
          </p:nvPr>
        </p:nvSpPr>
        <p:spPr bwMode="gray">
          <a:xfrm>
            <a:off x="4608513" y="863324"/>
            <a:ext cx="2016125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40"/>
          </p:nvPr>
        </p:nvSpPr>
        <p:spPr bwMode="gray">
          <a:xfrm>
            <a:off x="4610894" y="4239830"/>
            <a:ext cx="2016125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de-DE" smtClean="0"/>
              <a:t>Project defense</a:t>
            </a:r>
            <a:endParaRPr lang="de-DE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29454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chlussfolie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 bwMode="gray">
          <a:xfrm>
            <a:off x="431799" y="3040063"/>
            <a:ext cx="4103690" cy="359779"/>
          </a:xfrm>
        </p:spPr>
        <p:txBody>
          <a:bodyPr anchor="t"/>
          <a:lstStyle>
            <a:lvl1pPr algn="l">
              <a:defRPr/>
            </a:lvl1pPr>
          </a:lstStyle>
          <a:p>
            <a:pPr lvl="0"/>
            <a:r>
              <a:rPr lang="de-DE" dirty="0" smtClean="0"/>
              <a:t>Herrmann Ultraschall</a:t>
            </a:r>
          </a:p>
        </p:txBody>
      </p:sp>
      <p:sp>
        <p:nvSpPr>
          <p:cNvPr id="21" name="Datumsplatzhalter 20"/>
          <p:cNvSpPr>
            <a:spLocks noGrp="1"/>
          </p:cNvSpPr>
          <p:nvPr>
            <p:ph type="dt" sz="half" idx="11"/>
          </p:nvPr>
        </p:nvSpPr>
        <p:spPr bwMode="gray">
          <a:xfrm>
            <a:off x="1871799" y="5337282"/>
            <a:ext cx="6480625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12"/>
          </p:nvPr>
        </p:nvSpPr>
        <p:spPr bwMode="gray">
          <a:xfrm>
            <a:off x="8352424" y="53372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43" name="Gruppieren 42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44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45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46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47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48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49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0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1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2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3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4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5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6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7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8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9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0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1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2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3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4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5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6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7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8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9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70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71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72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73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pic>
        <p:nvPicPr>
          <p:cNvPr id="41" name="Picture 4" descr="P:\Projekte\Herrmann_Ultraschall\06_TEMPLATE\_INPUT_KUNDE\_bilder_QZ\Herrmann_Bilder_HQs_Gebäude\img_HUG_HQ_0001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0" y="0"/>
            <a:ext cx="9144000" cy="2764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Textplatzhalter 2"/>
          <p:cNvSpPr txBox="1">
            <a:spLocks/>
          </p:cNvSpPr>
          <p:nvPr userDrawn="1"/>
        </p:nvSpPr>
        <p:spPr bwMode="gray">
          <a:xfrm>
            <a:off x="4610870" y="3383514"/>
            <a:ext cx="4103688" cy="156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1pPr>
            <a:lvl2pPr marL="0" indent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itchFamily="2" charset="2"/>
              <a:buNone/>
              <a:defRPr sz="12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2pPr>
            <a:lvl3pPr marL="0" indent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itchFamily="2" charset="2"/>
              <a:buNone/>
              <a:defRPr sz="12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3pPr>
            <a:lvl4pPr marL="0" indent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  <a:defRPr sz="12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4pPr>
            <a:lvl5pPr marL="0" indent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5pPr>
            <a:lvl6pPr marL="0" indent="0" algn="l" defTabSz="91426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6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26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26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de-DE" b="1" dirty="0"/>
              <a:t>North </a:t>
            </a:r>
            <a:r>
              <a:rPr lang="de-DE" b="1" dirty="0" err="1"/>
              <a:t>America</a:t>
            </a:r>
            <a:r>
              <a:rPr lang="de-DE" b="1" dirty="0"/>
              <a:t> Headquarters</a:t>
            </a:r>
          </a:p>
          <a:p>
            <a:pPr defTabSz="914400"/>
            <a:r>
              <a:rPr lang="de-DE" dirty="0"/>
              <a:t>Herrmann </a:t>
            </a:r>
            <a:r>
              <a:rPr lang="de-DE" dirty="0" err="1"/>
              <a:t>Ultrasonics</a:t>
            </a:r>
            <a:r>
              <a:rPr lang="de-DE" dirty="0"/>
              <a:t>, </a:t>
            </a:r>
            <a:r>
              <a:rPr lang="de-DE" dirty="0" smtClean="0"/>
              <a:t>Inc. Bartlett</a:t>
            </a:r>
            <a:r>
              <a:rPr lang="de-DE" dirty="0"/>
              <a:t>, IL, </a:t>
            </a:r>
            <a:r>
              <a:rPr lang="de-DE" dirty="0" smtClean="0"/>
              <a:t>USA</a:t>
            </a:r>
          </a:p>
          <a:p>
            <a:pPr defTabSz="914400"/>
            <a:endParaRPr lang="de-DE" dirty="0"/>
          </a:p>
          <a:p>
            <a:pPr defTabSz="914400"/>
            <a:r>
              <a:rPr lang="de-DE" b="1" dirty="0"/>
              <a:t>China Headquarters</a:t>
            </a:r>
          </a:p>
          <a:p>
            <a:pPr defTabSz="914400"/>
            <a:r>
              <a:rPr lang="de-DE" dirty="0"/>
              <a:t>Herrmann </a:t>
            </a:r>
            <a:r>
              <a:rPr lang="de-DE" dirty="0" err="1"/>
              <a:t>Ultrasonics</a:t>
            </a:r>
            <a:r>
              <a:rPr lang="de-DE" dirty="0"/>
              <a:t> Co. </a:t>
            </a:r>
            <a:r>
              <a:rPr lang="de-DE" dirty="0" smtClean="0"/>
              <a:t>Ltd</a:t>
            </a:r>
            <a:r>
              <a:rPr lang="de-DE" dirty="0"/>
              <a:t>. </a:t>
            </a:r>
            <a:r>
              <a:rPr lang="de-DE" dirty="0" err="1"/>
              <a:t>Taicang</a:t>
            </a:r>
            <a:r>
              <a:rPr lang="de-DE" dirty="0"/>
              <a:t>, </a:t>
            </a:r>
            <a:r>
              <a:rPr lang="de-DE" dirty="0" err="1"/>
              <a:t>Jiangsu</a:t>
            </a:r>
            <a:r>
              <a:rPr lang="de-DE" dirty="0"/>
              <a:t> </a:t>
            </a:r>
            <a:r>
              <a:rPr lang="de-DE" dirty="0" err="1"/>
              <a:t>Province</a:t>
            </a:r>
            <a:r>
              <a:rPr lang="de-DE" dirty="0"/>
              <a:t>, </a:t>
            </a:r>
            <a:r>
              <a:rPr lang="de-DE" dirty="0" smtClean="0"/>
              <a:t>China</a:t>
            </a:r>
          </a:p>
          <a:p>
            <a:pPr defTabSz="914400"/>
            <a:endParaRPr lang="de-DE" dirty="0"/>
          </a:p>
          <a:p>
            <a:pPr defTabSz="914400"/>
            <a:r>
              <a:rPr lang="de-DE" b="1" dirty="0"/>
              <a:t>Japan Headquarters</a:t>
            </a:r>
          </a:p>
          <a:p>
            <a:pPr defTabSz="914400"/>
            <a:r>
              <a:rPr lang="de-DE" dirty="0"/>
              <a:t>Herrmann </a:t>
            </a:r>
            <a:r>
              <a:rPr lang="de-DE" dirty="0" err="1"/>
              <a:t>Ultrasonic</a:t>
            </a:r>
            <a:r>
              <a:rPr lang="de-DE" dirty="0"/>
              <a:t> Japan Co. </a:t>
            </a:r>
            <a:r>
              <a:rPr lang="de-DE" dirty="0" smtClean="0"/>
              <a:t>Ltd. </a:t>
            </a:r>
            <a:r>
              <a:rPr lang="de-DE" dirty="0" err="1" smtClean="0"/>
              <a:t>Kashiwa</a:t>
            </a:r>
            <a:r>
              <a:rPr lang="de-DE" dirty="0" smtClean="0"/>
              <a:t> </a:t>
            </a:r>
            <a:r>
              <a:rPr lang="de-DE" dirty="0"/>
              <a:t>City, Chiba, Japan</a:t>
            </a:r>
          </a:p>
        </p:txBody>
      </p:sp>
      <p:sp>
        <p:nvSpPr>
          <p:cNvPr id="39" name="Textfeld 38"/>
          <p:cNvSpPr txBox="1"/>
          <p:nvPr userDrawn="1"/>
        </p:nvSpPr>
        <p:spPr bwMode="gray">
          <a:xfrm>
            <a:off x="429441" y="3399842"/>
            <a:ext cx="4107633" cy="162018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1200" b="1" dirty="0" smtClean="0">
                <a:latin typeface="+mn-lt"/>
              </a:rPr>
              <a:t>Global Headquarters</a:t>
            </a:r>
          </a:p>
          <a:p>
            <a:r>
              <a:rPr lang="de-DE" sz="1200" b="1" dirty="0" smtClean="0">
                <a:latin typeface="+mn-lt"/>
              </a:rPr>
              <a:t>Herrmann Ultraschalltechnik GmbH &amp; Co. KG</a:t>
            </a:r>
          </a:p>
          <a:p>
            <a:r>
              <a:rPr lang="de-DE" sz="1200" dirty="0" err="1" smtClean="0">
                <a:latin typeface="+mn-lt"/>
              </a:rPr>
              <a:t>Descostraße</a:t>
            </a:r>
            <a:r>
              <a:rPr lang="de-DE" sz="1200" dirty="0" smtClean="0">
                <a:latin typeface="+mn-lt"/>
              </a:rPr>
              <a:t> 3–11 · 76307 Karlsbad, Germany</a:t>
            </a:r>
          </a:p>
          <a:p>
            <a:endParaRPr lang="de-DE" sz="1200" dirty="0" smtClean="0">
              <a:latin typeface="+mn-lt"/>
            </a:endParaRPr>
          </a:p>
          <a:p>
            <a:endParaRPr lang="de-DE" sz="1200" dirty="0" smtClean="0">
              <a:latin typeface="+mn-lt"/>
            </a:endParaRPr>
          </a:p>
          <a:p>
            <a:r>
              <a:rPr lang="de-DE" sz="1200" dirty="0" smtClean="0">
                <a:latin typeface="+mn-lt"/>
              </a:rPr>
              <a:t/>
            </a:r>
            <a:br>
              <a:rPr lang="de-DE" sz="1200" dirty="0" smtClean="0">
                <a:latin typeface="+mn-lt"/>
              </a:rPr>
            </a:br>
            <a:endParaRPr lang="de-DE" sz="1200" dirty="0" smtClean="0">
              <a:latin typeface="+mn-lt"/>
            </a:endParaRPr>
          </a:p>
          <a:p>
            <a:r>
              <a:rPr lang="de-DE" sz="1200" b="1" dirty="0" smtClean="0">
                <a:solidFill>
                  <a:srgbClr val="FF0000"/>
                </a:solidFill>
                <a:latin typeface="+mn-lt"/>
              </a:rPr>
              <a:t>www.herrmannultraschall.com</a:t>
            </a:r>
          </a:p>
          <a:p>
            <a:pPr marL="180000" indent="-180000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§"/>
            </a:pPr>
            <a:endParaRPr lang="de-DE" sz="1200" dirty="0" err="1" smtClean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95482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9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2271" y="863249"/>
            <a:ext cx="8280901" cy="38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</a:t>
            </a:r>
            <a:r>
              <a:rPr lang="de-DE" dirty="0" smtClean="0"/>
              <a:t>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8352424" y="4852460"/>
            <a:ext cx="358364" cy="13576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80000"/>
              </a:lnSpc>
              <a:defRPr sz="800" b="1">
                <a:solidFill>
                  <a:schemeClr val="tx1"/>
                </a:solidFill>
                <a:latin typeface="Arial Narrow" pitchFamily="34" charset="0"/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030" name="Titelplatzhalter 6"/>
          <p:cNvSpPr>
            <a:spLocks noGrp="1"/>
          </p:cNvSpPr>
          <p:nvPr>
            <p:ph type="title"/>
          </p:nvPr>
        </p:nvSpPr>
        <p:spPr bwMode="gray">
          <a:xfrm>
            <a:off x="431799" y="531801"/>
            <a:ext cx="6485113" cy="23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Folientitel durch Klicken hinzufügen</a:t>
            </a:r>
            <a:endParaRPr lang="en-US" dirty="0"/>
          </a:p>
        </p:txBody>
      </p:sp>
      <p:sp>
        <p:nvSpPr>
          <p:cNvPr id="1031" name="Textfeld 12"/>
          <p:cNvSpPr txBox="1">
            <a:spLocks noChangeArrowheads="1"/>
          </p:cNvSpPr>
          <p:nvPr/>
        </p:nvSpPr>
        <p:spPr bwMode="gray">
          <a:xfrm>
            <a:off x="431799" y="4850709"/>
            <a:ext cx="1440000" cy="135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de-DE" sz="800" dirty="0" smtClean="0">
                <a:solidFill>
                  <a:schemeClr val="tx1"/>
                </a:solidFill>
                <a:cs typeface="Arial" pitchFamily="34" charset="0"/>
              </a:rPr>
              <a:t>©</a:t>
            </a:r>
            <a:r>
              <a:rPr lang="de-DE" sz="800" baseline="0" dirty="0">
                <a:solidFill>
                  <a:schemeClr val="tx1"/>
                </a:solidFill>
                <a:latin typeface="Arial Narrow" pitchFamily="34" charset="0"/>
                <a:cs typeface="+mn-cs"/>
              </a:rPr>
              <a:t> </a:t>
            </a:r>
            <a:r>
              <a:rPr lang="de-DE" sz="800" dirty="0" smtClean="0">
                <a:solidFill>
                  <a:schemeClr val="tx1"/>
                </a:solidFill>
                <a:latin typeface="Arial Narrow" pitchFamily="34" charset="0"/>
              </a:rPr>
              <a:t>Copyright </a:t>
            </a:r>
            <a:r>
              <a:rPr lang="de-DE" sz="800" b="1" dirty="0">
                <a:solidFill>
                  <a:schemeClr val="tx1"/>
                </a:solidFill>
                <a:latin typeface="Arial Narrow" pitchFamily="34" charset="0"/>
              </a:rPr>
              <a:t>Herrmann Ultraschall  </a:t>
            </a:r>
            <a:r>
              <a:rPr lang="de-DE" sz="800" b="0" dirty="0">
                <a:solidFill>
                  <a:schemeClr val="tx1"/>
                </a:solidFill>
                <a:latin typeface="Arial Narrow" pitchFamily="34" charset="0"/>
              </a:rPr>
              <a:t>I</a:t>
            </a:r>
            <a:endParaRPr lang="en-US" sz="800" b="0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15" name="Datumsplatzhalter 14"/>
          <p:cNvSpPr>
            <a:spLocks noGrp="1"/>
          </p:cNvSpPr>
          <p:nvPr>
            <p:ph type="dt" sz="half" idx="2"/>
          </p:nvPr>
        </p:nvSpPr>
        <p:spPr bwMode="gray">
          <a:xfrm>
            <a:off x="1871799" y="4850710"/>
            <a:ext cx="6480625" cy="135765"/>
          </a:xfrm>
          <a:prstGeom prst="rect">
            <a:avLst/>
          </a:prstGeo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80000"/>
              </a:lnSpc>
              <a:defRPr sz="800">
                <a:solidFill>
                  <a:schemeClr val="accent2"/>
                </a:solidFill>
                <a:latin typeface="Arial Narrow" pitchFamily="34" charset="0"/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grpSp>
        <p:nvGrpSpPr>
          <p:cNvPr id="163" name="Group 4"/>
          <p:cNvGrpSpPr>
            <a:grpSpLocks noChangeAspect="1"/>
          </p:cNvGrpSpPr>
          <p:nvPr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64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4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5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6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7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8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9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0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1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2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3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4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5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6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7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8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9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0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1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2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3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4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5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6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7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cxnSp>
        <p:nvCxnSpPr>
          <p:cNvPr id="244" name="Gerader Verbinder 78">
            <a:extLst>
              <a:ext uri="{FF2B5EF4-FFF2-40B4-BE49-F238E27FC236}">
                <a16:creationId xmlns:a16="http://schemas.microsoft.com/office/drawing/2014/main" id="{2CD3E0AF-C8FB-4FC3-A3C0-8855EA7C3E55}"/>
              </a:ext>
            </a:extLst>
          </p:cNvPr>
          <p:cNvCxnSpPr>
            <a:cxnSpLocks/>
          </p:cNvCxnSpPr>
          <p:nvPr/>
        </p:nvCxnSpPr>
        <p:spPr bwMode="gray">
          <a:xfrm>
            <a:off x="431800" y="769878"/>
            <a:ext cx="6120200" cy="0"/>
          </a:xfrm>
          <a:prstGeom prst="line">
            <a:avLst/>
          </a:prstGeom>
          <a:ln w="6350">
            <a:gradFill flip="none" rotWithShape="1">
              <a:gsLst>
                <a:gs pos="50000">
                  <a:schemeClr val="tx2"/>
                </a:gs>
                <a:gs pos="90000">
                  <a:schemeClr val="tx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pieren 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0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0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0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0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sp>
        <p:nvSpPr>
          <p:cNvPr id="7" name="Fußzeilenplatzhalter 6"/>
          <p:cNvSpPr>
            <a:spLocks noGrp="1"/>
          </p:cNvSpPr>
          <p:nvPr>
            <p:ph type="ftr" sz="quarter" idx="3"/>
          </p:nvPr>
        </p:nvSpPr>
        <p:spPr>
          <a:xfrm>
            <a:off x="434772" y="236541"/>
            <a:ext cx="5793412" cy="270190"/>
          </a:xfrm>
          <a:prstGeom prst="rect">
            <a:avLst/>
          </a:prstGeom>
        </p:spPr>
        <p:txBody>
          <a:bodyPr vert="horz" lIns="0" tIns="0" rIns="0" bIns="108000" rtlCol="0" anchor="ctr"/>
          <a:lstStyle>
            <a:lvl1pPr algn="l">
              <a:defRPr sz="1800" b="1">
                <a:solidFill>
                  <a:schemeClr val="accent2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de-DE" smtClean="0"/>
              <a:t>Project defense</a:t>
            </a:r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477" r:id="rId1"/>
    <p:sldLayoutId id="2147489567" r:id="rId2"/>
    <p:sldLayoutId id="2147489574" r:id="rId3"/>
    <p:sldLayoutId id="2147489569" r:id="rId4"/>
    <p:sldLayoutId id="2147489568" r:id="rId5"/>
    <p:sldLayoutId id="2147489577" r:id="rId6"/>
    <p:sldLayoutId id="2147489576" r:id="rId7"/>
    <p:sldLayoutId id="2147489564" r:id="rId8"/>
    <p:sldLayoutId id="2147489575" r:id="rId9"/>
    <p:sldLayoutId id="2147489570" r:id="rId10"/>
    <p:sldLayoutId id="2147489571" r:id="rId11"/>
    <p:sldLayoutId id="2147489572" r:id="rId12"/>
    <p:sldLayoutId id="2147489578" r:id="rId13"/>
    <p:sldLayoutId id="2147489565" r:id="rId14"/>
    <p:sldLayoutId id="2147489504" r:id="rId15"/>
    <p:sldLayoutId id="2147489505" r:id="rId16"/>
    <p:sldLayoutId id="2147489579" r:id="rId17"/>
    <p:sldLayoutId id="2147489506" r:id="rId18"/>
    <p:sldLayoutId id="2147489507" r:id="rId19"/>
    <p:sldLayoutId id="2147489508" r:id="rId20"/>
    <p:sldLayoutId id="2147489510" r:id="rId21"/>
    <p:sldLayoutId id="2147489511" r:id="rId22"/>
    <p:sldLayoutId id="2147489573" r:id="rId23"/>
    <p:sldLayoutId id="2147489512" r:id="rId24"/>
    <p:sldLayoutId id="2147489581" r:id="rId25"/>
    <p:sldLayoutId id="2147489580" r:id="rId26"/>
    <p:sldLayoutId id="2147489513" r:id="rId27"/>
    <p:sldLayoutId id="2147489514" r:id="rId28"/>
    <p:sldLayoutId id="2147489515" r:id="rId29"/>
    <p:sldLayoutId id="2147489516" r:id="rId30"/>
    <p:sldLayoutId id="2147489517" r:id="rId31"/>
    <p:sldLayoutId id="2147489518" r:id="rId32"/>
    <p:sldLayoutId id="2147489520" r:id="rId33"/>
    <p:sldLayoutId id="2147489509" r:id="rId34"/>
    <p:sldLayoutId id="2147489519" r:id="rId35"/>
    <p:sldLayoutId id="2147489521" r:id="rId36"/>
    <p:sldLayoutId id="2147489561" r:id="rId37"/>
  </p:sldLayoutIdLst>
  <p:transition>
    <p:fade/>
  </p:transition>
  <p:timing>
    <p:tnLst>
      <p:par>
        <p:cTn id="1" dur="indefinite" restart="never" nodeType="tmRoot"/>
      </p:par>
    </p:tnLst>
  </p:timing>
  <p:hf hdr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ts val="300"/>
        </a:spcAft>
        <a:defRPr lang="en-US" sz="1800" b="1" kern="1200" dirty="0">
          <a:solidFill>
            <a:schemeClr val="tx1"/>
          </a:solidFill>
          <a:latin typeface="Arial Narrow" pitchFamily="34" charset="0"/>
          <a:ea typeface="ＭＳ Ｐゴシック" pitchFamily="34" charset="-128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Arial Narrow" pitchFamily="34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Arial Narrow" pitchFamily="34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Arial Narrow" pitchFamily="34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Arial Narrow" pitchFamily="34" charset="0"/>
          <a:ea typeface="ＭＳ Ｐゴシック" charset="0"/>
          <a:cs typeface="ＭＳ Ｐゴシック" charset="0"/>
        </a:defRPr>
      </a:lvl5pPr>
      <a:lvl6pPr marL="45713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Calibri" pitchFamily="-84" charset="0"/>
        </a:defRPr>
      </a:lvl6pPr>
      <a:lvl7pPr marL="91426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Calibri" pitchFamily="-84" charset="0"/>
        </a:defRPr>
      </a:lvl7pPr>
      <a:lvl8pPr marL="137139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Calibri" pitchFamily="-84" charset="0"/>
        </a:defRPr>
      </a:lvl8pPr>
      <a:lvl9pPr marL="182852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Calibri" pitchFamily="-84" charset="0"/>
        </a:defRPr>
      </a:lvl9pPr>
    </p:titleStyle>
    <p:bodyStyle>
      <a:lvl1pPr marL="0" indent="0" algn="l" rtl="0" eaLnBrk="1" fontAlgn="base" hangingPunct="1"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ＭＳ Ｐゴシック" charset="0"/>
          <a:cs typeface="Arial" pitchFamily="34" charset="0"/>
        </a:defRPr>
      </a:lvl1pPr>
      <a:lvl2pPr marL="180000" indent="-180000" algn="l" rtl="0" eaLnBrk="1" fontAlgn="base" hangingPunct="1">
        <a:spcBef>
          <a:spcPts val="300"/>
        </a:spcBef>
        <a:spcAft>
          <a:spcPts val="300"/>
        </a:spcAft>
        <a:buClr>
          <a:schemeClr val="accent2"/>
        </a:buClr>
        <a:buSzPct val="90000"/>
        <a:buFont typeface="Wingdings" pitchFamily="2" charset="2"/>
        <a:buChar char="§"/>
        <a:defRPr sz="1600" b="0" kern="1200">
          <a:solidFill>
            <a:schemeClr val="tx1"/>
          </a:solidFill>
          <a:latin typeface="+mn-lt"/>
          <a:ea typeface="ＭＳ Ｐゴシック" charset="0"/>
          <a:cs typeface="Arial" pitchFamily="34" charset="0"/>
        </a:defRPr>
      </a:lvl2pPr>
      <a:lvl3pPr marL="358775" indent="-180000" algn="l" rtl="0" eaLnBrk="1" fontAlgn="base" hangingPunct="1">
        <a:spcBef>
          <a:spcPts val="300"/>
        </a:spcBef>
        <a:spcAft>
          <a:spcPts val="300"/>
        </a:spcAft>
        <a:buClr>
          <a:schemeClr val="accent2"/>
        </a:buClr>
        <a:buSzPct val="90000"/>
        <a:buFont typeface="Wingdings" pitchFamily="2" charset="2"/>
        <a:buChar char="§"/>
        <a:defRPr sz="1400" b="0" kern="1200">
          <a:solidFill>
            <a:schemeClr val="tx1"/>
          </a:solidFill>
          <a:latin typeface="+mn-lt"/>
          <a:ea typeface="ＭＳ Ｐゴシック" charset="0"/>
          <a:cs typeface="Arial" pitchFamily="34" charset="0"/>
        </a:defRPr>
      </a:lvl3pPr>
      <a:lvl4pPr marL="541338" indent="-180000" algn="l" rtl="0" eaLnBrk="1" fontAlgn="base" hangingPunct="1">
        <a:spcBef>
          <a:spcPts val="300"/>
        </a:spcBef>
        <a:spcAft>
          <a:spcPts val="300"/>
        </a:spcAft>
        <a:buClr>
          <a:schemeClr val="accent2"/>
        </a:buClr>
        <a:buSzPct val="90000"/>
        <a:buFont typeface="Wingdings" panose="05000000000000000000" pitchFamily="2" charset="2"/>
        <a:buChar char="§"/>
        <a:defRPr sz="1400" b="0" kern="1200">
          <a:solidFill>
            <a:schemeClr val="tx1"/>
          </a:solidFill>
          <a:latin typeface="+mn-lt"/>
          <a:ea typeface="ＭＳ Ｐゴシック" charset="0"/>
          <a:cs typeface="Arial" pitchFamily="34" charset="0"/>
        </a:defRPr>
      </a:lvl4pPr>
      <a:lvl5pPr marL="270000" indent="-270000" algn="l" rtl="0" eaLnBrk="1" fontAlgn="base" hangingPunct="1">
        <a:spcBef>
          <a:spcPts val="300"/>
        </a:spcBef>
        <a:spcAft>
          <a:spcPts val="300"/>
        </a:spcAft>
        <a:buClr>
          <a:schemeClr val="accent2"/>
        </a:buClr>
        <a:buFont typeface="+mj-lt"/>
        <a:buAutoNum type="arabicPeriod"/>
        <a:defRPr sz="1600" b="0" kern="1200">
          <a:solidFill>
            <a:schemeClr val="tx1"/>
          </a:solidFill>
          <a:latin typeface="+mn-lt"/>
          <a:ea typeface="ＭＳ Ｐゴシック" charset="0"/>
          <a:cs typeface="Arial" pitchFamily="34" charset="0"/>
        </a:defRPr>
      </a:lvl5pPr>
      <a:lvl6pPr marL="449263" indent="-180000" algn="l" defTabSz="914260" rtl="0" eaLnBrk="1" latinLnBrk="0" hangingPunct="1">
        <a:spcBef>
          <a:spcPts val="300"/>
        </a:spcBef>
        <a:spcAft>
          <a:spcPts val="300"/>
        </a:spcAft>
        <a:buClr>
          <a:schemeClr val="accent2"/>
        </a:buClr>
        <a:buFont typeface="+mj-lt"/>
        <a:buAutoNum type="alphaLcPeriod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260" rtl="0" eaLnBrk="1" latinLnBrk="0" hangingPunct="1">
        <a:spcBef>
          <a:spcPts val="300"/>
        </a:spcBef>
        <a:spcAft>
          <a:spcPts val="300"/>
        </a:spcAft>
        <a:buClr>
          <a:schemeClr val="accent4"/>
        </a:buClr>
        <a:buFont typeface="Wingdings" pitchFamily="2" charset="2"/>
        <a:buNone/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88900" indent="0" algn="l" defTabSz="914260" rtl="0" eaLnBrk="1" latinLnBrk="0" hangingPunct="1">
        <a:spcBef>
          <a:spcPts val="0"/>
        </a:spcBef>
        <a:spcAft>
          <a:spcPts val="1300"/>
        </a:spcAft>
        <a:buClr>
          <a:schemeClr val="accent2"/>
        </a:buClr>
        <a:buSzPct val="90000"/>
        <a:buFontTx/>
        <a:buNone/>
        <a:defRPr sz="1400" b="0" kern="1200">
          <a:solidFill>
            <a:srgbClr val="333333"/>
          </a:solidFill>
          <a:latin typeface="+mn-lt"/>
          <a:ea typeface="+mn-ea"/>
          <a:cs typeface="+mn-cs"/>
        </a:defRPr>
      </a:lvl8pPr>
      <a:lvl9pPr marL="0" indent="0" algn="ctr" defTabSz="914260" rtl="0" eaLnBrk="1" latinLnBrk="0" hangingPunct="1">
        <a:spcBef>
          <a:spcPts val="0"/>
        </a:spcBef>
        <a:spcAft>
          <a:spcPts val="1300"/>
        </a:spcAft>
        <a:buFont typeface="Arial" pitchFamily="34" charset="0"/>
        <a:buNone/>
        <a:defRPr lang="de-DE" sz="1400" b="0" kern="1200" dirty="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2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5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8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1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4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745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2858" userDrawn="1">
          <p15:clr>
            <a:srgbClr val="F26B43"/>
          </p15:clr>
        </p15:guide>
        <p15:guide id="4" pos="2903" userDrawn="1">
          <p15:clr>
            <a:srgbClr val="F26B43"/>
          </p15:clr>
        </p15:guide>
        <p15:guide id="5" pos="4173" userDrawn="1">
          <p15:clr>
            <a:srgbClr val="F26B43"/>
          </p15:clr>
        </p15:guide>
        <p15:guide id="6" pos="4217" userDrawn="1">
          <p15:clr>
            <a:srgbClr val="F26B43"/>
          </p15:clr>
        </p15:guide>
        <p15:guide id="7" pos="5489" userDrawn="1">
          <p15:clr>
            <a:srgbClr val="F26B43"/>
          </p15:clr>
        </p15:guide>
        <p15:guide id="8" pos="1542" userDrawn="1">
          <p15:clr>
            <a:srgbClr val="F26B43"/>
          </p15:clr>
        </p15:guide>
        <p15:guide id="9" pos="1587" userDrawn="1">
          <p15:clr>
            <a:srgbClr val="F26B43"/>
          </p15:clr>
        </p15:guide>
        <p15:guide id="10" pos="272" userDrawn="1">
          <p15:clr>
            <a:srgbClr val="F26B43"/>
          </p15:clr>
        </p15:guide>
        <p15:guide id="11" orient="horz" pos="543" userDrawn="1">
          <p15:clr>
            <a:srgbClr val="F26B43"/>
          </p15:clr>
        </p15:guide>
        <p15:guide id="12" orient="horz" pos="2947" userDrawn="1">
          <p15:clr>
            <a:srgbClr val="F26B43"/>
          </p15:clr>
        </p15:guide>
        <p15:guide id="13" orient="horz" pos="1767" userDrawn="1">
          <p15:clr>
            <a:srgbClr val="F26B43"/>
          </p15:clr>
        </p15:guide>
        <p15:guide id="14" orient="horz" pos="1722" userDrawn="1">
          <p15:clr>
            <a:srgbClr val="F26B43"/>
          </p15:clr>
        </p15:guide>
        <p15:guide id="15" orient="horz" pos="485" userDrawn="1">
          <p15:clr>
            <a:srgbClr val="F26B43"/>
          </p15:clr>
        </p15:guide>
        <p15:guide id="16" orient="horz" pos="149" userDrawn="1">
          <p15:clr>
            <a:srgbClr val="F26B43"/>
          </p15:clr>
        </p15:guide>
        <p15:guide id="17" orient="horz" pos="305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4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0.png"/><Relationship Id="rId5" Type="http://schemas.openxmlformats.org/officeDocument/2006/relationships/image" Target="../media/image220.png"/><Relationship Id="rId4" Type="http://schemas.openxmlformats.org/officeDocument/2006/relationships/image" Target="../media/image25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8.png"/><Relationship Id="rId5" Type="http://schemas.openxmlformats.org/officeDocument/2006/relationships/image" Target="../media/image13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de-DE" dirty="0" smtClean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DB4A530B-3EE4-4998-A998-EBC0EA00952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de-DE" dirty="0" err="1" smtClean="0"/>
              <a:t>Ultrasonic</a:t>
            </a:r>
            <a:r>
              <a:rPr lang="de-DE" dirty="0" smtClean="0"/>
              <a:t> </a:t>
            </a:r>
            <a:r>
              <a:rPr lang="de-DE" dirty="0" err="1" smtClean="0"/>
              <a:t>welding</a:t>
            </a:r>
            <a:endParaRPr lang="de-DE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Francois Brouet – sep24_continuous_ds</a:t>
            </a:r>
            <a:endParaRPr lang="de-DE" dirty="0"/>
          </a:p>
        </p:txBody>
      </p:sp>
      <p:pic>
        <p:nvPicPr>
          <p:cNvPr id="6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004048" y="123478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942121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06133C-6716-453B-AA54-8455677CE4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hemenbereich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8" name="Agenda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 err="1" smtClean="0"/>
              <a:t>Presentation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 smtClean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grpSp>
        <p:nvGrpSpPr>
          <p:cNvPr id="108" name="Thema 07"/>
          <p:cNvGrpSpPr/>
          <p:nvPr/>
        </p:nvGrpSpPr>
        <p:grpSpPr>
          <a:xfrm>
            <a:off x="434978" y="3196249"/>
            <a:ext cx="8278195" cy="252000"/>
            <a:chOff x="434978" y="3196249"/>
            <a:chExt cx="8278195" cy="252000"/>
          </a:xfrm>
        </p:grpSpPr>
        <p:sp>
          <p:nvSpPr>
            <p:cNvPr id="91" name="Thema 07"/>
            <p:cNvSpPr txBox="1">
              <a:spLocks/>
            </p:cNvSpPr>
            <p:nvPr/>
          </p:nvSpPr>
          <p:spPr bwMode="gray">
            <a:xfrm>
              <a:off x="758754" y="3196249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 smtClean="0">
                  <a:latin typeface="Arial Narrow" pitchFamily="34" charset="0"/>
                  <a:cs typeface="Arial" pitchFamily="34" charset="0"/>
                </a:rPr>
                <a:t>Next </a:t>
              </a:r>
              <a:r>
                <a:rPr lang="de-DE" sz="1400" dirty="0" err="1" smtClean="0">
                  <a:latin typeface="Arial Narrow" pitchFamily="34" charset="0"/>
                  <a:cs typeface="Arial" pitchFamily="34" charset="0"/>
                </a:rPr>
                <a:t>steps</a:t>
              </a:r>
              <a:r>
                <a:rPr lang="de-DE" sz="1400" dirty="0" smtClean="0">
                  <a:latin typeface="Arial Narrow" pitchFamily="34" charset="0"/>
                  <a:cs typeface="Arial" pitchFamily="34" charset="0"/>
                </a:rPr>
                <a:t> / </a:t>
              </a:r>
              <a:r>
                <a:rPr lang="de-DE" sz="1400" dirty="0" err="1" smtClean="0">
                  <a:latin typeface="Arial Narrow" pitchFamily="34" charset="0"/>
                  <a:cs typeface="Arial" pitchFamily="34" charset="0"/>
                </a:rPr>
                <a:t>Conclusion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92" name="07"/>
            <p:cNvSpPr txBox="1">
              <a:spLocks/>
            </p:cNvSpPr>
            <p:nvPr/>
          </p:nvSpPr>
          <p:spPr bwMode="gray">
            <a:xfrm>
              <a:off x="434978" y="3196249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 smtClean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07</a:t>
              </a:r>
              <a:endParaRPr lang="en-US" sz="1400" dirty="0">
                <a:solidFill>
                  <a:srgbClr val="FF0000"/>
                </a:solidFill>
                <a:latin typeface="Arial Narrow" pitchFamily="34" charset="0"/>
                <a:cs typeface="Arial" pitchFamily="34" charset="0"/>
              </a:endParaRPr>
            </a:p>
          </p:txBody>
        </p:sp>
      </p:grpSp>
      <p:grpSp>
        <p:nvGrpSpPr>
          <p:cNvPr id="107" name="Thema 06"/>
          <p:cNvGrpSpPr/>
          <p:nvPr/>
        </p:nvGrpSpPr>
        <p:grpSpPr>
          <a:xfrm>
            <a:off x="434978" y="2807766"/>
            <a:ext cx="8278195" cy="252000"/>
            <a:chOff x="434978" y="2807766"/>
            <a:chExt cx="8278195" cy="252000"/>
          </a:xfrm>
        </p:grpSpPr>
        <p:sp>
          <p:nvSpPr>
            <p:cNvPr id="89" name="Thema 06"/>
            <p:cNvSpPr txBox="1">
              <a:spLocks/>
            </p:cNvSpPr>
            <p:nvPr/>
          </p:nvSpPr>
          <p:spPr bwMode="gray">
            <a:xfrm>
              <a:off x="758754" y="2807766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 err="1" smtClean="0">
                  <a:latin typeface="Arial Narrow" pitchFamily="34" charset="0"/>
                  <a:cs typeface="Arial" pitchFamily="34" charset="0"/>
                </a:rPr>
                <a:t>Modelling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90" name="06"/>
            <p:cNvSpPr txBox="1">
              <a:spLocks/>
            </p:cNvSpPr>
            <p:nvPr/>
          </p:nvSpPr>
          <p:spPr bwMode="gray">
            <a:xfrm>
              <a:off x="434978" y="2807766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 smtClean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06</a:t>
              </a:r>
              <a:endParaRPr lang="en-US" sz="1400" dirty="0">
                <a:solidFill>
                  <a:srgbClr val="FF0000"/>
                </a:solidFill>
                <a:latin typeface="Arial Narrow" pitchFamily="34" charset="0"/>
                <a:cs typeface="Arial" pitchFamily="34" charset="0"/>
              </a:endParaRPr>
            </a:p>
          </p:txBody>
        </p:sp>
      </p:grpSp>
      <p:grpSp>
        <p:nvGrpSpPr>
          <p:cNvPr id="106" name="Thema 05"/>
          <p:cNvGrpSpPr/>
          <p:nvPr/>
        </p:nvGrpSpPr>
        <p:grpSpPr>
          <a:xfrm>
            <a:off x="434978" y="2419283"/>
            <a:ext cx="8278195" cy="252000"/>
            <a:chOff x="434978" y="2419283"/>
            <a:chExt cx="8278195" cy="252000"/>
          </a:xfrm>
        </p:grpSpPr>
        <p:sp>
          <p:nvSpPr>
            <p:cNvPr id="87" name="Thema 05"/>
            <p:cNvSpPr txBox="1">
              <a:spLocks/>
            </p:cNvSpPr>
            <p:nvPr/>
          </p:nvSpPr>
          <p:spPr bwMode="gray">
            <a:xfrm>
              <a:off x="758754" y="2419283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 err="1" smtClean="0">
                  <a:latin typeface="Arial Narrow" pitchFamily="34" charset="0"/>
                  <a:cs typeface="Arial" pitchFamily="34" charset="0"/>
                </a:rPr>
                <a:t>Result</a:t>
              </a:r>
              <a:r>
                <a:rPr lang="de-DE" sz="1400" dirty="0" smtClean="0">
                  <a:latin typeface="Arial Narrow" pitchFamily="34" charset="0"/>
                  <a:cs typeface="Arial" pitchFamily="34" charset="0"/>
                </a:rPr>
                <a:t> </a:t>
              </a:r>
              <a:r>
                <a:rPr lang="de-DE" sz="1400" dirty="0" err="1" smtClean="0">
                  <a:latin typeface="Arial Narrow" pitchFamily="34" charset="0"/>
                  <a:cs typeface="Arial" pitchFamily="34" charset="0"/>
                </a:rPr>
                <a:t>overview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88" name="05"/>
            <p:cNvSpPr txBox="1">
              <a:spLocks/>
            </p:cNvSpPr>
            <p:nvPr/>
          </p:nvSpPr>
          <p:spPr bwMode="gray">
            <a:xfrm>
              <a:off x="434978" y="2419283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 smtClean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05</a:t>
              </a:r>
              <a:endParaRPr lang="en-US" sz="1400" dirty="0">
                <a:solidFill>
                  <a:srgbClr val="FF0000"/>
                </a:solidFill>
                <a:latin typeface="Arial Narrow" pitchFamily="34" charset="0"/>
                <a:cs typeface="Arial" pitchFamily="34" charset="0"/>
              </a:endParaRPr>
            </a:p>
          </p:txBody>
        </p:sp>
      </p:grpSp>
      <p:grpSp>
        <p:nvGrpSpPr>
          <p:cNvPr id="104" name="Thema 04"/>
          <p:cNvGrpSpPr/>
          <p:nvPr/>
        </p:nvGrpSpPr>
        <p:grpSpPr>
          <a:xfrm>
            <a:off x="434978" y="2030800"/>
            <a:ext cx="8278195" cy="252000"/>
            <a:chOff x="434978" y="2030800"/>
            <a:chExt cx="8278195" cy="252000"/>
          </a:xfrm>
        </p:grpSpPr>
        <p:sp>
          <p:nvSpPr>
            <p:cNvPr id="85" name="Thema 04"/>
            <p:cNvSpPr txBox="1">
              <a:spLocks/>
            </p:cNvSpPr>
            <p:nvPr/>
          </p:nvSpPr>
          <p:spPr bwMode="gray">
            <a:xfrm>
              <a:off x="758754" y="2030800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 err="1" smtClean="0">
                  <a:latin typeface="Arial Narrow" pitchFamily="34" charset="0"/>
                  <a:cs typeface="Arial" pitchFamily="34" charset="0"/>
                </a:rPr>
                <a:t>Pre-processing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86" name="04"/>
            <p:cNvSpPr txBox="1">
              <a:spLocks/>
            </p:cNvSpPr>
            <p:nvPr/>
          </p:nvSpPr>
          <p:spPr bwMode="gray">
            <a:xfrm>
              <a:off x="434978" y="2030800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 smtClean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04</a:t>
              </a:r>
              <a:endParaRPr lang="en-US" sz="1400" dirty="0">
                <a:solidFill>
                  <a:srgbClr val="FF0000"/>
                </a:solidFill>
                <a:latin typeface="Arial Narrow" pitchFamily="34" charset="0"/>
                <a:cs typeface="Arial" pitchFamily="34" charset="0"/>
              </a:endParaRPr>
            </a:p>
          </p:txBody>
        </p:sp>
      </p:grpSp>
      <p:grpSp>
        <p:nvGrpSpPr>
          <p:cNvPr id="103" name="Thema 03"/>
          <p:cNvGrpSpPr/>
          <p:nvPr/>
        </p:nvGrpSpPr>
        <p:grpSpPr>
          <a:xfrm>
            <a:off x="434978" y="1642317"/>
            <a:ext cx="8278195" cy="252000"/>
            <a:chOff x="434978" y="1642317"/>
            <a:chExt cx="8278195" cy="252000"/>
          </a:xfrm>
        </p:grpSpPr>
        <p:sp>
          <p:nvSpPr>
            <p:cNvPr id="83" name="Thema 03"/>
            <p:cNvSpPr txBox="1">
              <a:spLocks/>
            </p:cNvSpPr>
            <p:nvPr/>
          </p:nvSpPr>
          <p:spPr bwMode="gray">
            <a:xfrm>
              <a:off x="758754" y="1642317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 smtClean="0">
                  <a:latin typeface="Arial Narrow" pitchFamily="34" charset="0"/>
                  <a:cs typeface="Arial" pitchFamily="34" charset="0"/>
                </a:rPr>
                <a:t>Data </a:t>
              </a:r>
              <a:r>
                <a:rPr lang="de-DE" sz="1400" dirty="0" err="1" smtClean="0">
                  <a:latin typeface="Arial Narrow" pitchFamily="34" charset="0"/>
                  <a:cs typeface="Arial" pitchFamily="34" charset="0"/>
                </a:rPr>
                <a:t>visualization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84" name="03"/>
            <p:cNvSpPr txBox="1">
              <a:spLocks/>
            </p:cNvSpPr>
            <p:nvPr/>
          </p:nvSpPr>
          <p:spPr bwMode="gray">
            <a:xfrm>
              <a:off x="434978" y="1642317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 smtClean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03</a:t>
              </a:r>
              <a:endParaRPr lang="en-US" sz="1400" dirty="0">
                <a:solidFill>
                  <a:srgbClr val="FF0000"/>
                </a:solidFill>
                <a:latin typeface="Arial Narrow" pitchFamily="34" charset="0"/>
                <a:cs typeface="Arial" pitchFamily="34" charset="0"/>
              </a:endParaRPr>
            </a:p>
          </p:txBody>
        </p:sp>
      </p:grpSp>
      <p:grpSp>
        <p:nvGrpSpPr>
          <p:cNvPr id="102" name="Thema 02"/>
          <p:cNvGrpSpPr/>
          <p:nvPr/>
        </p:nvGrpSpPr>
        <p:grpSpPr>
          <a:xfrm>
            <a:off x="434978" y="1253834"/>
            <a:ext cx="8278195" cy="252000"/>
            <a:chOff x="434978" y="1253834"/>
            <a:chExt cx="8278195" cy="252000"/>
          </a:xfrm>
        </p:grpSpPr>
        <p:sp>
          <p:nvSpPr>
            <p:cNvPr id="81" name="Thema 02"/>
            <p:cNvSpPr txBox="1">
              <a:spLocks/>
            </p:cNvSpPr>
            <p:nvPr/>
          </p:nvSpPr>
          <p:spPr bwMode="gray">
            <a:xfrm>
              <a:off x="758754" y="1253834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 smtClean="0">
                  <a:latin typeface="Arial Narrow" pitchFamily="34" charset="0"/>
                  <a:cs typeface="Arial" pitchFamily="34" charset="0"/>
                </a:rPr>
                <a:t>Data </a:t>
              </a:r>
              <a:r>
                <a:rPr lang="de-DE" sz="1400" dirty="0" err="1" smtClean="0">
                  <a:latin typeface="Arial Narrow" pitchFamily="34" charset="0"/>
                  <a:cs typeface="Arial" pitchFamily="34" charset="0"/>
                </a:rPr>
                <a:t>exploration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82" name="02"/>
            <p:cNvSpPr txBox="1">
              <a:spLocks/>
            </p:cNvSpPr>
            <p:nvPr/>
          </p:nvSpPr>
          <p:spPr bwMode="gray">
            <a:xfrm>
              <a:off x="434978" y="1253834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 smtClean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02</a:t>
              </a:r>
              <a:endParaRPr lang="en-US" sz="1400" dirty="0">
                <a:solidFill>
                  <a:srgbClr val="FF0000"/>
                </a:solidFill>
                <a:latin typeface="Arial Narrow" pitchFamily="34" charset="0"/>
                <a:cs typeface="Arial" pitchFamily="34" charset="0"/>
              </a:endParaRPr>
            </a:p>
          </p:txBody>
        </p:sp>
      </p:grpSp>
      <p:grpSp>
        <p:nvGrpSpPr>
          <p:cNvPr id="101" name="Thema 01"/>
          <p:cNvGrpSpPr/>
          <p:nvPr/>
        </p:nvGrpSpPr>
        <p:grpSpPr>
          <a:xfrm>
            <a:off x="434978" y="868957"/>
            <a:ext cx="8278195" cy="252000"/>
            <a:chOff x="434978" y="868957"/>
            <a:chExt cx="8278195" cy="252000"/>
          </a:xfrm>
        </p:grpSpPr>
        <p:sp>
          <p:nvSpPr>
            <p:cNvPr id="27" name="Thema 01"/>
            <p:cNvSpPr txBox="1">
              <a:spLocks/>
            </p:cNvSpPr>
            <p:nvPr/>
          </p:nvSpPr>
          <p:spPr bwMode="gray">
            <a:xfrm>
              <a:off x="758754" y="868957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 err="1" smtClean="0">
                  <a:latin typeface="Arial Narrow" pitchFamily="34" charset="0"/>
                  <a:cs typeface="Arial" pitchFamily="34" charset="0"/>
                </a:rPr>
                <a:t>Context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6" name="01"/>
            <p:cNvSpPr txBox="1">
              <a:spLocks/>
            </p:cNvSpPr>
            <p:nvPr/>
          </p:nvSpPr>
          <p:spPr bwMode="gray">
            <a:xfrm>
              <a:off x="434978" y="868957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 smtClean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01</a:t>
              </a:r>
              <a:endParaRPr lang="en-US" sz="1400" dirty="0">
                <a:solidFill>
                  <a:srgbClr val="FF0000"/>
                </a:solidFill>
                <a:latin typeface="Arial Narrow" pitchFamily="34" charset="0"/>
                <a:cs typeface="Arial" pitchFamily="34" charset="0"/>
              </a:endParaRPr>
            </a:p>
          </p:txBody>
        </p:sp>
      </p:grpSp>
      <p:sp>
        <p:nvSpPr>
          <p:cNvPr id="8" name="Richtungspfeil 7"/>
          <p:cNvSpPr/>
          <p:nvPr/>
        </p:nvSpPr>
        <p:spPr bwMode="gray">
          <a:xfrm rot="5400000">
            <a:off x="4423823" y="1207759"/>
            <a:ext cx="546703" cy="826415"/>
          </a:xfrm>
          <a:prstGeom prst="homePlate">
            <a:avLst>
              <a:gd name="adj" fmla="val 2154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 smtClean="0"/>
          </a:p>
        </p:txBody>
      </p:sp>
      <p:sp>
        <p:nvSpPr>
          <p:cNvPr id="9" name="Textfeld 8"/>
          <p:cNvSpPr txBox="1"/>
          <p:nvPr/>
        </p:nvSpPr>
        <p:spPr bwMode="gray">
          <a:xfrm>
            <a:off x="4447931" y="1515379"/>
            <a:ext cx="576064" cy="1906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100" i="1" dirty="0" err="1" smtClean="0">
                <a:solidFill>
                  <a:srgbClr val="007BBD"/>
                </a:solidFill>
                <a:latin typeface="+mn-lt"/>
              </a:rPr>
              <a:t>Streamlit</a:t>
            </a:r>
            <a:endParaRPr lang="de-DE" sz="1100" i="1" dirty="0" smtClean="0">
              <a:solidFill>
                <a:srgbClr val="007BBD"/>
              </a:solidFill>
              <a:latin typeface="+mn-lt"/>
            </a:endParaRPr>
          </a:p>
        </p:txBody>
      </p:sp>
      <p:sp>
        <p:nvSpPr>
          <p:cNvPr id="32" name="Richtungspfeil 31"/>
          <p:cNvSpPr/>
          <p:nvPr/>
        </p:nvSpPr>
        <p:spPr bwMode="gray">
          <a:xfrm rot="5400000">
            <a:off x="4565632" y="2515017"/>
            <a:ext cx="263083" cy="826415"/>
          </a:xfrm>
          <a:prstGeom prst="homePlate">
            <a:avLst>
              <a:gd name="adj" fmla="val 2154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 smtClean="0"/>
          </a:p>
        </p:txBody>
      </p:sp>
      <p:sp>
        <p:nvSpPr>
          <p:cNvPr id="33" name="Textfeld 32"/>
          <p:cNvSpPr txBox="1"/>
          <p:nvPr/>
        </p:nvSpPr>
        <p:spPr bwMode="gray">
          <a:xfrm>
            <a:off x="4447931" y="2812976"/>
            <a:ext cx="576064" cy="1906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100" i="1" dirty="0" err="1" smtClean="0">
                <a:solidFill>
                  <a:srgbClr val="007BBD"/>
                </a:solidFill>
                <a:latin typeface="+mn-lt"/>
              </a:rPr>
              <a:t>Streamlit</a:t>
            </a:r>
            <a:endParaRPr lang="de-DE" sz="1100" i="1" dirty="0" smtClean="0">
              <a:solidFill>
                <a:srgbClr val="007BBD"/>
              </a:solidFill>
              <a:latin typeface="+mn-lt"/>
            </a:endParaRPr>
          </a:p>
        </p:txBody>
      </p:sp>
      <p:pic>
        <p:nvPicPr>
          <p:cNvPr id="31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579347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 smtClean="0"/>
              <a:t>Concept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ultrasonic</a:t>
            </a:r>
            <a:r>
              <a:rPr lang="de-DE" dirty="0" smtClean="0"/>
              <a:t> </a:t>
            </a:r>
            <a:r>
              <a:rPr lang="de-DE" dirty="0" err="1" smtClean="0"/>
              <a:t>welding</a:t>
            </a:r>
            <a:r>
              <a:rPr lang="de-DE" dirty="0" smtClean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 err="1" smtClean="0"/>
              <a:t>vibration</a:t>
            </a:r>
            <a:r>
              <a:rPr lang="de-DE" dirty="0" smtClean="0"/>
              <a:t> </a:t>
            </a:r>
            <a:r>
              <a:rPr lang="de-DE" dirty="0" err="1" smtClean="0"/>
              <a:t>energy</a:t>
            </a:r>
            <a:r>
              <a:rPr lang="de-DE" dirty="0" smtClean="0"/>
              <a:t> </a:t>
            </a:r>
            <a:r>
              <a:rPr lang="de-DE" dirty="0" smtClean="0">
                <a:sym typeface="Wingdings" panose="05000000000000000000" pitchFamily="2" charset="2"/>
              </a:rPr>
              <a:t> </a:t>
            </a:r>
            <a:r>
              <a:rPr lang="de-DE" dirty="0" err="1" smtClean="0"/>
              <a:t>welding</a:t>
            </a:r>
            <a:r>
              <a:rPr lang="de-DE" dirty="0" smtClean="0"/>
              <a:t> </a:t>
            </a:r>
            <a:r>
              <a:rPr lang="de-DE" dirty="0" err="1" smtClean="0"/>
              <a:t>part</a:t>
            </a:r>
            <a:endParaRPr lang="de-DE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 err="1" smtClean="0"/>
              <a:t>energy</a:t>
            </a:r>
            <a:r>
              <a:rPr lang="de-DE" dirty="0" smtClean="0"/>
              <a:t> </a:t>
            </a:r>
            <a:r>
              <a:rPr lang="de-DE" dirty="0" smtClean="0">
                <a:sym typeface="Wingdings" panose="05000000000000000000" pitchFamily="2" charset="2"/>
              </a:rPr>
              <a:t></a:t>
            </a:r>
            <a:r>
              <a:rPr lang="de-DE" dirty="0" smtClean="0"/>
              <a:t> </a:t>
            </a:r>
            <a:r>
              <a:rPr lang="de-DE" b="1" dirty="0" err="1" smtClean="0"/>
              <a:t>heat</a:t>
            </a:r>
            <a:r>
              <a:rPr lang="de-DE" dirty="0" smtClean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dirty="0" err="1" smtClean="0"/>
              <a:t>force</a:t>
            </a:r>
            <a:r>
              <a:rPr lang="de-DE" dirty="0" smtClean="0"/>
              <a:t> </a:t>
            </a:r>
            <a:r>
              <a:rPr lang="de-DE" dirty="0" smtClean="0">
                <a:sym typeface="Wingdings" panose="05000000000000000000" pitchFamily="2" charset="2"/>
              </a:rPr>
              <a:t></a:t>
            </a:r>
            <a:r>
              <a:rPr lang="de-DE" dirty="0" smtClean="0"/>
              <a:t> </a:t>
            </a:r>
            <a:r>
              <a:rPr lang="de-DE" dirty="0" err="1" smtClean="0"/>
              <a:t>new</a:t>
            </a:r>
            <a:r>
              <a:rPr lang="de-DE" dirty="0" smtClean="0"/>
              <a:t> </a:t>
            </a:r>
            <a:r>
              <a:rPr lang="de-DE" dirty="0" err="1" smtClean="0"/>
              <a:t>connection</a:t>
            </a:r>
            <a:endParaRPr lang="de-DE" dirty="0" smtClean="0"/>
          </a:p>
          <a:p>
            <a:pPr marL="285750" indent="-285750">
              <a:buFontTx/>
              <a:buChar char="-"/>
            </a:pPr>
            <a:endParaRPr lang="de-DE" dirty="0" smtClean="0"/>
          </a:p>
          <a:p>
            <a:r>
              <a:rPr lang="de-DE" dirty="0" err="1" smtClean="0"/>
              <a:t>Ultrasonic</a:t>
            </a:r>
            <a:r>
              <a:rPr lang="de-DE" dirty="0" smtClean="0"/>
              <a:t> sonotrode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dirty="0" smtClean="0"/>
              <a:t>longitudinal</a:t>
            </a:r>
            <a:r>
              <a:rPr lang="de-DE" dirty="0" smtClean="0"/>
              <a:t> </a:t>
            </a:r>
            <a:r>
              <a:rPr lang="de-DE" dirty="0" err="1" smtClean="0"/>
              <a:t>mode</a:t>
            </a:r>
            <a:r>
              <a:rPr lang="de-DE" dirty="0" smtClean="0"/>
              <a:t> </a:t>
            </a:r>
            <a:r>
              <a:rPr lang="de-DE" dirty="0" err="1" smtClean="0"/>
              <a:t>used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drive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vibration</a:t>
            </a:r>
            <a:endParaRPr lang="de-DE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 err="1" smtClean="0"/>
              <a:t>Requirements</a:t>
            </a:r>
            <a:r>
              <a:rPr lang="de-DE" dirty="0" smtClean="0"/>
              <a:t>: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 err="1" smtClean="0"/>
              <a:t>frequency</a:t>
            </a:r>
            <a:r>
              <a:rPr lang="de-DE" dirty="0" smtClean="0"/>
              <a:t> ~ 20 kHz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 smtClean="0"/>
              <a:t>longitudinal </a:t>
            </a:r>
            <a:r>
              <a:rPr lang="de-DE" dirty="0" err="1" smtClean="0"/>
              <a:t>mode</a:t>
            </a:r>
            <a:r>
              <a:rPr lang="de-DE" dirty="0" smtClean="0"/>
              <a:t> </a:t>
            </a:r>
            <a:r>
              <a:rPr lang="de-DE" dirty="0" err="1" smtClean="0"/>
              <a:t>isolated</a:t>
            </a:r>
            <a:endParaRPr lang="de-DE" dirty="0" smtClean="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 smtClean="0"/>
              <a:t>uniform </a:t>
            </a:r>
            <a:r>
              <a:rPr lang="de-DE" dirty="0" err="1" smtClean="0"/>
              <a:t>output</a:t>
            </a:r>
            <a:r>
              <a:rPr lang="de-DE" dirty="0" smtClean="0"/>
              <a:t> </a:t>
            </a:r>
            <a:r>
              <a:rPr lang="de-DE" dirty="0" err="1" smtClean="0"/>
              <a:t>displacements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 smtClean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Context</a:t>
            </a:r>
            <a:endParaRPr lang="de-DE" dirty="0"/>
          </a:p>
        </p:txBody>
      </p:sp>
      <p:pic>
        <p:nvPicPr>
          <p:cNvPr id="8" name="Picture 10" descr="RPN4NE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203598"/>
            <a:ext cx="2783739" cy="1044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112" y="2687867"/>
            <a:ext cx="900000" cy="688841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942" y="3385804"/>
            <a:ext cx="900000" cy="642128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6942" y="4093885"/>
            <a:ext cx="900000" cy="674682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8224" y="2951295"/>
            <a:ext cx="1800199" cy="1357370"/>
          </a:xfrm>
          <a:prstGeom prst="rect">
            <a:avLst/>
          </a:prstGeom>
        </p:spPr>
      </p:pic>
      <p:cxnSp>
        <p:nvCxnSpPr>
          <p:cNvPr id="19" name="Gerade Verbindung mit Pfeil 18"/>
          <p:cNvCxnSpPr/>
          <p:nvPr/>
        </p:nvCxnSpPr>
        <p:spPr bwMode="gray">
          <a:xfrm>
            <a:off x="5796136" y="3706868"/>
            <a:ext cx="648072" cy="0"/>
          </a:xfrm>
          <a:prstGeom prst="straightConnector1">
            <a:avLst/>
          </a:prstGeom>
          <a:ln w="9525">
            <a:solidFill>
              <a:schemeClr val="bg2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1.png"/>
          <p:cNvPicPr/>
          <p:nvPr/>
        </p:nvPicPr>
        <p:blipFill rotWithShape="1">
          <a:blip r:embed="rId8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478" y="3533769"/>
            <a:ext cx="1071046" cy="34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977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r>
              <a:rPr lang="de-DE" dirty="0" smtClean="0"/>
              <a:t>Main </a:t>
            </a:r>
            <a:r>
              <a:rPr lang="de-DE" dirty="0" err="1" smtClean="0"/>
              <a:t>goal</a:t>
            </a:r>
            <a:r>
              <a:rPr lang="de-DE" dirty="0" smtClean="0"/>
              <a:t>:	</a:t>
            </a:r>
            <a:r>
              <a:rPr lang="de-DE" i="1" dirty="0" err="1" smtClean="0"/>
              <a:t>Prediction</a:t>
            </a:r>
            <a:r>
              <a:rPr lang="de-DE" i="1" dirty="0" smtClean="0"/>
              <a:t> </a:t>
            </a:r>
            <a:r>
              <a:rPr lang="de-DE" i="1" dirty="0" err="1" smtClean="0"/>
              <a:t>of</a:t>
            </a:r>
            <a:r>
              <a:rPr lang="de-DE" i="1" dirty="0" smtClean="0"/>
              <a:t> </a:t>
            </a:r>
            <a:r>
              <a:rPr lang="de-DE" i="1" dirty="0" err="1" smtClean="0"/>
              <a:t>the</a:t>
            </a:r>
            <a:r>
              <a:rPr lang="de-DE" i="1" dirty="0" smtClean="0"/>
              <a:t> </a:t>
            </a:r>
            <a:r>
              <a:rPr lang="de-DE" i="1" dirty="0" err="1" smtClean="0"/>
              <a:t>FEM</a:t>
            </a:r>
            <a:r>
              <a:rPr lang="de-DE" i="1" dirty="0" smtClean="0"/>
              <a:t> </a:t>
            </a:r>
            <a:r>
              <a:rPr lang="de-DE" i="1" dirty="0" err="1" smtClean="0"/>
              <a:t>results</a:t>
            </a:r>
            <a:r>
              <a:rPr lang="de-DE" i="1" dirty="0" smtClean="0"/>
              <a:t> </a:t>
            </a:r>
            <a:r>
              <a:rPr lang="de-DE" i="1" dirty="0" err="1" smtClean="0"/>
              <a:t>from</a:t>
            </a:r>
            <a:r>
              <a:rPr lang="de-DE" i="1" dirty="0" smtClean="0"/>
              <a:t> </a:t>
            </a:r>
            <a:r>
              <a:rPr lang="de-DE" i="1" dirty="0" err="1" smtClean="0"/>
              <a:t>the</a:t>
            </a:r>
            <a:r>
              <a:rPr lang="de-DE" i="1" dirty="0" smtClean="0"/>
              <a:t> sonotrode </a:t>
            </a:r>
            <a:r>
              <a:rPr lang="de-DE" i="1" dirty="0" err="1" smtClean="0"/>
              <a:t>geometry</a:t>
            </a:r>
            <a:endParaRPr lang="de-DE" i="1" dirty="0" smtClean="0"/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r>
              <a:rPr lang="de-DE" dirty="0" smtClean="0"/>
              <a:t>3 </a:t>
            </a:r>
            <a:r>
              <a:rPr lang="de-DE" dirty="0" err="1" smtClean="0"/>
              <a:t>predictions</a:t>
            </a:r>
            <a:r>
              <a:rPr lang="de-DE" dirty="0" smtClean="0"/>
              <a:t>:</a:t>
            </a:r>
          </a:p>
          <a:p>
            <a:pPr marL="465750" lvl="1" indent="-285750">
              <a:buFontTx/>
              <a:buChar char="-"/>
            </a:pPr>
            <a:r>
              <a:rPr lang="de-DE" dirty="0" smtClean="0"/>
              <a:t>longitudinal </a:t>
            </a:r>
            <a:r>
              <a:rPr lang="de-DE" dirty="0" err="1" smtClean="0"/>
              <a:t>frequency</a:t>
            </a:r>
            <a:endParaRPr lang="de-DE" dirty="0" smtClean="0"/>
          </a:p>
          <a:p>
            <a:pPr marL="465750" lvl="1" indent="-285750">
              <a:buFontTx/>
              <a:buChar char="-"/>
            </a:pPr>
            <a:r>
              <a:rPr lang="de-DE" dirty="0" err="1" smtClean="0"/>
              <a:t>frequencies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all </a:t>
            </a:r>
            <a:r>
              <a:rPr lang="de-DE" dirty="0" err="1" smtClean="0"/>
              <a:t>modes</a:t>
            </a:r>
            <a:endParaRPr lang="de-DE" dirty="0" smtClean="0"/>
          </a:p>
          <a:p>
            <a:pPr marL="465750" lvl="1" indent="-285750">
              <a:buFontTx/>
              <a:buChar char="-"/>
            </a:pPr>
            <a:r>
              <a:rPr lang="de-DE" dirty="0" err="1" smtClean="0"/>
              <a:t>uniformity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output</a:t>
            </a:r>
            <a:r>
              <a:rPr lang="de-DE" dirty="0" smtClean="0"/>
              <a:t> </a:t>
            </a:r>
            <a:r>
              <a:rPr lang="de-DE" dirty="0" err="1" smtClean="0"/>
              <a:t>displacements</a:t>
            </a:r>
            <a:endParaRPr lang="de-DE" dirty="0" smtClean="0"/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r>
              <a:rPr lang="de-DE" dirty="0" err="1" smtClean="0"/>
              <a:t>Geometry</a:t>
            </a:r>
            <a:r>
              <a:rPr lang="de-DE" dirty="0" smtClean="0"/>
              <a:t>: 23 </a:t>
            </a:r>
            <a:r>
              <a:rPr lang="de-DE" dirty="0" err="1" smtClean="0"/>
              <a:t>parameters</a:t>
            </a:r>
            <a:endParaRPr lang="de-DE" dirty="0" smtClean="0"/>
          </a:p>
          <a:p>
            <a:pPr marL="465750" lvl="1" indent="-285750">
              <a:buFontTx/>
              <a:buChar char="-"/>
            </a:pPr>
            <a:r>
              <a:rPr lang="de-DE" sz="1400" dirty="0" smtClean="0"/>
              <a:t>(</a:t>
            </a:r>
            <a:r>
              <a:rPr lang="de-DE" sz="1400" dirty="0" err="1" smtClean="0"/>
              <a:t>dim_x</a:t>
            </a:r>
            <a:r>
              <a:rPr lang="de-DE" sz="1400" dirty="0" smtClean="0"/>
              <a:t>) × (</a:t>
            </a:r>
            <a:r>
              <a:rPr lang="de-DE" sz="1400" dirty="0" err="1" smtClean="0"/>
              <a:t>dim_z</a:t>
            </a:r>
            <a:r>
              <a:rPr lang="de-DE" sz="1400" dirty="0" smtClean="0"/>
              <a:t>): </a:t>
            </a:r>
            <a:r>
              <a:rPr lang="de-DE" sz="1400" dirty="0" err="1" smtClean="0"/>
              <a:t>output</a:t>
            </a:r>
            <a:r>
              <a:rPr lang="de-DE" sz="1400" dirty="0" smtClean="0"/>
              <a:t> </a:t>
            </a:r>
            <a:r>
              <a:rPr lang="de-DE" sz="1400" dirty="0" err="1" smtClean="0"/>
              <a:t>surface</a:t>
            </a:r>
            <a:endParaRPr lang="de-DE" sz="1400" dirty="0" smtClean="0"/>
          </a:p>
          <a:p>
            <a:pPr marL="465750" lvl="1" indent="-285750">
              <a:buFontTx/>
              <a:buChar char="-"/>
            </a:pPr>
            <a:r>
              <a:rPr lang="de-DE" sz="1400" dirty="0" smtClean="0"/>
              <a:t>(</a:t>
            </a:r>
            <a:r>
              <a:rPr lang="de-DE" sz="1400" dirty="0" err="1" smtClean="0"/>
              <a:t>dim_y</a:t>
            </a:r>
            <a:r>
              <a:rPr lang="de-DE" sz="1400" dirty="0" smtClean="0"/>
              <a:t>): </a:t>
            </a:r>
            <a:r>
              <a:rPr lang="de-DE" sz="1400" dirty="0" err="1" smtClean="0"/>
              <a:t>length</a:t>
            </a:r>
            <a:endParaRPr lang="de-DE" sz="1400" dirty="0" smtClean="0"/>
          </a:p>
          <a:p>
            <a:pPr marL="465750" lvl="1" indent="-285750">
              <a:buFontTx/>
              <a:buChar char="-"/>
            </a:pPr>
            <a:r>
              <a:rPr lang="de-DE" sz="1400" dirty="0" smtClean="0"/>
              <a:t>…</a:t>
            </a:r>
            <a:endParaRPr lang="de-DE" sz="140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Goal</a:t>
            </a:r>
            <a:endParaRPr lang="de-DE" dirty="0"/>
          </a:p>
        </p:txBody>
      </p:sp>
      <p:pic>
        <p:nvPicPr>
          <p:cNvPr id="8" name="Grafik 7"/>
          <p:cNvPicPr/>
          <p:nvPr/>
        </p:nvPicPr>
        <p:blipFill>
          <a:blip r:embed="rId3"/>
          <a:stretch>
            <a:fillRect/>
          </a:stretch>
        </p:blipFill>
        <p:spPr>
          <a:xfrm>
            <a:off x="3904084" y="1491630"/>
            <a:ext cx="4955955" cy="3002535"/>
          </a:xfrm>
          <a:prstGeom prst="rect">
            <a:avLst/>
          </a:prstGeom>
        </p:spPr>
      </p:pic>
      <p:sp>
        <p:nvSpPr>
          <p:cNvPr id="6" name="Abgerundetes Rechteck 5"/>
          <p:cNvSpPr/>
          <p:nvPr/>
        </p:nvSpPr>
        <p:spPr bwMode="gray">
          <a:xfrm>
            <a:off x="4807076" y="2816352"/>
            <a:ext cx="288032" cy="14401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 smtClean="0">
              <a:noFill/>
            </a:endParaRPr>
          </a:p>
        </p:txBody>
      </p:sp>
      <p:sp>
        <p:nvSpPr>
          <p:cNvPr id="9" name="Abgerundetes Rechteck 8"/>
          <p:cNvSpPr/>
          <p:nvPr/>
        </p:nvSpPr>
        <p:spPr bwMode="gray">
          <a:xfrm>
            <a:off x="6631654" y="2763959"/>
            <a:ext cx="288032" cy="14401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 smtClean="0">
              <a:noFill/>
            </a:endParaRPr>
          </a:p>
        </p:txBody>
      </p:sp>
      <p:sp>
        <p:nvSpPr>
          <p:cNvPr id="10" name="Abgerundetes Rechteck 9"/>
          <p:cNvSpPr/>
          <p:nvPr/>
        </p:nvSpPr>
        <p:spPr bwMode="gray">
          <a:xfrm rot="16200000">
            <a:off x="7692159" y="2225999"/>
            <a:ext cx="288032" cy="14401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 smtClean="0">
              <a:noFill/>
            </a:endParaRPr>
          </a:p>
        </p:txBody>
      </p:sp>
      <p:pic>
        <p:nvPicPr>
          <p:cNvPr id="11" name="image1.png"/>
          <p:cNvPicPr/>
          <p:nvPr/>
        </p:nvPicPr>
        <p:blipFill rotWithShape="1">
          <a:blip r:embed="rId4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168384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65750" lvl="1" indent="-285750">
              <a:buFontTx/>
              <a:buChar char="-"/>
            </a:pPr>
            <a:r>
              <a:rPr lang="de-DE" dirty="0" smtClean="0"/>
              <a:t>MAC (Modal Assurance </a:t>
            </a:r>
            <a:r>
              <a:rPr lang="de-DE" dirty="0" err="1" smtClean="0"/>
              <a:t>Criterion</a:t>
            </a:r>
            <a:r>
              <a:rPr lang="de-DE" dirty="0" smtClean="0"/>
              <a:t>)</a:t>
            </a:r>
          </a:p>
          <a:p>
            <a:pPr lvl="2" indent="0">
              <a:buNone/>
            </a:pPr>
            <a:r>
              <a:rPr lang="de-DE" dirty="0" err="1" smtClean="0"/>
              <a:t>comparison</a:t>
            </a:r>
            <a:r>
              <a:rPr lang="de-DE" dirty="0" smtClean="0"/>
              <a:t>: </a:t>
            </a:r>
            <a:r>
              <a:rPr lang="de-DE" dirty="0" err="1" smtClean="0"/>
              <a:t>mode</a:t>
            </a:r>
            <a:r>
              <a:rPr lang="de-DE" dirty="0" smtClean="0"/>
              <a:t> </a:t>
            </a:r>
            <a:r>
              <a:rPr lang="de-DE" dirty="0" err="1" smtClean="0"/>
              <a:t>shapes</a:t>
            </a:r>
            <a:r>
              <a:rPr lang="de-DE" dirty="0" smtClean="0"/>
              <a:t> </a:t>
            </a:r>
            <a:r>
              <a:rPr lang="de-DE" u="sng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reference</a:t>
            </a:r>
            <a:r>
              <a:rPr lang="de-DE" dirty="0" smtClean="0"/>
              <a:t> longitudinal </a:t>
            </a:r>
            <a:r>
              <a:rPr lang="de-DE" dirty="0" err="1" smtClean="0"/>
              <a:t>mode</a:t>
            </a:r>
            <a:r>
              <a:rPr lang="de-DE" dirty="0" smtClean="0"/>
              <a:t> </a:t>
            </a:r>
            <a:r>
              <a:rPr lang="de-DE" dirty="0" err="1" smtClean="0"/>
              <a:t>shape</a:t>
            </a:r>
            <a:endParaRPr lang="de-DE" dirty="0" smtClean="0"/>
          </a:p>
          <a:p>
            <a:pPr marL="644525" lvl="2" indent="-285750">
              <a:buFont typeface="Courier New" panose="02070309020205020404" pitchFamily="49" charset="0"/>
              <a:buChar char="o"/>
            </a:pPr>
            <a:r>
              <a:rPr lang="de-DE" b="1" dirty="0" smtClean="0"/>
              <a:t>0</a:t>
            </a:r>
            <a:r>
              <a:rPr lang="de-DE" dirty="0" smtClean="0"/>
              <a:t>  </a:t>
            </a:r>
            <a:r>
              <a:rPr lang="de-DE" i="1" dirty="0" err="1" smtClean="0"/>
              <a:t>no</a:t>
            </a:r>
            <a:r>
              <a:rPr lang="de-DE" i="1" dirty="0" smtClean="0"/>
              <a:t> </a:t>
            </a:r>
            <a:r>
              <a:rPr lang="de-DE" i="1" dirty="0" err="1" smtClean="0"/>
              <a:t>correspondance</a:t>
            </a:r>
            <a:endParaRPr lang="de-DE" i="1" dirty="0" smtClean="0"/>
          </a:p>
          <a:p>
            <a:pPr marL="644525" lvl="2" indent="-285750">
              <a:buFont typeface="Courier New" panose="02070309020205020404" pitchFamily="49" charset="0"/>
              <a:buChar char="o"/>
            </a:pPr>
            <a:r>
              <a:rPr lang="de-DE" b="1" dirty="0" smtClean="0"/>
              <a:t>1</a:t>
            </a:r>
            <a:r>
              <a:rPr lang="de-DE" dirty="0" smtClean="0"/>
              <a:t>  </a:t>
            </a:r>
            <a:r>
              <a:rPr lang="de-DE" i="1" dirty="0" err="1" smtClean="0"/>
              <a:t>full</a:t>
            </a:r>
            <a:r>
              <a:rPr lang="de-DE" i="1" dirty="0" smtClean="0"/>
              <a:t> </a:t>
            </a:r>
            <a:r>
              <a:rPr lang="de-DE" i="1" dirty="0" err="1" smtClean="0"/>
              <a:t>correspondance</a:t>
            </a:r>
            <a:endParaRPr lang="de-DE" i="1" dirty="0" smtClean="0"/>
          </a:p>
          <a:p>
            <a:pPr lvl="2" indent="0">
              <a:buNone/>
            </a:pPr>
            <a:endParaRPr lang="de-DE" dirty="0"/>
          </a:p>
          <a:p>
            <a:pPr marL="465750" lvl="1" indent="-285750">
              <a:buFontTx/>
              <a:buChar char="-"/>
            </a:pPr>
            <a:r>
              <a:rPr lang="de-DE" dirty="0" err="1" smtClean="0"/>
              <a:t>Identification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longitudinal </a:t>
            </a:r>
            <a:r>
              <a:rPr lang="de-DE" dirty="0" err="1" smtClean="0"/>
              <a:t>mode</a:t>
            </a:r>
            <a:endParaRPr lang="de-DE" dirty="0" smtClean="0"/>
          </a:p>
          <a:p>
            <a:pPr lvl="1" indent="0">
              <a:buNone/>
            </a:pPr>
            <a:r>
              <a:rPr lang="de-DE" sz="1400" dirty="0" smtClean="0"/>
              <a:t>	Long. </a:t>
            </a:r>
            <a:r>
              <a:rPr lang="de-DE" sz="1400" dirty="0" err="1" smtClean="0"/>
              <a:t>mode</a:t>
            </a:r>
            <a:r>
              <a:rPr lang="de-DE" sz="1400" dirty="0" smtClean="0"/>
              <a:t>: </a:t>
            </a:r>
            <a:r>
              <a:rPr lang="de-DE" sz="1400" dirty="0" err="1" smtClean="0"/>
              <a:t>highest</a:t>
            </a:r>
            <a:r>
              <a:rPr lang="de-DE" sz="1400" dirty="0" smtClean="0"/>
              <a:t> MAC </a:t>
            </a:r>
            <a:r>
              <a:rPr lang="de-DE" sz="1400" dirty="0" err="1" smtClean="0"/>
              <a:t>value</a:t>
            </a:r>
            <a:endParaRPr lang="de-DE" sz="1400" dirty="0"/>
          </a:p>
          <a:p>
            <a:pPr marL="465750" lvl="1" indent="-285750">
              <a:buFontTx/>
              <a:buChar char="-"/>
            </a:pPr>
            <a:endParaRPr lang="de-DE" dirty="0" smtClean="0"/>
          </a:p>
          <a:p>
            <a:pPr marL="465750" lvl="1" indent="-285750">
              <a:buFontTx/>
              <a:buChar char="-"/>
            </a:pPr>
            <a:r>
              <a:rPr lang="de-DE" dirty="0" smtClean="0"/>
              <a:t>8000 design </a:t>
            </a:r>
            <a:r>
              <a:rPr lang="de-DE" dirty="0" err="1" smtClean="0"/>
              <a:t>points</a:t>
            </a:r>
            <a:r>
              <a:rPr lang="de-DE" dirty="0" smtClean="0"/>
              <a:t> (</a:t>
            </a:r>
            <a:r>
              <a:rPr lang="de-DE" dirty="0" err="1" smtClean="0"/>
              <a:t>DP</a:t>
            </a:r>
            <a:r>
              <a:rPr lang="de-DE" dirty="0" smtClean="0"/>
              <a:t>) = geometries</a:t>
            </a:r>
          </a:p>
          <a:p>
            <a:pPr lvl="1" indent="0">
              <a:buNone/>
            </a:pPr>
            <a:r>
              <a:rPr lang="de-DE" dirty="0" smtClean="0"/>
              <a:t>	CSV </a:t>
            </a:r>
            <a:r>
              <a:rPr lang="de-DE" dirty="0" err="1" smtClean="0"/>
              <a:t>files</a:t>
            </a:r>
            <a:endParaRPr lang="de-DE" dirty="0"/>
          </a:p>
          <a:p>
            <a:pPr marL="465750" lvl="1" indent="-285750">
              <a:buFontTx/>
              <a:buChar char="-"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Data </a:t>
            </a:r>
            <a:r>
              <a:rPr lang="de-DE" dirty="0" err="1" smtClean="0"/>
              <a:t>exploration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862" y="3054442"/>
            <a:ext cx="3838748" cy="1139744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4"/>
          <a:srcRect b="37695"/>
          <a:stretch/>
        </p:blipFill>
        <p:spPr>
          <a:xfrm>
            <a:off x="5292080" y="3450643"/>
            <a:ext cx="2817291" cy="95573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 rotWithShape="1">
          <a:blip r:embed="rId5"/>
          <a:srcRect r="31833"/>
          <a:stretch/>
        </p:blipFill>
        <p:spPr>
          <a:xfrm>
            <a:off x="5724128" y="3911129"/>
            <a:ext cx="3024336" cy="834414"/>
          </a:xfrm>
          <a:prstGeom prst="rect">
            <a:avLst/>
          </a:prstGeom>
        </p:spPr>
      </p:pic>
      <p:pic>
        <p:nvPicPr>
          <p:cNvPr id="11" name="image1.png"/>
          <p:cNvPicPr/>
          <p:nvPr/>
        </p:nvPicPr>
        <p:blipFill rotWithShape="1">
          <a:blip r:embed="rId6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690751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endParaRPr lang="de-DE" dirty="0"/>
          </a:p>
          <a:p>
            <a:pPr lvl="1" indent="0" algn="ctr">
              <a:buNone/>
            </a:pPr>
            <a:r>
              <a:rPr lang="de-DE" sz="4000" i="1" dirty="0" smtClean="0"/>
              <a:t>(</a:t>
            </a:r>
            <a:r>
              <a:rPr lang="de-DE" sz="4000" i="1" dirty="0" err="1" smtClean="0"/>
              <a:t>Streamlit</a:t>
            </a:r>
            <a:r>
              <a:rPr lang="de-DE" sz="4000" i="1" dirty="0" smtClean="0"/>
              <a:t>)</a:t>
            </a:r>
          </a:p>
          <a:p>
            <a:pPr marL="465750" lvl="1" indent="-285750">
              <a:buFontTx/>
              <a:buChar char="-"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Data </a:t>
            </a:r>
            <a:r>
              <a:rPr lang="de-DE" dirty="0" err="1" smtClean="0"/>
              <a:t>exploration</a:t>
            </a:r>
            <a:endParaRPr lang="de-DE" dirty="0"/>
          </a:p>
        </p:txBody>
      </p:sp>
      <p:pic>
        <p:nvPicPr>
          <p:cNvPr id="8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7271964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431800" y="864394"/>
            <a:ext cx="8278988" cy="3075508"/>
          </a:xfrm>
        </p:spPr>
        <p:txBody>
          <a:bodyPr/>
          <a:lstStyle/>
          <a:p>
            <a:pPr marL="465750" lvl="1" indent="-285750">
              <a:buFontTx/>
              <a:buChar char="-"/>
            </a:pPr>
            <a:r>
              <a:rPr lang="de-DE" dirty="0" smtClean="0"/>
              <a:t>Slot </a:t>
            </a:r>
            <a:r>
              <a:rPr lang="de-DE" dirty="0" err="1" smtClean="0"/>
              <a:t>classes</a:t>
            </a:r>
            <a:endParaRPr lang="de-DE" dirty="0" smtClean="0"/>
          </a:p>
          <a:p>
            <a:pPr marL="465750" lvl="1" indent="-285750">
              <a:buFontTx/>
              <a:buChar char="-"/>
            </a:pPr>
            <a:endParaRPr lang="de-DE" dirty="0"/>
          </a:p>
          <a:p>
            <a:pPr marL="465750" lvl="1" indent="-285750">
              <a:buFontTx/>
              <a:buChar char="-"/>
            </a:pPr>
            <a:endParaRPr lang="de-DE" dirty="0" smtClean="0"/>
          </a:p>
          <a:p>
            <a:pPr marL="465750" lvl="1" indent="-285750">
              <a:buFontTx/>
              <a:buChar char="-"/>
            </a:pPr>
            <a:endParaRPr lang="de-DE" dirty="0" smtClean="0"/>
          </a:p>
          <a:p>
            <a:pPr marL="465750" lvl="1" indent="-285750">
              <a:buFontTx/>
              <a:buChar char="-"/>
            </a:pPr>
            <a:endParaRPr lang="de-DE" dirty="0"/>
          </a:p>
          <a:p>
            <a:pPr marL="465750" lvl="1" indent="-285750">
              <a:buFontTx/>
              <a:buChar char="-"/>
            </a:pPr>
            <a:endParaRPr lang="de-DE" dirty="0" smtClean="0"/>
          </a:p>
          <a:p>
            <a:pPr marL="465750" lvl="1" indent="-285750">
              <a:buFontTx/>
              <a:buChar char="-"/>
            </a:pPr>
            <a:endParaRPr lang="de-DE" dirty="0" smtClean="0"/>
          </a:p>
          <a:p>
            <a:pPr marL="465750" lvl="1" indent="-285750">
              <a:buFontTx/>
              <a:buChar char="-"/>
            </a:pPr>
            <a:r>
              <a:rPr lang="de-DE" dirty="0" err="1" smtClean="0"/>
              <a:t>NRDD</a:t>
            </a:r>
            <a:endParaRPr lang="de-DE" dirty="0" smtClean="0"/>
          </a:p>
          <a:p>
            <a:pPr lvl="1" indent="0">
              <a:buNone/>
            </a:pPr>
            <a:r>
              <a:rPr lang="de-DE" dirty="0" smtClean="0"/>
              <a:t>Norm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Relative </a:t>
            </a:r>
            <a:r>
              <a:rPr lang="de-DE" dirty="0" err="1" smtClean="0"/>
              <a:t>Displacement</a:t>
            </a:r>
            <a:r>
              <a:rPr lang="de-DE" dirty="0" smtClean="0"/>
              <a:t> Deviation</a:t>
            </a:r>
          </a:p>
          <a:p>
            <a:pPr lvl="1" indent="0">
              <a:buNone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Pre-processing</a:t>
            </a:r>
            <a:endParaRPr lang="de-DE" dirty="0"/>
          </a:p>
        </p:txBody>
      </p:sp>
      <p:pic>
        <p:nvPicPr>
          <p:cNvPr id="8" name="Grafik 7"/>
          <p:cNvPicPr/>
          <p:nvPr/>
        </p:nvPicPr>
        <p:blipFill rotWithShape="1">
          <a:blip r:embed="rId3"/>
          <a:srcRect l="22768"/>
          <a:stretch/>
        </p:blipFill>
        <p:spPr>
          <a:xfrm>
            <a:off x="2123728" y="1225090"/>
            <a:ext cx="1221268" cy="1008112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2" y="930305"/>
            <a:ext cx="2572109" cy="2181529"/>
          </a:xfrm>
          <a:prstGeom prst="rect">
            <a:avLst/>
          </a:prstGeom>
        </p:spPr>
      </p:pic>
      <p:cxnSp>
        <p:nvCxnSpPr>
          <p:cNvPr id="12" name="Gerade Verbindung mit Pfeil 11"/>
          <p:cNvCxnSpPr/>
          <p:nvPr/>
        </p:nvCxnSpPr>
        <p:spPr bwMode="gray">
          <a:xfrm>
            <a:off x="4067944" y="2571750"/>
            <a:ext cx="1152128" cy="648072"/>
          </a:xfrm>
          <a:prstGeom prst="straightConnector1">
            <a:avLst/>
          </a:prstGeom>
          <a:ln w="9525">
            <a:solidFill>
              <a:schemeClr val="bg2"/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/>
          <p:cNvCxnSpPr/>
          <p:nvPr/>
        </p:nvCxnSpPr>
        <p:spPr bwMode="gray">
          <a:xfrm flipH="1">
            <a:off x="5724128" y="2724150"/>
            <a:ext cx="985508" cy="648072"/>
          </a:xfrm>
          <a:prstGeom prst="straightConnector1">
            <a:avLst/>
          </a:prstGeom>
          <a:ln w="9525">
            <a:solidFill>
              <a:schemeClr val="bg2"/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/>
          <p:cNvSpPr txBox="1"/>
          <p:nvPr/>
        </p:nvSpPr>
        <p:spPr bwMode="gray">
          <a:xfrm>
            <a:off x="6084168" y="3372222"/>
            <a:ext cx="627893" cy="1992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depth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(z)</a:t>
            </a:r>
          </a:p>
        </p:txBody>
      </p:sp>
      <p:sp>
        <p:nvSpPr>
          <p:cNvPr id="16" name="Textfeld 15"/>
          <p:cNvSpPr txBox="1"/>
          <p:nvPr/>
        </p:nvSpPr>
        <p:spPr bwMode="gray">
          <a:xfrm>
            <a:off x="4065519" y="2874019"/>
            <a:ext cx="627893" cy="1992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width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(x)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hteck 16"/>
              <p:cNvSpPr/>
              <p:nvPr/>
            </p:nvSpPr>
            <p:spPr>
              <a:xfrm>
                <a:off x="1070097" y="3681954"/>
                <a:ext cx="2507225" cy="10502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𝑁𝑅𝐷𝐷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de-DE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de-DE" sz="16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</m:acc>
                                        </m:num>
                                        <m:den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</m:acc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de-DE" sz="1600" dirty="0"/>
              </a:p>
            </p:txBody>
          </p:sp>
        </mc:Choice>
        <mc:Fallback xmlns="">
          <p:sp>
            <p:nvSpPr>
              <p:cNvPr id="17" name="Rechteck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097" y="3681954"/>
                <a:ext cx="2507225" cy="10502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feld 17"/>
          <p:cNvSpPr txBox="1"/>
          <p:nvPr/>
        </p:nvSpPr>
        <p:spPr bwMode="gray">
          <a:xfrm>
            <a:off x="4693412" y="3880542"/>
            <a:ext cx="3767020" cy="838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displacement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of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the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node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n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400" dirty="0" err="1" smtClean="0">
                <a:latin typeface="+mn-lt"/>
              </a:rPr>
              <a:t>average</a:t>
            </a:r>
            <a:r>
              <a:rPr lang="de-DE" sz="1400" dirty="0" smtClean="0">
                <a:latin typeface="+mn-lt"/>
              </a:rPr>
              <a:t> </a:t>
            </a:r>
            <a:r>
              <a:rPr lang="de-DE" sz="1400" dirty="0" err="1" smtClean="0">
                <a:latin typeface="+mn-lt"/>
              </a:rPr>
              <a:t>of</a:t>
            </a:r>
            <a:r>
              <a:rPr lang="de-DE" sz="1400" dirty="0" smtClean="0">
                <a:latin typeface="+mn-lt"/>
              </a:rPr>
              <a:t> all </a:t>
            </a:r>
            <a:r>
              <a:rPr lang="de-DE" sz="1400" dirty="0" err="1" smtClean="0">
                <a:latin typeface="+mn-lt"/>
              </a:rPr>
              <a:t>displacements</a:t>
            </a:r>
            <a:endParaRPr lang="de-DE" sz="1400" dirty="0" smtClean="0">
              <a:latin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number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of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nodes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(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output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surface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hteck 5"/>
              <p:cNvSpPr/>
              <p:nvPr/>
            </p:nvSpPr>
            <p:spPr>
              <a:xfrm>
                <a:off x="4146492" y="3770258"/>
                <a:ext cx="5032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sz="1800" dirty="0"/>
              </a:p>
            </p:txBody>
          </p:sp>
        </mc:Choice>
        <mc:Fallback xmlns="">
          <p:sp>
            <p:nvSpPr>
              <p:cNvPr id="6" name="Rechteck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492" y="3770258"/>
                <a:ext cx="50327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hteck 8"/>
              <p:cNvSpPr/>
              <p:nvPr/>
            </p:nvSpPr>
            <p:spPr>
              <a:xfrm>
                <a:off x="4146492" y="4084884"/>
                <a:ext cx="3876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de-DE" sz="1800" dirty="0"/>
              </a:p>
            </p:txBody>
          </p:sp>
        </mc:Choice>
        <mc:Fallback xmlns="">
          <p:sp>
            <p:nvSpPr>
              <p:cNvPr id="9" name="Rechteck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492" y="4084884"/>
                <a:ext cx="38767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hteck 10"/>
              <p:cNvSpPr/>
              <p:nvPr/>
            </p:nvSpPr>
            <p:spPr>
              <a:xfrm>
                <a:off x="4124242" y="4373257"/>
                <a:ext cx="4227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de-DE" sz="1800" dirty="0"/>
              </a:p>
            </p:txBody>
          </p:sp>
        </mc:Choice>
        <mc:Fallback xmlns="">
          <p:sp>
            <p:nvSpPr>
              <p:cNvPr id="11" name="Rechteck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242" y="4373257"/>
                <a:ext cx="42274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image1.png"/>
          <p:cNvPicPr/>
          <p:nvPr/>
        </p:nvPicPr>
        <p:blipFill rotWithShape="1">
          <a:blip r:embed="rId9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829351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r>
              <a:rPr lang="de-DE" dirty="0" err="1" smtClean="0"/>
              <a:t>NRDD</a:t>
            </a:r>
            <a:r>
              <a:rPr lang="de-DE" dirty="0" smtClean="0"/>
              <a:t> = </a:t>
            </a:r>
            <a:r>
              <a:rPr lang="de-DE" b="1" dirty="0" smtClean="0"/>
              <a:t>0</a:t>
            </a:r>
            <a:r>
              <a:rPr lang="de-DE" dirty="0" smtClean="0"/>
              <a:t> 	</a:t>
            </a:r>
            <a:r>
              <a:rPr lang="de-DE" i="1" dirty="0" err="1" smtClean="0">
                <a:sym typeface="Wingdings" panose="05000000000000000000" pitchFamily="2" charset="2"/>
              </a:rPr>
              <a:t>perfect</a:t>
            </a:r>
            <a:r>
              <a:rPr lang="de-DE" i="1" dirty="0" smtClean="0">
                <a:sym typeface="Wingdings" panose="05000000000000000000" pitchFamily="2" charset="2"/>
              </a:rPr>
              <a:t> uniform </a:t>
            </a:r>
            <a:r>
              <a:rPr lang="de-DE" i="1" dirty="0" err="1" smtClean="0">
                <a:sym typeface="Wingdings" panose="05000000000000000000" pitchFamily="2" charset="2"/>
              </a:rPr>
              <a:t>displacements</a:t>
            </a:r>
            <a:endParaRPr lang="de-DE" i="1" dirty="0" smtClean="0">
              <a:sym typeface="Wingdings" panose="05000000000000000000" pitchFamily="2" charset="2"/>
            </a:endParaRPr>
          </a:p>
          <a:p>
            <a:pPr lvl="1" indent="0">
              <a:buNone/>
            </a:pPr>
            <a:r>
              <a:rPr lang="de-DE" dirty="0" err="1" smtClean="0">
                <a:sym typeface="Wingdings" panose="05000000000000000000" pitchFamily="2" charset="2"/>
              </a:rPr>
              <a:t>NRDD</a:t>
            </a:r>
            <a:r>
              <a:rPr lang="de-DE" dirty="0" smtClean="0">
                <a:sym typeface="Wingdings" panose="05000000000000000000" pitchFamily="2" charset="2"/>
              </a:rPr>
              <a:t> &gt; </a:t>
            </a:r>
            <a:r>
              <a:rPr lang="de-DE" b="1" dirty="0" smtClean="0">
                <a:sym typeface="Wingdings" panose="05000000000000000000" pitchFamily="2" charset="2"/>
              </a:rPr>
              <a:t>10 	</a:t>
            </a:r>
            <a:r>
              <a:rPr lang="de-DE" i="1" dirty="0" err="1" smtClean="0">
                <a:sym typeface="Wingdings" panose="05000000000000000000" pitchFamily="2" charset="2"/>
              </a:rPr>
              <a:t>poor</a:t>
            </a:r>
            <a:r>
              <a:rPr lang="de-DE" i="1" dirty="0" smtClean="0">
                <a:sym typeface="Wingdings" panose="05000000000000000000" pitchFamily="2" charset="2"/>
              </a:rPr>
              <a:t> </a:t>
            </a:r>
            <a:r>
              <a:rPr lang="de-DE" i="1" dirty="0" err="1" smtClean="0">
                <a:sym typeface="Wingdings" panose="05000000000000000000" pitchFamily="2" charset="2"/>
              </a:rPr>
              <a:t>uniformity</a:t>
            </a:r>
            <a:endParaRPr lang="de-DE" i="1" dirty="0" smtClean="0"/>
          </a:p>
          <a:p>
            <a:pPr marL="465750" lvl="1" indent="-285750">
              <a:buFontTx/>
              <a:buChar char="-"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Pre-processing</a:t>
            </a:r>
            <a:endParaRPr lang="de-DE" dirty="0"/>
          </a:p>
        </p:txBody>
      </p:sp>
      <p:pic>
        <p:nvPicPr>
          <p:cNvPr id="8" name="Grafik 7"/>
          <p:cNvPicPr/>
          <p:nvPr/>
        </p:nvPicPr>
        <p:blipFill>
          <a:blip r:embed="rId3"/>
          <a:stretch>
            <a:fillRect/>
          </a:stretch>
        </p:blipFill>
        <p:spPr>
          <a:xfrm>
            <a:off x="6336200" y="746803"/>
            <a:ext cx="2016224" cy="2051050"/>
          </a:xfrm>
          <a:prstGeom prst="rect">
            <a:avLst/>
          </a:prstGeom>
        </p:spPr>
      </p:pic>
      <p:pic>
        <p:nvPicPr>
          <p:cNvPr id="9" name="Grafik 8"/>
          <p:cNvPicPr/>
          <p:nvPr/>
        </p:nvPicPr>
        <p:blipFill>
          <a:blip r:embed="rId4"/>
          <a:stretch>
            <a:fillRect/>
          </a:stretch>
        </p:blipFill>
        <p:spPr>
          <a:xfrm>
            <a:off x="415529" y="1977985"/>
            <a:ext cx="4579620" cy="2611120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 bwMode="gray">
          <a:xfrm>
            <a:off x="611560" y="1772328"/>
            <a:ext cx="968876" cy="1983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(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NRDD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= 1.3)</a:t>
            </a:r>
          </a:p>
        </p:txBody>
      </p:sp>
      <p:pic>
        <p:nvPicPr>
          <p:cNvPr id="10" name="image1.png"/>
          <p:cNvPicPr/>
          <p:nvPr/>
        </p:nvPicPr>
        <p:blipFill rotWithShape="1">
          <a:blip r:embed="rId5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0"/>
          <p:cNvPicPr/>
          <p:nvPr/>
        </p:nvPicPr>
        <p:blipFill>
          <a:blip r:embed="rId6"/>
          <a:stretch>
            <a:fillRect/>
          </a:stretch>
        </p:blipFill>
        <p:spPr>
          <a:xfrm>
            <a:off x="6336200" y="2877225"/>
            <a:ext cx="2016224" cy="207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033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r>
              <a:rPr lang="de-DE" dirty="0" err="1" smtClean="0"/>
              <a:t>Frequencies</a:t>
            </a:r>
            <a:r>
              <a:rPr lang="de-DE" dirty="0" smtClean="0"/>
              <a:t> </a:t>
            </a:r>
            <a:r>
              <a:rPr lang="de-DE" dirty="0" err="1" smtClean="0"/>
              <a:t>above</a:t>
            </a:r>
            <a:r>
              <a:rPr lang="de-DE" dirty="0" smtClean="0"/>
              <a:t> / </a:t>
            </a:r>
            <a:r>
              <a:rPr lang="de-DE" dirty="0" err="1" smtClean="0"/>
              <a:t>below</a:t>
            </a:r>
            <a:endParaRPr lang="de-DE" i="1" dirty="0" smtClean="0"/>
          </a:p>
          <a:p>
            <a:pPr marL="465750" lvl="1" indent="-285750">
              <a:buFontTx/>
              <a:buChar char="-"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Pre-processing</a:t>
            </a:r>
            <a:endParaRPr lang="de-DE" dirty="0"/>
          </a:p>
        </p:txBody>
      </p:sp>
      <p:pic>
        <p:nvPicPr>
          <p:cNvPr id="10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0"/>
          <p:cNvPicPr/>
          <p:nvPr/>
        </p:nvPicPr>
        <p:blipFill>
          <a:blip r:embed="rId4"/>
          <a:stretch>
            <a:fillRect/>
          </a:stretch>
        </p:blipFill>
        <p:spPr>
          <a:xfrm>
            <a:off x="544932" y="1419622"/>
            <a:ext cx="3472428" cy="2640836"/>
          </a:xfrm>
          <a:prstGeom prst="rect">
            <a:avLst/>
          </a:prstGeom>
        </p:spPr>
      </p:pic>
      <p:sp>
        <p:nvSpPr>
          <p:cNvPr id="12" name="Textfeld 11"/>
          <p:cNvSpPr txBox="1"/>
          <p:nvPr/>
        </p:nvSpPr>
        <p:spPr bwMode="gray">
          <a:xfrm>
            <a:off x="4860032" y="2139702"/>
            <a:ext cx="3240360" cy="1800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None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of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the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design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points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has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a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long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.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mode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isolated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on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both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sides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with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more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than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800 Hz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endParaRPr lang="de-DE" sz="1400" dirty="0">
              <a:latin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Color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information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=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NRDD</a:t>
            </a:r>
            <a:endParaRPr lang="de-DE" sz="1400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3" name="Textfeld 12"/>
          <p:cNvSpPr txBox="1"/>
          <p:nvPr/>
        </p:nvSpPr>
        <p:spPr bwMode="gray">
          <a:xfrm>
            <a:off x="1619672" y="4088100"/>
            <a:ext cx="2016224" cy="4512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000" dirty="0" smtClean="0">
                <a:solidFill>
                  <a:schemeClr val="tx1"/>
                </a:solidFill>
                <a:latin typeface="+mn-lt"/>
              </a:rPr>
              <a:t>Delta </a:t>
            </a:r>
            <a:r>
              <a:rPr lang="de-DE" sz="1000" dirty="0" err="1" smtClean="0">
                <a:solidFill>
                  <a:schemeClr val="tx1"/>
                </a:solidFill>
                <a:latin typeface="+mn-lt"/>
              </a:rPr>
              <a:t>frequency</a:t>
            </a:r>
            <a:r>
              <a:rPr lang="de-DE" sz="10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000" dirty="0" err="1" smtClean="0">
                <a:solidFill>
                  <a:schemeClr val="tx1"/>
                </a:solidFill>
                <a:latin typeface="+mn-lt"/>
              </a:rPr>
              <a:t>below</a:t>
            </a:r>
            <a:r>
              <a:rPr lang="de-DE" sz="1000" dirty="0" smtClean="0">
                <a:solidFill>
                  <a:schemeClr val="tx1"/>
                </a:solidFill>
                <a:latin typeface="+mn-lt"/>
              </a:rPr>
              <a:t> [Hz]</a:t>
            </a:r>
            <a:endParaRPr lang="de-DE" sz="1000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Textfeld 13"/>
          <p:cNvSpPr txBox="1"/>
          <p:nvPr/>
        </p:nvSpPr>
        <p:spPr bwMode="gray">
          <a:xfrm>
            <a:off x="330952" y="1893408"/>
            <a:ext cx="207640" cy="1399892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000" dirty="0" smtClean="0">
                <a:solidFill>
                  <a:schemeClr val="tx1"/>
                </a:solidFill>
                <a:latin typeface="+mn-lt"/>
              </a:rPr>
              <a:t>Delta </a:t>
            </a:r>
            <a:r>
              <a:rPr lang="de-DE" sz="1000" dirty="0" err="1" smtClean="0">
                <a:solidFill>
                  <a:schemeClr val="tx1"/>
                </a:solidFill>
                <a:latin typeface="+mn-lt"/>
              </a:rPr>
              <a:t>frequency</a:t>
            </a:r>
            <a:r>
              <a:rPr lang="de-DE" sz="10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000" dirty="0" err="1" smtClean="0">
                <a:solidFill>
                  <a:schemeClr val="tx1"/>
                </a:solidFill>
                <a:latin typeface="+mn-lt"/>
              </a:rPr>
              <a:t>above</a:t>
            </a:r>
            <a:r>
              <a:rPr lang="de-DE" sz="1000" dirty="0" smtClean="0">
                <a:solidFill>
                  <a:schemeClr val="tx1"/>
                </a:solidFill>
                <a:latin typeface="+mn-lt"/>
              </a:rPr>
              <a:t> [Hz]</a:t>
            </a:r>
            <a:endParaRPr lang="de-DE" sz="1000" dirty="0" smtClean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7294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Result</a:t>
            </a:r>
            <a:r>
              <a:rPr lang="de-DE" dirty="0" smtClean="0"/>
              <a:t> </a:t>
            </a:r>
            <a:r>
              <a:rPr lang="de-DE" dirty="0" err="1" smtClean="0"/>
              <a:t>overview</a:t>
            </a:r>
            <a:endParaRPr lang="de-DE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968276"/>
              </p:ext>
            </p:extLst>
          </p:nvPr>
        </p:nvGraphicFramePr>
        <p:xfrm>
          <a:off x="820912" y="1275606"/>
          <a:ext cx="763952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2976">
                  <a:extLst>
                    <a:ext uri="{9D8B030D-6E8A-4147-A177-3AD203B41FA5}">
                      <a16:colId xmlns:a16="http://schemas.microsoft.com/office/drawing/2014/main" val="4052138908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2429258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1925279483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4260458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Target variable(s)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Best </a:t>
                      </a:r>
                      <a:r>
                        <a:rPr lang="de-DE" dirty="0" err="1" smtClean="0"/>
                        <a:t>estimator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Final </a:t>
                      </a:r>
                      <a:r>
                        <a:rPr lang="de-DE" dirty="0" err="1" smtClean="0"/>
                        <a:t>R²</a:t>
                      </a:r>
                      <a:r>
                        <a:rPr lang="de-DE" dirty="0" smtClean="0"/>
                        <a:t> score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 smtClean="0"/>
                        <a:t>Mean</a:t>
                      </a:r>
                      <a:r>
                        <a:rPr lang="de-DE" dirty="0" smtClean="0"/>
                        <a:t> Absolute Error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250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Frequency</a:t>
                      </a:r>
                      <a:r>
                        <a:rPr lang="de-DE" dirty="0" smtClean="0"/>
                        <a:t> </a:t>
                      </a:r>
                      <a:r>
                        <a:rPr lang="de-DE" dirty="0" err="1" smtClean="0"/>
                        <a:t>of</a:t>
                      </a:r>
                      <a:r>
                        <a:rPr lang="de-DE" dirty="0" smtClean="0"/>
                        <a:t> </a:t>
                      </a:r>
                      <a:r>
                        <a:rPr lang="de-DE" dirty="0" err="1" smtClean="0"/>
                        <a:t>the</a:t>
                      </a:r>
                      <a:r>
                        <a:rPr lang="de-DE" dirty="0" smtClean="0"/>
                        <a:t> longitudinal </a:t>
                      </a:r>
                      <a:r>
                        <a:rPr lang="de-DE" dirty="0" err="1" smtClean="0"/>
                        <a:t>mode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 smtClean="0"/>
                        <a:t>LightGBM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0.997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21 Hz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486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All </a:t>
                      </a:r>
                      <a:r>
                        <a:rPr lang="de-DE" dirty="0" err="1" smtClean="0"/>
                        <a:t>frequencies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 smtClean="0"/>
                        <a:t>LightGBM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0.998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98 Hz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856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Displacements</a:t>
                      </a:r>
                      <a:r>
                        <a:rPr lang="de-DE" baseline="0" dirty="0" smtClean="0"/>
                        <a:t> </a:t>
                      </a:r>
                      <a:r>
                        <a:rPr lang="de-DE" baseline="0" dirty="0" err="1" smtClean="0"/>
                        <a:t>of</a:t>
                      </a:r>
                      <a:r>
                        <a:rPr lang="de-DE" baseline="0" dirty="0" smtClean="0"/>
                        <a:t> </a:t>
                      </a:r>
                      <a:r>
                        <a:rPr lang="de-DE" baseline="0" dirty="0" err="1" smtClean="0"/>
                        <a:t>the</a:t>
                      </a:r>
                      <a:r>
                        <a:rPr lang="de-DE" baseline="0" dirty="0" smtClean="0"/>
                        <a:t> longitudinal </a:t>
                      </a:r>
                      <a:r>
                        <a:rPr lang="de-DE" baseline="0" dirty="0" err="1" smtClean="0"/>
                        <a:t>mode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 smtClean="0"/>
                        <a:t>Keras</a:t>
                      </a:r>
                      <a:r>
                        <a:rPr lang="de-DE" dirty="0" smtClean="0"/>
                        <a:t> </a:t>
                      </a:r>
                      <a:r>
                        <a:rPr lang="de-DE" dirty="0" err="1" smtClean="0"/>
                        <a:t>Neural</a:t>
                      </a:r>
                      <a:r>
                        <a:rPr lang="de-DE" dirty="0" smtClean="0"/>
                        <a:t> Network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0.855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604492"/>
                  </a:ext>
                </a:extLst>
              </a:tr>
            </a:tbl>
          </a:graphicData>
        </a:graphic>
      </p:graphicFrame>
      <p:sp>
        <p:nvSpPr>
          <p:cNvPr id="8" name="Rechteck 7"/>
          <p:cNvSpPr/>
          <p:nvPr/>
        </p:nvSpPr>
        <p:spPr bwMode="gray">
          <a:xfrm>
            <a:off x="829940" y="2556869"/>
            <a:ext cx="7639520" cy="994936"/>
          </a:xfrm>
          <a:prstGeom prst="rect">
            <a:avLst/>
          </a:prstGeom>
          <a:solidFill>
            <a:schemeClr val="bg1">
              <a:alpha val="7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 smtClean="0">
              <a:noFill/>
            </a:endParaRPr>
          </a:p>
        </p:txBody>
      </p:sp>
      <p:pic>
        <p:nvPicPr>
          <p:cNvPr id="9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497488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Modelling</a:t>
            </a:r>
            <a:endParaRPr lang="de-DE" dirty="0"/>
          </a:p>
        </p:txBody>
      </p:sp>
      <p:sp>
        <p:nvSpPr>
          <p:cNvPr id="8" name="Textplatzhalter 4"/>
          <p:cNvSpPr txBox="1">
            <a:spLocks/>
          </p:cNvSpPr>
          <p:nvPr/>
        </p:nvSpPr>
        <p:spPr bwMode="gray">
          <a:xfrm>
            <a:off x="453822" y="917228"/>
            <a:ext cx="8278988" cy="381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1pPr>
            <a:lvl2pPr marL="180000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2pPr>
            <a:lvl3pPr marL="358775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3pPr>
            <a:lvl4pPr marL="541338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4pPr>
            <a:lvl5pPr marL="270000" indent="-27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rabicPeriod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5pPr>
            <a:lvl6pPr marL="449263" indent="-18000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lphaLcPeriod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Wingdings" pitchFamily="2" charset="2"/>
              <a:buNone/>
              <a:defRPr sz="16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88900" indent="0" algn="l" defTabSz="914260" rtl="0" eaLnBrk="1" latinLnBrk="0" hangingPunct="1">
              <a:spcBef>
                <a:spcPts val="0"/>
              </a:spcBef>
              <a:spcAft>
                <a:spcPts val="1300"/>
              </a:spcAft>
              <a:buClr>
                <a:schemeClr val="accent2"/>
              </a:buClr>
              <a:buSzPct val="90000"/>
              <a:buFontTx/>
              <a:buNone/>
              <a:defRPr sz="1400" b="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260" rtl="0" eaLnBrk="1" latinLnBrk="0" hangingPunct="1">
              <a:spcBef>
                <a:spcPts val="0"/>
              </a:spcBef>
              <a:spcAft>
                <a:spcPts val="1300"/>
              </a:spcAft>
              <a:buFont typeface="Arial" pitchFamily="34" charset="0"/>
              <a:buNone/>
              <a:defRPr lang="de-DE" sz="14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defTabSz="914400">
              <a:buFont typeface="Wingdings" pitchFamily="2" charset="2"/>
              <a:buNone/>
            </a:pPr>
            <a:endParaRPr lang="de-DE" dirty="0" smtClean="0"/>
          </a:p>
          <a:p>
            <a:pPr lvl="1" indent="0" defTabSz="914400">
              <a:buFont typeface="Wingdings" pitchFamily="2" charset="2"/>
              <a:buNone/>
            </a:pPr>
            <a:endParaRPr lang="de-DE" dirty="0" smtClean="0"/>
          </a:p>
          <a:p>
            <a:pPr lvl="1" indent="0" defTabSz="914400">
              <a:buFont typeface="Wingdings" pitchFamily="2" charset="2"/>
              <a:buNone/>
            </a:pPr>
            <a:endParaRPr lang="de-DE" dirty="0" smtClean="0"/>
          </a:p>
          <a:p>
            <a:pPr lvl="1" indent="0" defTabSz="914400">
              <a:buFont typeface="Wingdings" pitchFamily="2" charset="2"/>
              <a:buNone/>
            </a:pPr>
            <a:endParaRPr lang="de-DE" dirty="0" smtClean="0"/>
          </a:p>
          <a:p>
            <a:pPr lvl="1" indent="0" algn="ctr" defTabSz="914400">
              <a:buFont typeface="Wingdings" pitchFamily="2" charset="2"/>
              <a:buNone/>
            </a:pPr>
            <a:r>
              <a:rPr lang="de-DE" sz="4000" i="1" dirty="0" smtClean="0"/>
              <a:t>(</a:t>
            </a:r>
            <a:r>
              <a:rPr lang="de-DE" sz="4000" i="1" dirty="0" err="1" smtClean="0"/>
              <a:t>Streamlit</a:t>
            </a:r>
            <a:r>
              <a:rPr lang="de-DE" sz="4000" i="1" dirty="0" smtClean="0"/>
              <a:t>)</a:t>
            </a:r>
          </a:p>
          <a:p>
            <a:pPr marL="465750" lvl="1" indent="-285750" defTabSz="914400">
              <a:buFontTx/>
              <a:buChar char="-"/>
            </a:pPr>
            <a:endParaRPr lang="de-DE" dirty="0"/>
          </a:p>
        </p:txBody>
      </p:sp>
      <p:pic>
        <p:nvPicPr>
          <p:cNvPr id="9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998217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Modelling</a:t>
            </a:r>
            <a:endParaRPr lang="de-DE" dirty="0"/>
          </a:p>
        </p:txBody>
      </p:sp>
      <p:sp>
        <p:nvSpPr>
          <p:cNvPr id="8" name="Textplatzhalter 4"/>
          <p:cNvSpPr txBox="1">
            <a:spLocks/>
          </p:cNvSpPr>
          <p:nvPr/>
        </p:nvSpPr>
        <p:spPr bwMode="gray">
          <a:xfrm>
            <a:off x="453822" y="917228"/>
            <a:ext cx="8278988" cy="381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1pPr>
            <a:lvl2pPr marL="180000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2pPr>
            <a:lvl3pPr marL="358775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3pPr>
            <a:lvl4pPr marL="541338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4pPr>
            <a:lvl5pPr marL="270000" indent="-27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rabicPeriod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5pPr>
            <a:lvl6pPr marL="449263" indent="-18000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lphaLcPeriod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Wingdings" pitchFamily="2" charset="2"/>
              <a:buNone/>
              <a:defRPr sz="16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88900" indent="0" algn="l" defTabSz="914260" rtl="0" eaLnBrk="1" latinLnBrk="0" hangingPunct="1">
              <a:spcBef>
                <a:spcPts val="0"/>
              </a:spcBef>
              <a:spcAft>
                <a:spcPts val="1300"/>
              </a:spcAft>
              <a:buClr>
                <a:schemeClr val="accent2"/>
              </a:buClr>
              <a:buSzPct val="90000"/>
              <a:buFontTx/>
              <a:buNone/>
              <a:defRPr sz="1400" b="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260" rtl="0" eaLnBrk="1" latinLnBrk="0" hangingPunct="1">
              <a:spcBef>
                <a:spcPts val="0"/>
              </a:spcBef>
              <a:spcAft>
                <a:spcPts val="1300"/>
              </a:spcAft>
              <a:buFont typeface="Arial" pitchFamily="34" charset="0"/>
              <a:buNone/>
              <a:defRPr lang="de-DE" sz="14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defTabSz="914400">
              <a:buNone/>
            </a:pPr>
            <a:r>
              <a:rPr lang="de-DE" dirty="0" err="1" smtClean="0"/>
              <a:t>Neural</a:t>
            </a:r>
            <a:r>
              <a:rPr lang="de-DE" dirty="0" smtClean="0"/>
              <a:t> </a:t>
            </a:r>
            <a:r>
              <a:rPr lang="de-DE" dirty="0" err="1" smtClean="0"/>
              <a:t>network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Keras</a:t>
            </a:r>
            <a:endParaRPr lang="de-DE" dirty="0"/>
          </a:p>
        </p:txBody>
      </p:sp>
      <p:pic>
        <p:nvPicPr>
          <p:cNvPr id="9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rafik 9"/>
          <p:cNvPicPr/>
          <p:nvPr/>
        </p:nvPicPr>
        <p:blipFill>
          <a:blip r:embed="rId4"/>
          <a:stretch>
            <a:fillRect/>
          </a:stretch>
        </p:blipFill>
        <p:spPr>
          <a:xfrm>
            <a:off x="647367" y="1525366"/>
            <a:ext cx="2578199" cy="1944216"/>
          </a:xfrm>
          <a:prstGeom prst="rect">
            <a:avLst/>
          </a:prstGeom>
        </p:spPr>
      </p:pic>
      <p:pic>
        <p:nvPicPr>
          <p:cNvPr id="11" name="Grafik 10"/>
          <p:cNvPicPr/>
          <p:nvPr/>
        </p:nvPicPr>
        <p:blipFill>
          <a:blip r:embed="rId5"/>
          <a:stretch>
            <a:fillRect/>
          </a:stretch>
        </p:blipFill>
        <p:spPr>
          <a:xfrm>
            <a:off x="4211046" y="1380517"/>
            <a:ext cx="4320560" cy="1336494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 bwMode="gray">
          <a:xfrm>
            <a:off x="4290984" y="970020"/>
            <a:ext cx="2801296" cy="2648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Transformation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of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the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NRDD</a:t>
            </a:r>
            <a:endParaRPr lang="de-DE" sz="1400" dirty="0" smtClean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5611" y="2826191"/>
            <a:ext cx="3768797" cy="12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26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Modelling</a:t>
            </a:r>
            <a:endParaRPr lang="de-DE" dirty="0"/>
          </a:p>
        </p:txBody>
      </p:sp>
      <p:sp>
        <p:nvSpPr>
          <p:cNvPr id="8" name="Textplatzhalter 4"/>
          <p:cNvSpPr txBox="1">
            <a:spLocks/>
          </p:cNvSpPr>
          <p:nvPr/>
        </p:nvSpPr>
        <p:spPr bwMode="gray">
          <a:xfrm>
            <a:off x="453822" y="917228"/>
            <a:ext cx="8278988" cy="381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1pPr>
            <a:lvl2pPr marL="180000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2pPr>
            <a:lvl3pPr marL="358775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3pPr>
            <a:lvl4pPr marL="541338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4pPr>
            <a:lvl5pPr marL="270000" indent="-27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rabicPeriod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5pPr>
            <a:lvl6pPr marL="449263" indent="-18000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lphaLcPeriod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Wingdings" pitchFamily="2" charset="2"/>
              <a:buNone/>
              <a:defRPr sz="16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88900" indent="0" algn="l" defTabSz="914260" rtl="0" eaLnBrk="1" latinLnBrk="0" hangingPunct="1">
              <a:spcBef>
                <a:spcPts val="0"/>
              </a:spcBef>
              <a:spcAft>
                <a:spcPts val="1300"/>
              </a:spcAft>
              <a:buClr>
                <a:schemeClr val="accent2"/>
              </a:buClr>
              <a:buSzPct val="90000"/>
              <a:buFontTx/>
              <a:buNone/>
              <a:defRPr sz="1400" b="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260" rtl="0" eaLnBrk="1" latinLnBrk="0" hangingPunct="1">
              <a:spcBef>
                <a:spcPts val="0"/>
              </a:spcBef>
              <a:spcAft>
                <a:spcPts val="1300"/>
              </a:spcAft>
              <a:buFont typeface="Arial" pitchFamily="34" charset="0"/>
              <a:buNone/>
              <a:defRPr lang="de-DE" sz="14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defTabSz="914400">
              <a:buNone/>
            </a:pPr>
            <a:r>
              <a:rPr lang="de-DE" dirty="0" err="1" smtClean="0"/>
              <a:t>Predictions</a:t>
            </a:r>
            <a:r>
              <a:rPr lang="de-DE" dirty="0" smtClean="0"/>
              <a:t> on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test</a:t>
            </a:r>
            <a:r>
              <a:rPr lang="de-DE" dirty="0" smtClean="0"/>
              <a:t> </a:t>
            </a:r>
            <a:r>
              <a:rPr lang="de-DE" dirty="0" err="1" smtClean="0"/>
              <a:t>set</a:t>
            </a:r>
            <a:r>
              <a:rPr lang="de-DE" dirty="0" smtClean="0"/>
              <a:t>			(</a:t>
            </a:r>
            <a:r>
              <a:rPr lang="de-DE" dirty="0" err="1" smtClean="0"/>
              <a:t>Residuals</a:t>
            </a:r>
            <a:r>
              <a:rPr lang="de-DE" dirty="0" smtClean="0"/>
              <a:t>)</a:t>
            </a:r>
            <a:endParaRPr lang="de-DE" dirty="0"/>
          </a:p>
        </p:txBody>
      </p:sp>
      <p:pic>
        <p:nvPicPr>
          <p:cNvPr id="9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Grafik 12"/>
          <p:cNvPicPr/>
          <p:nvPr/>
        </p:nvPicPr>
        <p:blipFill>
          <a:blip r:embed="rId4"/>
          <a:stretch>
            <a:fillRect/>
          </a:stretch>
        </p:blipFill>
        <p:spPr>
          <a:xfrm>
            <a:off x="198691" y="1466725"/>
            <a:ext cx="2884180" cy="2895083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1478" y="1521774"/>
            <a:ext cx="5519515" cy="271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947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r>
              <a:rPr lang="de-DE" dirty="0" err="1" smtClean="0"/>
              <a:t>Optimizer</a:t>
            </a:r>
            <a:endParaRPr lang="de-DE" dirty="0" smtClean="0"/>
          </a:p>
          <a:p>
            <a:pPr marL="465750" lvl="1" indent="-285750">
              <a:buFontTx/>
              <a:buChar char="-"/>
            </a:pPr>
            <a:r>
              <a:rPr lang="de-DE" dirty="0" smtClean="0"/>
              <a:t>Navigation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models</a:t>
            </a:r>
            <a:endParaRPr lang="de-DE" dirty="0" smtClean="0"/>
          </a:p>
          <a:p>
            <a:pPr marL="465750" lvl="1" indent="-285750">
              <a:buFontTx/>
              <a:buChar char="-"/>
            </a:pPr>
            <a:r>
              <a:rPr lang="de-DE" dirty="0" err="1" smtClean="0"/>
              <a:t>Cost</a:t>
            </a:r>
            <a:r>
              <a:rPr lang="de-DE" dirty="0" smtClean="0"/>
              <a:t> </a:t>
            </a:r>
            <a:r>
              <a:rPr lang="de-DE" dirty="0" err="1" smtClean="0"/>
              <a:t>functions</a:t>
            </a:r>
            <a:endParaRPr lang="de-DE" dirty="0" smtClean="0"/>
          </a:p>
          <a:p>
            <a:pPr lvl="1" indent="0">
              <a:buNone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Next </a:t>
            </a:r>
            <a:r>
              <a:rPr lang="de-DE" dirty="0" err="1" smtClean="0"/>
              <a:t>steps</a:t>
            </a:r>
            <a:r>
              <a:rPr lang="de-DE" dirty="0" smtClean="0"/>
              <a:t> &amp; </a:t>
            </a:r>
            <a:r>
              <a:rPr lang="de-DE" dirty="0" err="1" smtClean="0"/>
              <a:t>Conclusion</a:t>
            </a:r>
            <a:endParaRPr lang="de-DE" dirty="0"/>
          </a:p>
        </p:txBody>
      </p:sp>
      <p:pic>
        <p:nvPicPr>
          <p:cNvPr id="8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7" name="Gruppieren 16"/>
          <p:cNvGrpSpPr/>
          <p:nvPr/>
        </p:nvGrpSpPr>
        <p:grpSpPr>
          <a:xfrm>
            <a:off x="3855697" y="1188178"/>
            <a:ext cx="4073104" cy="1334766"/>
            <a:chOff x="3855697" y="1188178"/>
            <a:chExt cx="4073104" cy="1334766"/>
          </a:xfrm>
        </p:grpSpPr>
        <p:sp>
          <p:nvSpPr>
            <p:cNvPr id="9" name="Textfeld 8"/>
            <p:cNvSpPr txBox="1"/>
            <p:nvPr/>
          </p:nvSpPr>
          <p:spPr bwMode="gray">
            <a:xfrm>
              <a:off x="3855697" y="1188178"/>
              <a:ext cx="1152128" cy="2935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2"/>
                </a:buClr>
                <a:buSzPct val="90000"/>
              </a:pPr>
              <a:r>
                <a:rPr lang="de-DE" sz="1400" dirty="0" err="1" smtClean="0">
                  <a:solidFill>
                    <a:schemeClr val="tx1"/>
                  </a:solidFill>
                  <a:latin typeface="+mn-lt"/>
                </a:rPr>
                <a:t>cost_long_freq</a:t>
              </a:r>
              <a:endParaRPr lang="de-DE" sz="1400" dirty="0" smtClean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0" name="Textfeld 9"/>
            <p:cNvSpPr txBox="1"/>
            <p:nvPr/>
          </p:nvSpPr>
          <p:spPr bwMode="gray">
            <a:xfrm>
              <a:off x="5314958" y="1188178"/>
              <a:ext cx="1152128" cy="2935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2"/>
                </a:buClr>
                <a:buSzPct val="90000"/>
              </a:pPr>
              <a:r>
                <a:rPr lang="de-DE" sz="1400" dirty="0" err="1" smtClean="0">
                  <a:solidFill>
                    <a:schemeClr val="tx1"/>
                  </a:solidFill>
                  <a:latin typeface="+mn-lt"/>
                </a:rPr>
                <a:t>cost_all_freq</a:t>
              </a:r>
              <a:endParaRPr lang="de-DE" sz="1400" dirty="0" smtClean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1" name="Textfeld 10"/>
            <p:cNvSpPr txBox="1"/>
            <p:nvPr/>
          </p:nvSpPr>
          <p:spPr bwMode="gray">
            <a:xfrm>
              <a:off x="6776673" y="1193809"/>
              <a:ext cx="1152128" cy="2935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2"/>
                </a:buClr>
                <a:buSzPct val="90000"/>
              </a:pPr>
              <a:r>
                <a:rPr lang="de-DE" sz="1400" dirty="0" err="1" smtClean="0">
                  <a:solidFill>
                    <a:schemeClr val="tx1"/>
                  </a:solidFill>
                  <a:latin typeface="+mn-lt"/>
                </a:rPr>
                <a:t>cost_nrdd</a:t>
              </a:r>
              <a:endParaRPr lang="de-DE" sz="1400" dirty="0" smtClean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Textfeld 11"/>
            <p:cNvSpPr txBox="1"/>
            <p:nvPr/>
          </p:nvSpPr>
          <p:spPr bwMode="gray">
            <a:xfrm>
              <a:off x="5314958" y="2229406"/>
              <a:ext cx="1152128" cy="2935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2"/>
                </a:buClr>
                <a:buSzPct val="90000"/>
              </a:pPr>
              <a:r>
                <a:rPr lang="de-DE" sz="1400" b="1" dirty="0" err="1" smtClean="0">
                  <a:solidFill>
                    <a:schemeClr val="tx1"/>
                  </a:solidFill>
                  <a:latin typeface="+mn-lt"/>
                </a:rPr>
                <a:t>cost_total</a:t>
              </a:r>
              <a:endParaRPr lang="de-DE" sz="1400" b="1" dirty="0" smtClean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" name="Gerade Verbindung mit Pfeil 13"/>
            <p:cNvCxnSpPr>
              <a:stCxn id="9" idx="2"/>
            </p:cNvCxnSpPr>
            <p:nvPr/>
          </p:nvCxnSpPr>
          <p:spPr bwMode="gray">
            <a:xfrm>
              <a:off x="4431761" y="1481716"/>
              <a:ext cx="1172457" cy="642441"/>
            </a:xfrm>
            <a:prstGeom prst="straightConnector1">
              <a:avLst/>
            </a:prstGeom>
            <a:ln w="9525">
              <a:solidFill>
                <a:schemeClr val="bg2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/>
            <p:cNvCxnSpPr>
              <a:stCxn id="10" idx="2"/>
            </p:cNvCxnSpPr>
            <p:nvPr/>
          </p:nvCxnSpPr>
          <p:spPr bwMode="gray">
            <a:xfrm>
              <a:off x="5891022" y="1481716"/>
              <a:ext cx="0" cy="642441"/>
            </a:xfrm>
            <a:prstGeom prst="straightConnector1">
              <a:avLst/>
            </a:prstGeom>
            <a:ln w="9525">
              <a:solidFill>
                <a:schemeClr val="bg2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mit Pfeil 17"/>
            <p:cNvCxnSpPr>
              <a:stCxn id="11" idx="2"/>
            </p:cNvCxnSpPr>
            <p:nvPr/>
          </p:nvCxnSpPr>
          <p:spPr bwMode="gray">
            <a:xfrm flipH="1">
              <a:off x="6177827" y="1487347"/>
              <a:ext cx="1174910" cy="636810"/>
            </a:xfrm>
            <a:prstGeom prst="straightConnector1">
              <a:avLst/>
            </a:prstGeom>
            <a:ln w="9525">
              <a:solidFill>
                <a:schemeClr val="bg2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uppieren 12"/>
          <p:cNvGrpSpPr/>
          <p:nvPr/>
        </p:nvGrpSpPr>
        <p:grpSpPr>
          <a:xfrm>
            <a:off x="2843808" y="3086221"/>
            <a:ext cx="5298192" cy="355047"/>
            <a:chOff x="2843808" y="3086221"/>
            <a:chExt cx="5298192" cy="355047"/>
          </a:xfrm>
        </p:grpSpPr>
        <p:sp>
          <p:nvSpPr>
            <p:cNvPr id="22" name="Textfeld 21"/>
            <p:cNvSpPr txBox="1"/>
            <p:nvPr/>
          </p:nvSpPr>
          <p:spPr bwMode="gray">
            <a:xfrm>
              <a:off x="2843808" y="3102970"/>
              <a:ext cx="2271510" cy="338298"/>
            </a:xfrm>
            <a:prstGeom prst="rect">
              <a:avLst/>
            </a:prstGeom>
            <a:solidFill>
              <a:srgbClr val="00FFCC"/>
            </a:solidFill>
          </p:spPr>
          <p:txBody>
            <a:bodyPr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2"/>
                </a:buClr>
                <a:buSzPct val="90000"/>
              </a:pPr>
              <a:r>
                <a:rPr lang="de-DE" sz="1400" dirty="0" err="1" smtClean="0">
                  <a:solidFill>
                    <a:schemeClr val="tx1"/>
                  </a:solidFill>
                  <a:latin typeface="+mn-lt"/>
                </a:rPr>
                <a:t>scipy.differential_evolution</a:t>
              </a:r>
              <a:endParaRPr lang="de-DE" sz="1400" dirty="0" smtClean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3" name="Textfeld 22"/>
            <p:cNvSpPr txBox="1"/>
            <p:nvPr/>
          </p:nvSpPr>
          <p:spPr bwMode="gray">
            <a:xfrm>
              <a:off x="5870490" y="3086221"/>
              <a:ext cx="2271510" cy="338298"/>
            </a:xfrm>
            <a:prstGeom prst="rect">
              <a:avLst/>
            </a:prstGeom>
            <a:solidFill>
              <a:srgbClr val="00FFCC"/>
            </a:solidFill>
          </p:spPr>
          <p:txBody>
            <a:bodyPr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2"/>
                </a:buClr>
                <a:buSzPct val="90000"/>
              </a:pPr>
              <a:r>
                <a:rPr lang="de-DE" sz="1400" dirty="0" err="1" smtClean="0">
                  <a:solidFill>
                    <a:schemeClr val="tx1"/>
                  </a:solidFill>
                  <a:latin typeface="+mn-lt"/>
                </a:rPr>
                <a:t>scipy.minimize</a:t>
              </a:r>
              <a:endParaRPr lang="de-DE" sz="1400" dirty="0" smtClean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4" name="Gerade Verbindung mit Pfeil 23"/>
            <p:cNvCxnSpPr>
              <a:stCxn id="22" idx="3"/>
            </p:cNvCxnSpPr>
            <p:nvPr/>
          </p:nvCxnSpPr>
          <p:spPr bwMode="gray">
            <a:xfrm>
              <a:off x="5115318" y="3272119"/>
              <a:ext cx="620768" cy="4096"/>
            </a:xfrm>
            <a:prstGeom prst="straightConnector1">
              <a:avLst/>
            </a:prstGeom>
            <a:ln w="9525">
              <a:solidFill>
                <a:schemeClr val="bg2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27691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r>
              <a:rPr lang="de-DE" dirty="0" smtClean="0"/>
              <a:t>Lösung 1</a:t>
            </a:r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r>
              <a:rPr lang="de-DE" dirty="0" smtClean="0"/>
              <a:t>Vergleich Vorhersage / Reale Werte</a:t>
            </a:r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Optimizer</a:t>
            </a:r>
            <a:endParaRPr lang="de-DE" dirty="0"/>
          </a:p>
        </p:txBody>
      </p:sp>
      <p:pic>
        <p:nvPicPr>
          <p:cNvPr id="8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Grafik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110" y="899590"/>
            <a:ext cx="7070050" cy="1833464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8343" y="2893599"/>
            <a:ext cx="2753949" cy="198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98852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r>
              <a:rPr lang="de-DE" dirty="0" smtClean="0"/>
              <a:t>Variationsbereich mit konstanter Schlitzverteilung:</a:t>
            </a:r>
            <a:endParaRPr lang="de-DE" dirty="0"/>
          </a:p>
          <a:p>
            <a:pPr lvl="1" indent="0">
              <a:buNone/>
            </a:pPr>
            <a:r>
              <a:rPr lang="de-DE" dirty="0" err="1" smtClean="0"/>
              <a:t>dim_X</a:t>
            </a:r>
            <a:r>
              <a:rPr lang="de-DE" dirty="0"/>
              <a:t>: 100 – (175) – 195	2 Schlitze</a:t>
            </a:r>
          </a:p>
          <a:p>
            <a:pPr lvl="1" indent="0">
              <a:buNone/>
            </a:pPr>
            <a:r>
              <a:rPr lang="de-DE" dirty="0" err="1" smtClean="0"/>
              <a:t>dim_Z</a:t>
            </a:r>
            <a:r>
              <a:rPr lang="de-DE" dirty="0"/>
              <a:t>: 200 – (240) – 280	4 Schlitze</a:t>
            </a:r>
          </a:p>
          <a:p>
            <a:pPr lvl="1" indent="0">
              <a:buNone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Breiterer Bereich</a:t>
            </a:r>
            <a:endParaRPr lang="de-DE" dirty="0"/>
          </a:p>
        </p:txBody>
      </p:sp>
      <p:pic>
        <p:nvPicPr>
          <p:cNvPr id="8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/>
          <p:cNvPicPr/>
          <p:nvPr/>
        </p:nvPicPr>
        <p:blipFill>
          <a:blip r:embed="rId4"/>
          <a:stretch>
            <a:fillRect/>
          </a:stretch>
        </p:blipFill>
        <p:spPr>
          <a:xfrm>
            <a:off x="1660255" y="1770294"/>
            <a:ext cx="4855961" cy="2873860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 bwMode="gray">
          <a:xfrm>
            <a:off x="1835696" y="2480824"/>
            <a:ext cx="216024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 smtClean="0"/>
          </a:p>
        </p:txBody>
      </p:sp>
      <p:sp>
        <p:nvSpPr>
          <p:cNvPr id="10" name="Rechteck 9"/>
          <p:cNvSpPr/>
          <p:nvPr/>
        </p:nvSpPr>
        <p:spPr bwMode="gray">
          <a:xfrm>
            <a:off x="2267744" y="1826446"/>
            <a:ext cx="216024" cy="78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 smtClean="0"/>
          </a:p>
        </p:txBody>
      </p:sp>
    </p:spTree>
    <p:extLst>
      <p:ext uri="{BB962C8B-B14F-4D97-AF65-F5344CB8AC3E}">
        <p14:creationId xmlns:p14="http://schemas.microsoft.com/office/powerpoint/2010/main" val="241434944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r>
              <a:rPr lang="de-DE" dirty="0" smtClean="0"/>
              <a:t>Verteilung der Längsmoden</a:t>
            </a:r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r>
              <a:rPr lang="de-DE" dirty="0" smtClean="0"/>
              <a:t>Long. Frequenzen</a:t>
            </a:r>
          </a:p>
          <a:p>
            <a:pPr lvl="1" indent="0">
              <a:buNone/>
            </a:pPr>
            <a:r>
              <a:rPr lang="de-DE" dirty="0" smtClean="0"/>
              <a:t>+ MAC-Werte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Breiterer Bereich</a:t>
            </a:r>
            <a:endParaRPr lang="de-DE" dirty="0"/>
          </a:p>
        </p:txBody>
      </p:sp>
      <p:pic>
        <p:nvPicPr>
          <p:cNvPr id="8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0"/>
          <p:cNvPicPr/>
          <p:nvPr/>
        </p:nvPicPr>
        <p:blipFill>
          <a:blip r:embed="rId4"/>
          <a:stretch>
            <a:fillRect/>
          </a:stretch>
        </p:blipFill>
        <p:spPr>
          <a:xfrm>
            <a:off x="3131839" y="888435"/>
            <a:ext cx="4479865" cy="1323275"/>
          </a:xfrm>
          <a:prstGeom prst="rect">
            <a:avLst/>
          </a:prstGeom>
        </p:spPr>
      </p:pic>
      <p:pic>
        <p:nvPicPr>
          <p:cNvPr id="12" name="Grafik 11"/>
          <p:cNvPicPr/>
          <p:nvPr/>
        </p:nvPicPr>
        <p:blipFill>
          <a:blip r:embed="rId5"/>
          <a:stretch>
            <a:fillRect/>
          </a:stretch>
        </p:blipFill>
        <p:spPr>
          <a:xfrm>
            <a:off x="2771800" y="2383264"/>
            <a:ext cx="2867452" cy="218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0986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r>
              <a:rPr lang="de-DE" dirty="0" smtClean="0"/>
              <a:t>Alle Frequenzen</a:t>
            </a:r>
          </a:p>
          <a:p>
            <a:pPr lvl="1" indent="0">
              <a:buNone/>
            </a:pPr>
            <a:r>
              <a:rPr lang="de-DE" dirty="0" smtClean="0"/>
              <a:t>	</a:t>
            </a:r>
            <a:r>
              <a:rPr lang="de-DE" dirty="0" err="1" smtClean="0"/>
              <a:t>Schmaller</a:t>
            </a:r>
            <a:r>
              <a:rPr lang="de-DE" dirty="0" smtClean="0"/>
              <a:t> Bereich				Breiter Bereich</a:t>
            </a:r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r>
              <a:rPr lang="de-DE" dirty="0" err="1" smtClean="0"/>
              <a:t>NRDD</a:t>
            </a:r>
            <a:endParaRPr lang="de-DE" dirty="0" smtClean="0"/>
          </a:p>
          <a:p>
            <a:pPr lvl="1" indent="0">
              <a:buNone/>
            </a:pPr>
            <a:r>
              <a:rPr lang="de-DE" dirty="0"/>
              <a:t>	</a:t>
            </a:r>
            <a:r>
              <a:rPr lang="de-DE" dirty="0" err="1" smtClean="0"/>
              <a:t>Schmaller</a:t>
            </a:r>
            <a:r>
              <a:rPr lang="de-DE" dirty="0" smtClean="0"/>
              <a:t> Bereich				Breiter Bereich</a:t>
            </a:r>
          </a:p>
          <a:p>
            <a:pPr lvl="1" indent="0">
              <a:buNone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dirty="0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Vergleich der Performances</a:t>
            </a:r>
            <a:endParaRPr lang="de-DE" dirty="0"/>
          </a:p>
        </p:txBody>
      </p:sp>
      <p:pic>
        <p:nvPicPr>
          <p:cNvPr id="8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/>
          <p:cNvPicPr/>
          <p:nvPr/>
        </p:nvPicPr>
        <p:blipFill>
          <a:blip r:embed="rId4"/>
          <a:stretch>
            <a:fillRect/>
          </a:stretch>
        </p:blipFill>
        <p:spPr>
          <a:xfrm>
            <a:off x="1079663" y="1551839"/>
            <a:ext cx="4032448" cy="1199689"/>
          </a:xfrm>
          <a:prstGeom prst="rect">
            <a:avLst/>
          </a:prstGeom>
        </p:spPr>
      </p:pic>
      <p:pic>
        <p:nvPicPr>
          <p:cNvPr id="10" name="Grafik 9"/>
          <p:cNvPicPr/>
          <p:nvPr/>
        </p:nvPicPr>
        <p:blipFill>
          <a:blip r:embed="rId5"/>
          <a:stretch>
            <a:fillRect/>
          </a:stretch>
        </p:blipFill>
        <p:spPr>
          <a:xfrm>
            <a:off x="5302049" y="1601540"/>
            <a:ext cx="2850068" cy="1100286"/>
          </a:xfrm>
          <a:prstGeom prst="rect">
            <a:avLst/>
          </a:prstGeom>
        </p:spPr>
      </p:pic>
      <p:pic>
        <p:nvPicPr>
          <p:cNvPr id="11" name="Grafik 10"/>
          <p:cNvPicPr/>
          <p:nvPr/>
        </p:nvPicPr>
        <p:blipFill>
          <a:blip r:embed="rId6"/>
          <a:stretch>
            <a:fillRect/>
          </a:stretch>
        </p:blipFill>
        <p:spPr>
          <a:xfrm>
            <a:off x="827584" y="4147165"/>
            <a:ext cx="3614420" cy="270510"/>
          </a:xfrm>
          <a:prstGeom prst="rect">
            <a:avLst/>
          </a:prstGeom>
        </p:spPr>
      </p:pic>
      <p:pic>
        <p:nvPicPr>
          <p:cNvPr id="12" name="Grafik 11"/>
          <p:cNvPicPr/>
          <p:nvPr/>
        </p:nvPicPr>
        <p:blipFill>
          <a:blip r:embed="rId7"/>
          <a:stretch>
            <a:fillRect/>
          </a:stretch>
        </p:blipFill>
        <p:spPr>
          <a:xfrm>
            <a:off x="4949718" y="4147165"/>
            <a:ext cx="3554730" cy="30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5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r>
              <a:rPr lang="de-DE" dirty="0" err="1" smtClean="0"/>
              <a:t>PCA</a:t>
            </a:r>
            <a:r>
              <a:rPr lang="de-DE" dirty="0" smtClean="0"/>
              <a:t> (</a:t>
            </a:r>
            <a:r>
              <a:rPr lang="de-DE" dirty="0" err="1" smtClean="0"/>
              <a:t>Principal</a:t>
            </a:r>
            <a:r>
              <a:rPr lang="de-DE" dirty="0" smtClean="0"/>
              <a:t> </a:t>
            </a:r>
            <a:r>
              <a:rPr lang="de-DE" dirty="0" err="1" smtClean="0"/>
              <a:t>Component</a:t>
            </a:r>
            <a:r>
              <a:rPr lang="de-DE" dirty="0" smtClean="0"/>
              <a:t> Analysis)</a:t>
            </a:r>
          </a:p>
          <a:p>
            <a:pPr lvl="1" indent="0">
              <a:buNone/>
            </a:pPr>
            <a:r>
              <a:rPr lang="de-DE" dirty="0" smtClean="0">
                <a:sym typeface="Wingdings" panose="05000000000000000000" pitchFamily="2" charset="2"/>
              </a:rPr>
              <a:t> </a:t>
            </a:r>
            <a:r>
              <a:rPr lang="de-DE" dirty="0" smtClean="0"/>
              <a:t>transformiert korrelierte Variablen in neue, </a:t>
            </a:r>
            <a:r>
              <a:rPr lang="de-DE" dirty="0" err="1" smtClean="0"/>
              <a:t>unkorrelierte</a:t>
            </a:r>
            <a:r>
              <a:rPr lang="de-DE" dirty="0" smtClean="0"/>
              <a:t> Variablen</a:t>
            </a:r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r>
              <a:rPr lang="de-DE" dirty="0" smtClean="0"/>
              <a:t>Verschiebungen der 400 Knoten </a:t>
            </a:r>
            <a:r>
              <a:rPr lang="de-DE" dirty="0" smtClean="0">
                <a:sym typeface="Wingdings" panose="05000000000000000000" pitchFamily="2" charset="2"/>
              </a:rPr>
              <a:t> 10 Komponenten</a:t>
            </a:r>
            <a:endParaRPr lang="de-DE" dirty="0" smtClean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Dimensionsreduktion</a:t>
            </a:r>
            <a:endParaRPr lang="de-DE" dirty="0"/>
          </a:p>
        </p:txBody>
      </p:sp>
      <p:pic>
        <p:nvPicPr>
          <p:cNvPr id="8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2283718"/>
            <a:ext cx="3168851" cy="232343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2787" y="3003798"/>
            <a:ext cx="4029637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734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431800" y="864394"/>
            <a:ext cx="4428232" cy="3814762"/>
          </a:xfrm>
        </p:spPr>
        <p:txBody>
          <a:bodyPr/>
          <a:lstStyle/>
          <a:p>
            <a:pPr lvl="1" indent="0">
              <a:buNone/>
            </a:pPr>
            <a:r>
              <a:rPr lang="de-DE" dirty="0" smtClean="0"/>
              <a:t>Nutzen aus der Weiterbildung</a:t>
            </a:r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r>
              <a:rPr lang="de-DE" dirty="0" smtClean="0"/>
              <a:t>1) Materialparameterermittlung</a:t>
            </a:r>
          </a:p>
          <a:p>
            <a:pPr lvl="1" indent="0">
              <a:buNone/>
            </a:pPr>
            <a:endParaRPr lang="de-DE" dirty="0" smtClean="0"/>
          </a:p>
          <a:p>
            <a:pPr marL="465750" lvl="1" indent="-285750">
              <a:buFontTx/>
              <a:buChar char="-"/>
            </a:pPr>
            <a:r>
              <a:rPr lang="de-DE" dirty="0" smtClean="0"/>
              <a:t>Skalierung / Transformation </a:t>
            </a:r>
            <a:r>
              <a:rPr lang="de-DE" dirty="0" smtClean="0"/>
              <a:t>der Variablen</a:t>
            </a:r>
          </a:p>
          <a:p>
            <a:pPr marL="465750" lvl="1" indent="-285750">
              <a:buFontTx/>
              <a:buChar char="-"/>
            </a:pPr>
            <a:r>
              <a:rPr lang="de-DE" dirty="0" smtClean="0"/>
              <a:t>Globaler + Lokaler </a:t>
            </a:r>
            <a:r>
              <a:rPr lang="de-DE" dirty="0" err="1" smtClean="0"/>
              <a:t>Optimizer</a:t>
            </a:r>
            <a:endParaRPr lang="de-DE" dirty="0" smtClean="0"/>
          </a:p>
          <a:p>
            <a:pPr marL="465750" lvl="1" indent="-285750">
              <a:buFontTx/>
              <a:buChar char="-"/>
            </a:pPr>
            <a:r>
              <a:rPr lang="de-DE" dirty="0" smtClean="0"/>
              <a:t>Clustering </a:t>
            </a:r>
            <a:r>
              <a:rPr lang="de-DE" dirty="0" err="1" smtClean="0"/>
              <a:t>Method</a:t>
            </a:r>
            <a:r>
              <a:rPr lang="de-DE" dirty="0" smtClean="0"/>
              <a:t> für die Modenzuordnung</a:t>
            </a:r>
          </a:p>
          <a:p>
            <a:pPr marL="465750" lvl="1" indent="-285750">
              <a:buFontTx/>
              <a:buChar char="-"/>
            </a:pPr>
            <a:r>
              <a:rPr lang="de-DE" dirty="0" smtClean="0"/>
              <a:t>Idee: Expl. und Target Variablen tauschen</a:t>
            </a:r>
          </a:p>
          <a:p>
            <a:pPr marL="644525" lvl="2" indent="-285750">
              <a:buFontTx/>
              <a:buChar char="-"/>
            </a:pPr>
            <a:r>
              <a:rPr lang="de-DE" dirty="0" smtClean="0"/>
              <a:t>Eigenfrequenzen sind die Eingaben</a:t>
            </a:r>
          </a:p>
          <a:p>
            <a:pPr marL="644525" lvl="2" indent="-285750">
              <a:buFontTx/>
              <a:buChar char="-"/>
            </a:pPr>
            <a:r>
              <a:rPr lang="de-DE" dirty="0" smtClean="0"/>
              <a:t>Gesucht werden die Materialkonstanten</a:t>
            </a:r>
          </a:p>
          <a:p>
            <a:pPr marL="644525" lvl="2" indent="-285750">
              <a:buFontTx/>
              <a:buChar char="-"/>
            </a:pPr>
            <a:endParaRPr lang="de-DE" dirty="0" smtClean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Dimensionsreduktion</a:t>
            </a:r>
            <a:endParaRPr lang="de-DE" dirty="0"/>
          </a:p>
        </p:txBody>
      </p:sp>
      <p:pic>
        <p:nvPicPr>
          <p:cNvPr id="8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extplatzhalter 4"/>
          <p:cNvSpPr txBox="1">
            <a:spLocks/>
          </p:cNvSpPr>
          <p:nvPr/>
        </p:nvSpPr>
        <p:spPr bwMode="gray">
          <a:xfrm>
            <a:off x="4572000" y="862644"/>
            <a:ext cx="4428232" cy="381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1pPr>
            <a:lvl2pPr marL="180000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2pPr>
            <a:lvl3pPr marL="358775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3pPr>
            <a:lvl4pPr marL="541338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4pPr>
            <a:lvl5pPr marL="270000" indent="-27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rabicPeriod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5pPr>
            <a:lvl6pPr marL="449263" indent="-18000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lphaLcPeriod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Wingdings" pitchFamily="2" charset="2"/>
              <a:buNone/>
              <a:defRPr sz="16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88900" indent="0" algn="l" defTabSz="914260" rtl="0" eaLnBrk="1" latinLnBrk="0" hangingPunct="1">
              <a:spcBef>
                <a:spcPts val="0"/>
              </a:spcBef>
              <a:spcAft>
                <a:spcPts val="1300"/>
              </a:spcAft>
              <a:buClr>
                <a:schemeClr val="accent2"/>
              </a:buClr>
              <a:buSzPct val="90000"/>
              <a:buFontTx/>
              <a:buNone/>
              <a:defRPr sz="1400" b="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260" rtl="0" eaLnBrk="1" latinLnBrk="0" hangingPunct="1">
              <a:spcBef>
                <a:spcPts val="0"/>
              </a:spcBef>
              <a:spcAft>
                <a:spcPts val="1300"/>
              </a:spcAft>
              <a:buFont typeface="Arial" pitchFamily="34" charset="0"/>
              <a:buNone/>
              <a:defRPr lang="de-DE" sz="14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defTabSz="914400">
              <a:buFont typeface="Wingdings" pitchFamily="2" charset="2"/>
              <a:buNone/>
            </a:pPr>
            <a:endParaRPr lang="de-DE" dirty="0" smtClean="0"/>
          </a:p>
          <a:p>
            <a:pPr lvl="1" indent="0" defTabSz="914400">
              <a:buFont typeface="Wingdings" pitchFamily="2" charset="2"/>
              <a:buNone/>
            </a:pPr>
            <a:endParaRPr lang="de-DE" dirty="0"/>
          </a:p>
          <a:p>
            <a:pPr lvl="1" indent="0" defTabSz="914400">
              <a:buFont typeface="Wingdings" pitchFamily="2" charset="2"/>
              <a:buNone/>
            </a:pPr>
            <a:r>
              <a:rPr lang="de-DE" dirty="0" smtClean="0"/>
              <a:t>2) </a:t>
            </a:r>
            <a:r>
              <a:rPr lang="de-DE" dirty="0" err="1" smtClean="0"/>
              <a:t>Streamlit</a:t>
            </a:r>
            <a:r>
              <a:rPr lang="de-DE" dirty="0" smtClean="0"/>
              <a:t> – Einfache </a:t>
            </a:r>
            <a:r>
              <a:rPr lang="de-DE" dirty="0" err="1" smtClean="0"/>
              <a:t>GUI</a:t>
            </a:r>
            <a:endParaRPr lang="de-DE" dirty="0" smtClean="0"/>
          </a:p>
          <a:p>
            <a:pPr lvl="1" indent="0" defTabSz="914400">
              <a:buFont typeface="Wingdings" pitchFamily="2" charset="2"/>
              <a:buNone/>
            </a:pPr>
            <a:endParaRPr lang="de-DE" dirty="0" smtClean="0"/>
          </a:p>
          <a:p>
            <a:pPr marL="465750" lvl="1" indent="-285750" defTabSz="914400">
              <a:buFontTx/>
              <a:buChar char="-"/>
            </a:pPr>
            <a:r>
              <a:rPr lang="de-DE" dirty="0" smtClean="0"/>
              <a:t>Eingabeparameter</a:t>
            </a:r>
          </a:p>
          <a:p>
            <a:pPr marL="465750" lvl="1" indent="-285750" defTabSz="914400">
              <a:buFontTx/>
              <a:buChar char="-"/>
            </a:pPr>
            <a:r>
              <a:rPr lang="de-DE" dirty="0" smtClean="0"/>
              <a:t>Datenvisualisierung</a:t>
            </a:r>
          </a:p>
          <a:p>
            <a:pPr marL="644525" lvl="2" indent="-285750" defTabSz="914400">
              <a:buFontTx/>
              <a:buChar char="-"/>
            </a:pPr>
            <a:endParaRPr lang="de-DE" dirty="0" smtClean="0"/>
          </a:p>
          <a:p>
            <a:pPr lvl="1" indent="0" defTabSz="914400">
              <a:buFont typeface="Wingdings" pitchFamily="2" charset="2"/>
              <a:buNone/>
            </a:pPr>
            <a:endParaRPr lang="de-DE" dirty="0" smtClean="0"/>
          </a:p>
          <a:p>
            <a:pPr lvl="1" indent="0" defTabSz="914400">
              <a:buFont typeface="Wingdings" pitchFamily="2" charset="2"/>
              <a:buNone/>
            </a:pPr>
            <a:endParaRPr lang="de-DE" dirty="0" smtClean="0"/>
          </a:p>
          <a:p>
            <a:pPr lvl="1" indent="0" defTabSz="914400">
              <a:buFont typeface="Wingdings" pitchFamily="2" charset="2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232851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530B-3EE4-4998-A998-EBC0EA00952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39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ISPRING_RESOURCE_PATHS_HASH_2" val="8e5293b899b407db44c384a3ca52afbd91fed16"/>
  <p:tag name="FINNOVA_CATEGORY" val="None"/>
  <p:tag name="ISPRING_RESOURCE_PATHS_HASH_PRESENTER" val="9873763661c552a285dbeabd15893f184a3bf72"/>
</p:tagLst>
</file>

<file path=ppt/theme/theme1.xml><?xml version="1.0" encoding="utf-8"?>
<a:theme xmlns:a="http://schemas.openxmlformats.org/drawingml/2006/main" name="Herrmann_Ultraschall_Template_01_EXP">
  <a:themeElements>
    <a:clrScheme name="HerrmannUltraschall">
      <a:dk1>
        <a:srgbClr val="333333"/>
      </a:dk1>
      <a:lt1>
        <a:sysClr val="window" lastClr="FFFFFF"/>
      </a:lt1>
      <a:dk2>
        <a:srgbClr val="C8C8C8"/>
      </a:dk2>
      <a:lt2>
        <a:srgbClr val="595959"/>
      </a:lt2>
      <a:accent1>
        <a:srgbClr val="007BBD"/>
      </a:accent1>
      <a:accent2>
        <a:srgbClr val="FF0000"/>
      </a:accent2>
      <a:accent3>
        <a:srgbClr val="D9D9D9"/>
      </a:accent3>
      <a:accent4>
        <a:srgbClr val="595959"/>
      </a:accent4>
      <a:accent5>
        <a:srgbClr val="008080"/>
      </a:accent5>
      <a:accent6>
        <a:srgbClr val="948A54"/>
      </a:accent6>
      <a:hlink>
        <a:srgbClr val="007BBD"/>
      </a:hlink>
      <a:folHlink>
        <a:srgbClr val="007BBD"/>
      </a:folHlink>
    </a:clrScheme>
    <a:fontScheme name="Hermann Ultraschall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2"/>
        </a:solidFill>
        <a:ln>
          <a:noFill/>
        </a:ln>
      </a:spPr>
      <a:bodyPr lIns="72000" tIns="72000" rIns="72000" bIns="72000" rtlCol="0" anchor="ctr"/>
      <a:lstStyle>
        <a:defPPr algn="ctr">
          <a:spcBef>
            <a:spcPts val="300"/>
          </a:spcBef>
          <a:spcAft>
            <a:spcPts val="300"/>
          </a:spcAft>
          <a:defRPr sz="14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bg2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>
          <a:spcBef>
            <a:spcPts val="300"/>
          </a:spcBef>
          <a:spcAft>
            <a:spcPts val="300"/>
          </a:spcAft>
          <a:buClr>
            <a:schemeClr val="accent2"/>
          </a:buClr>
          <a:buSzPct val="90000"/>
          <a:buFont typeface="Wingdings" panose="05000000000000000000" pitchFamily="2" charset="2"/>
          <a:buChar char="§"/>
          <a:defRPr sz="1400" dirty="0" err="1" smtClean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UG_PPT-Vorlage_DEU_220524(SUl)" id="{5F8270AA-FF72-4F5B-8154-785FC7475741}" vid="{92324E19-A43C-4383-857C-DC3889C1272F}"/>
    </a:ext>
  </a:extLst>
</a:theme>
</file>

<file path=ppt/theme/theme2.xml><?xml version="1.0" encoding="utf-8"?>
<a:theme xmlns:a="http://schemas.openxmlformats.org/drawingml/2006/main" name="Office-Design">
  <a:themeElements>
    <a:clrScheme name="Benutzerdefiniert 1">
      <a:dk1>
        <a:srgbClr val="333333"/>
      </a:dk1>
      <a:lt1>
        <a:sysClr val="window" lastClr="FFFFFF"/>
      </a:lt1>
      <a:dk2>
        <a:srgbClr val="D6D6D6"/>
      </a:dk2>
      <a:lt2>
        <a:srgbClr val="595959"/>
      </a:lt2>
      <a:accent1>
        <a:srgbClr val="FF0000"/>
      </a:accent1>
      <a:accent2>
        <a:srgbClr val="FF0000"/>
      </a:accent2>
      <a:accent3>
        <a:srgbClr val="007CD6"/>
      </a:accent3>
      <a:accent4>
        <a:srgbClr val="B800B8"/>
      </a:accent4>
      <a:accent5>
        <a:srgbClr val="007C7C"/>
      </a:accent5>
      <a:accent6>
        <a:srgbClr val="D67C54"/>
      </a:accent6>
      <a:hlink>
        <a:srgbClr val="007CD6"/>
      </a:hlink>
      <a:folHlink>
        <a:srgbClr val="007CD6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2"/>
        </a:solidFill>
        <a:ln>
          <a:noFill/>
        </a:ln>
      </a:spPr>
      <a:bodyPr lIns="72000" tIns="72000" rIns="72000" bIns="72000" rtlCol="0" anchor="ctr"/>
      <a:lstStyle>
        <a:defPPr algn="ctr">
          <a:spcBef>
            <a:spcPts val="300"/>
          </a:spcBef>
          <a:spcAft>
            <a:spcPts val="300"/>
          </a:spcAft>
          <a:defRPr sz="14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bg2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>
          <a:spcBef>
            <a:spcPts val="200"/>
          </a:spcBef>
          <a:spcAft>
            <a:spcPts val="200"/>
          </a:spcAft>
          <a:buClr>
            <a:schemeClr val="accent2"/>
          </a:buClr>
          <a:buSzPct val="90000"/>
          <a:buFont typeface="Wingdings" panose="05000000000000000000" pitchFamily="2" charset="2"/>
          <a:buChar char="§"/>
          <a:defRPr sz="1200" dirty="0" err="1" smtClean="0">
            <a:solidFill>
              <a:schemeClr val="tx1"/>
            </a:solidFill>
            <a:latin typeface="+mn-l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Larissa">
  <a:themeElements>
    <a:clrScheme name="Herrmann Ultraschall">
      <a:dk1>
        <a:srgbClr val="333333"/>
      </a:dk1>
      <a:lt1>
        <a:sysClr val="window" lastClr="FFFFFF"/>
      </a:lt1>
      <a:dk2>
        <a:srgbClr val="C8C8C8"/>
      </a:dk2>
      <a:lt2>
        <a:srgbClr val="595959"/>
      </a:lt2>
      <a:accent1>
        <a:srgbClr val="900000"/>
      </a:accent1>
      <a:accent2>
        <a:srgbClr val="FF0000"/>
      </a:accent2>
      <a:accent3>
        <a:srgbClr val="2773BE"/>
      </a:accent3>
      <a:accent4>
        <a:srgbClr val="63A1DF"/>
      </a:accent4>
      <a:accent5>
        <a:srgbClr val="366735"/>
      </a:accent5>
      <a:accent6>
        <a:srgbClr val="5CAA5A"/>
      </a:accent6>
      <a:hlink>
        <a:srgbClr val="3F3F3F"/>
      </a:hlink>
      <a:folHlink>
        <a:srgbClr val="3F3F3F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2"/>
        </a:solidFill>
        <a:ln>
          <a:noFill/>
        </a:ln>
      </a:spPr>
      <a:bodyPr lIns="72000" tIns="72000" rIns="72000" bIns="72000" rtlCol="0" anchor="ctr"/>
      <a:lstStyle>
        <a:defPPr algn="ctr">
          <a:spcBef>
            <a:spcPts val="300"/>
          </a:spcBef>
          <a:spcAft>
            <a:spcPts val="300"/>
          </a:spcAft>
          <a:defRPr sz="14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bg2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>
          <a:spcBef>
            <a:spcPts val="200"/>
          </a:spcBef>
          <a:spcAft>
            <a:spcPts val="200"/>
          </a:spcAft>
          <a:buClr>
            <a:schemeClr val="accent2"/>
          </a:buClr>
          <a:buSzPct val="90000"/>
          <a:buFont typeface="Wingdings" panose="05000000000000000000" pitchFamily="2" charset="2"/>
          <a:buChar char="§"/>
          <a:defRPr sz="1200" dirty="0" err="1" smtClean="0">
            <a:solidFill>
              <a:schemeClr val="tx1"/>
            </a:solidFill>
            <a:latin typeface="+mn-lt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HUG_PPT-Vorlage_DEU_220524(SUl)</Template>
  <TotalTime>0</TotalTime>
  <Words>2418</Words>
  <Application>Microsoft Office PowerPoint</Application>
  <PresentationFormat>Bildschirmpräsentation (16:9)</PresentationFormat>
  <Paragraphs>441</Paragraphs>
  <Slides>21</Slides>
  <Notes>21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9" baseType="lpstr">
      <vt:lpstr>ＭＳ Ｐゴシック</vt:lpstr>
      <vt:lpstr>Arial</vt:lpstr>
      <vt:lpstr>Arial Narrow</vt:lpstr>
      <vt:lpstr>Calibri</vt:lpstr>
      <vt:lpstr>Cambria Math</vt:lpstr>
      <vt:lpstr>Courier New</vt:lpstr>
      <vt:lpstr>Wingdings</vt:lpstr>
      <vt:lpstr>Herrmann_Ultraschall_Template_01_EXP</vt:lpstr>
      <vt:lpstr>Francois Brouet – sep24_continuous_ds</vt:lpstr>
      <vt:lpstr>PowerPoint-Präsentation</vt:lpstr>
      <vt:lpstr>Context</vt:lpstr>
      <vt:lpstr>Goal</vt:lpstr>
      <vt:lpstr>Data exploration</vt:lpstr>
      <vt:lpstr>Data exploration</vt:lpstr>
      <vt:lpstr>Pre-processing</vt:lpstr>
      <vt:lpstr>Pre-processing</vt:lpstr>
      <vt:lpstr>Pre-processing</vt:lpstr>
      <vt:lpstr>Result overview</vt:lpstr>
      <vt:lpstr>Modelling</vt:lpstr>
      <vt:lpstr>Modelling</vt:lpstr>
      <vt:lpstr>Modelling</vt:lpstr>
      <vt:lpstr>Next steps &amp; Conclusion</vt:lpstr>
      <vt:lpstr>Optimizer</vt:lpstr>
      <vt:lpstr>Breiterer Bereich</vt:lpstr>
      <vt:lpstr>Breiterer Bereich</vt:lpstr>
      <vt:lpstr>Vergleich der Performances</vt:lpstr>
      <vt:lpstr>Dimensionsreduktion</vt:lpstr>
      <vt:lpstr>Dimensionsreduktion</vt:lpstr>
      <vt:lpstr>PowerPoint-Präsentation</vt:lpstr>
    </vt:vector>
  </TitlesOfParts>
  <Company>Herrmann Ultraschalltechnik GmbH &amp; Co KG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Brouet, Francois</dc:creator>
  <cp:lastModifiedBy>Brouet, Francois</cp:lastModifiedBy>
  <cp:revision>184</cp:revision>
  <cp:lastPrinted>2024-10-28T09:15:24Z</cp:lastPrinted>
  <dcterms:created xsi:type="dcterms:W3CDTF">2024-10-21T06:24:53Z</dcterms:created>
  <dcterms:modified xsi:type="dcterms:W3CDTF">2025-09-03T06:21:06Z</dcterms:modified>
</cp:coreProperties>
</file>