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19"/>
  </p:notesMasterIdLst>
  <p:handoutMasterIdLst>
    <p:handoutMasterId r:id="rId20"/>
  </p:handoutMasterIdLst>
  <p:sldIdLst>
    <p:sldId id="383" r:id="rId2"/>
    <p:sldId id="378" r:id="rId3"/>
    <p:sldId id="394" r:id="rId4"/>
    <p:sldId id="398" r:id="rId5"/>
    <p:sldId id="399" r:id="rId6"/>
    <p:sldId id="405" r:id="rId7"/>
    <p:sldId id="400" r:id="rId8"/>
    <p:sldId id="401" r:id="rId9"/>
    <p:sldId id="402" r:id="rId10"/>
    <p:sldId id="407" r:id="rId11"/>
    <p:sldId id="403" r:id="rId12"/>
    <p:sldId id="408" r:id="rId13"/>
    <p:sldId id="409" r:id="rId14"/>
    <p:sldId id="412" r:id="rId15"/>
    <p:sldId id="410" r:id="rId16"/>
    <p:sldId id="411" r:id="rId17"/>
    <p:sldId id="381" r:id="rId18"/>
  </p:sldIdLst>
  <p:sldSz cx="9144000" cy="5143500" type="screen16x9"/>
  <p:notesSz cx="6645275" cy="9775825"/>
  <p:custDataLst>
    <p:tags r:id="rId21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78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408"/>
            <p14:sldId id="409"/>
            <p14:sldId id="412"/>
            <p14:sldId id="410"/>
            <p14:sldId id="411"/>
            <p14:sldId id="381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CC"/>
    <a:srgbClr val="99FF66"/>
    <a:srgbClr val="007BBD"/>
    <a:srgbClr val="000000"/>
    <a:srgbClr val="05FFFF"/>
    <a:srgbClr val="D9D9D9"/>
    <a:srgbClr val="333333"/>
    <a:srgbClr val="FF0000"/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70957" autoAdjust="0"/>
  </p:normalViewPr>
  <p:slideViewPr>
    <p:cSldViewPr snapToObjects="1">
      <p:cViewPr varScale="1">
        <p:scale>
          <a:sx n="152" d="100"/>
          <a:sy n="152" d="100"/>
        </p:scale>
        <p:origin x="1986" y="216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01.09.2025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Good</a:t>
            </a:r>
            <a:r>
              <a:rPr lang="de-DE" dirty="0" smtClean="0"/>
              <a:t> </a:t>
            </a:r>
            <a:r>
              <a:rPr lang="de-DE" dirty="0" err="1" smtClean="0"/>
              <a:t>afternoon</a:t>
            </a:r>
            <a:r>
              <a:rPr lang="de-DE" dirty="0" smtClean="0"/>
              <a:t>, I am </a:t>
            </a:r>
            <a:r>
              <a:rPr lang="de-DE" dirty="0" err="1" smtClean="0"/>
              <a:t>pleased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today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my</a:t>
            </a:r>
            <a:r>
              <a:rPr lang="de-DE" baseline="0" dirty="0" smtClean="0"/>
              <a:t> Data Science Project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The </a:t>
            </a:r>
            <a:r>
              <a:rPr lang="de-DE" dirty="0" err="1" smtClean="0"/>
              <a:t>presentation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divided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following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sections</a:t>
            </a:r>
            <a:r>
              <a:rPr lang="de-DE" baseline="0" dirty="0" smtClean="0"/>
              <a:t>: I will </a:t>
            </a:r>
            <a:r>
              <a:rPr lang="de-DE" baseline="0" dirty="0" err="1" smtClean="0"/>
              <a:t>show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elements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switch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streamlit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baseline="0" dirty="0" smtClean="0"/>
              <a:t>After a </a:t>
            </a:r>
            <a:r>
              <a:rPr lang="de-DE" baseline="0" dirty="0" err="1" smtClean="0"/>
              <a:t>short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introduction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and</a:t>
            </a:r>
            <a:r>
              <a:rPr lang="de-DE" baseline="0" dirty="0" smtClean="0"/>
              <a:t> finish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outlook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endParaRPr lang="de-DE" baseline="0" dirty="0" smtClean="0"/>
          </a:p>
          <a:p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err="1" smtClean="0"/>
              <a:t>Principle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r>
              <a:rPr lang="de-DE" dirty="0" smtClean="0"/>
              <a:t> </a:t>
            </a:r>
            <a:r>
              <a:rPr lang="de-DE" dirty="0" err="1" smtClean="0"/>
              <a:t>transforms</a:t>
            </a:r>
            <a:r>
              <a:rPr lang="de-DE" dirty="0" smtClean="0"/>
              <a:t> </a:t>
            </a:r>
            <a:r>
              <a:rPr lang="de-DE" dirty="0" err="1" smtClean="0"/>
              <a:t>this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</a:t>
            </a:r>
            <a:r>
              <a:rPr lang="de-DE" dirty="0" err="1" smtClean="0"/>
              <a:t>heat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material </a:t>
            </a:r>
            <a:r>
              <a:rPr lang="de-DE" dirty="0" err="1" smtClean="0"/>
              <a:t>begins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</a:t>
            </a:r>
            <a:r>
              <a:rPr lang="de-DE" dirty="0" err="1" smtClean="0"/>
              <a:t>compresses</a:t>
            </a:r>
            <a:r>
              <a:rPr lang="de-DE" dirty="0" smtClean="0"/>
              <a:t> </a:t>
            </a:r>
            <a:r>
              <a:rPr lang="de-DE" dirty="0" err="1" smtClean="0"/>
              <a:t>it</a:t>
            </a:r>
            <a:r>
              <a:rPr lang="de-DE" dirty="0" smtClean="0"/>
              <a:t>, 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</a:t>
            </a:r>
            <a:r>
              <a:rPr lang="de-DE" baseline="0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deformed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</a:t>
            </a:r>
            <a:r>
              <a:rPr lang="de-DE" dirty="0" err="1" smtClean="0"/>
              <a:t>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these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(calculation of 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very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so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smtClean="0"/>
              <a:t>FEM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frequencies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 particular those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displacements’ uniformity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rather than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sonotrode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introduce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in a </a:t>
            </a:r>
            <a:r>
              <a:rPr lang="de-DE" baseline="0" dirty="0" err="1" smtClean="0"/>
              <a:t>range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alll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perfect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FEM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a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distinct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generated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DPs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within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ensure</a:t>
            </a:r>
            <a:r>
              <a:rPr lang="de-DE" baseline="0" dirty="0" smtClean="0"/>
              <a:t> valid sonotrode geometries.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DPs.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err="1" smtClean="0"/>
              <a:t>There</a:t>
            </a:r>
            <a:r>
              <a:rPr lang="de-DE" dirty="0" smtClean="0"/>
              <a:t> </a:t>
            </a:r>
            <a:r>
              <a:rPr lang="de-DE" dirty="0" err="1" smtClean="0"/>
              <a:t>are</a:t>
            </a:r>
            <a:r>
              <a:rPr lang="de-DE" dirty="0" smtClean="0"/>
              <a:t> 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parameters</a:t>
            </a:r>
            <a:r>
              <a:rPr lang="de-DE" dirty="0" smtClean="0"/>
              <a:t> (</a:t>
            </a:r>
            <a:r>
              <a:rPr lang="de-DE" dirty="0" err="1" smtClean="0"/>
              <a:t>concatenation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3 </a:t>
            </a:r>
            <a:r>
              <a:rPr lang="de-DE" dirty="0" err="1" smtClean="0"/>
              <a:t>groups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smtClean="0"/>
              <a:t>  * 1st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second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final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="1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1001, all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XYZ </a:t>
            </a:r>
            <a:r>
              <a:rPr lang="de-DE" dirty="0" err="1" smtClean="0"/>
              <a:t>located</a:t>
            </a:r>
            <a:r>
              <a:rPr lang="de-DE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="1" dirty="0" err="1" smtClean="0"/>
              <a:t>displacements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contains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DP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move</a:t>
            </a:r>
            <a:r>
              <a:rPr lang="de-DE" dirty="0" smtClean="0"/>
              <a:t> on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baseline="0" dirty="0" smtClean="0"/>
              <a:t>We start with the distribution of t</a:t>
            </a:r>
            <a:r>
              <a:rPr lang="en-US" dirty="0" smtClean="0"/>
              <a:t>he explanatory variables: the geometric parameters are distributed according </a:t>
            </a:r>
            <a:r>
              <a:rPr lang="en-US" baseline="0" dirty="0" smtClean="0"/>
              <a:t>a </a:t>
            </a:r>
            <a:r>
              <a:rPr lang="en-US" dirty="0" smtClean="0"/>
              <a:t>normal</a:t>
            </a:r>
            <a:r>
              <a:rPr lang="en-US" baseline="0" dirty="0" smtClean="0"/>
              <a:t> distribution</a:t>
            </a:r>
          </a:p>
          <a:p>
            <a:pPr marL="0" indent="0">
              <a:buFontTx/>
              <a:buNone/>
            </a:pPr>
            <a:r>
              <a:rPr lang="en-US" baseline="0" dirty="0" smtClean="0">
                <a:sym typeface="Wingdings" panose="05000000000000000000" pitchFamily="2" charset="2"/>
              </a:rPr>
              <a:t> boxplots are symmetrical, median in the center and equal-length whiskers on both sides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they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variable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dataframe</a:t>
            </a:r>
            <a:r>
              <a:rPr lang="de-DE" dirty="0" smtClean="0"/>
              <a:t> </a:t>
            </a:r>
            <a:r>
              <a:rPr lang="de-DE" dirty="0" err="1" smtClean="0"/>
              <a:t>extracts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geometric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77, </a:t>
            </a:r>
            <a:r>
              <a:rPr lang="de-DE" dirty="0" err="1" smtClean="0"/>
              <a:t>why</a:t>
            </a:r>
            <a:r>
              <a:rPr lang="de-DE" dirty="0" smtClean="0"/>
              <a:t>?</a:t>
            </a:r>
          </a:p>
          <a:p>
            <a:pPr marL="0" indent="0">
              <a:buFontTx/>
              <a:buNone/>
            </a:pPr>
            <a:r>
              <a:rPr lang="de-DE" dirty="0" smtClean="0"/>
              <a:t>-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list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0.92 maximal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Long.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77: 19218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Delta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Now</a:t>
            </a:r>
            <a:r>
              <a:rPr lang="de-DE" dirty="0" smtClean="0"/>
              <a:t> </a:t>
            </a: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perfectly</a:t>
            </a:r>
            <a:r>
              <a:rPr lang="de-DE" baseline="0" dirty="0" smtClean="0"/>
              <a:t> uniform (</a:t>
            </a:r>
            <a:r>
              <a:rPr lang="de-DE" baseline="0" dirty="0" err="1" smtClean="0"/>
              <a:t>although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same </a:t>
            </a:r>
            <a:r>
              <a:rPr lang="de-DE" baseline="0" dirty="0" err="1" smtClean="0"/>
              <a:t>sign</a:t>
            </a:r>
            <a:r>
              <a:rPr lang="de-DE" baseline="0" dirty="0" smtClean="0"/>
              <a:t>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 generation,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turn out </a:t>
            </a:r>
            <a:r>
              <a:rPr lang="de-DE" baseline="0" dirty="0" err="1" smtClean="0"/>
              <a:t>accurate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‘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squarring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NRDD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while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indicate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wonder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NRDD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variable, </a:t>
            </a:r>
            <a:r>
              <a:rPr lang="de-DE" baseline="0" dirty="0" err="1" smtClean="0"/>
              <a:t>rather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MAC. The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NRDD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MAC.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continue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work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Light Gradient-</a:t>
            </a:r>
            <a:r>
              <a:rPr lang="de-DE" baseline="0" dirty="0" err="1" smtClean="0"/>
              <a:t>Boosting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Machine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algorithm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Keras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Neural</a:t>
            </a:r>
            <a:r>
              <a:rPr lang="de-DE" baseline="0" dirty="0" smtClean="0"/>
              <a:t> Network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Dense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layers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on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selected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coefficient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determination</a:t>
            </a:r>
            <a:r>
              <a:rPr lang="de-DE" baseline="0" dirty="0" smtClean="0"/>
              <a:t> R²,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 smtClean="0"/>
          </a:p>
          <a:p>
            <a:r>
              <a:rPr lang="de-DE" dirty="0" err="1" smtClean="0"/>
              <a:t>If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had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time,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predict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fast</a:t>
            </a:r>
            <a:r>
              <a:rPr lang="de-DE" baseline="0" dirty="0" smtClean="0"/>
              <a:t> 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endParaRPr lang="de-DE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r>
              <a:rPr lang="de-DE" dirty="0" smtClean="0"/>
              <a:t>- </a:t>
            </a:r>
            <a:r>
              <a:rPr lang="de-DE" baseline="0" dirty="0" err="1" smtClean="0"/>
              <a:t>R²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high 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- MAE 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45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(real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Real)</a:t>
            </a:r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Then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MAE </a:t>
            </a:r>
            <a:r>
              <a:rPr lang="de-DE" baseline="0" dirty="0" err="1" smtClean="0"/>
              <a:t>sinked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Hz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take</a:t>
            </a:r>
            <a:r>
              <a:rPr lang="de-DE" dirty="0" smtClean="0"/>
              <a:t> 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understand</a:t>
            </a:r>
            <a:r>
              <a:rPr lang="de-DE" dirty="0" smtClean="0"/>
              <a:t> </a:t>
            </a:r>
            <a:r>
              <a:rPr lang="de-DE" dirty="0" err="1" smtClean="0"/>
              <a:t>why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was </a:t>
            </a:r>
            <a:r>
              <a:rPr lang="de-DE" dirty="0" err="1" smtClean="0"/>
              <a:t>less</a:t>
            </a:r>
            <a:r>
              <a:rPr lang="de-DE" dirty="0" smtClean="0"/>
              <a:t> </a:t>
            </a:r>
            <a:r>
              <a:rPr lang="de-DE" dirty="0" err="1" smtClean="0"/>
              <a:t>accurate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can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see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have</a:t>
            </a:r>
            <a:r>
              <a:rPr lang="de-DE" baseline="0" dirty="0" smtClean="0">
                <a:sym typeface="Wingdings" panose="05000000000000000000" pitchFamily="2" charset="2"/>
              </a:rPr>
              <a:t> a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similar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shape</a:t>
            </a:r>
            <a:r>
              <a:rPr lang="de-DE" baseline="0" dirty="0" smtClean="0">
                <a:sym typeface="Wingdings" panose="05000000000000000000" pitchFamily="2" charset="2"/>
              </a:rPr>
              <a:t> (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r>
              <a:rPr lang="de-DE" baseline="0" dirty="0" smtClean="0">
                <a:sym typeface="Wingdings" panose="05000000000000000000" pitchFamily="2" charset="2"/>
              </a:rPr>
              <a:t>)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Scatterplot Res = f (MAC)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(high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Finally</a:t>
            </a:r>
            <a:r>
              <a:rPr lang="de-DE" dirty="0" smtClean="0"/>
              <a:t> I </a:t>
            </a:r>
            <a:r>
              <a:rPr lang="de-DE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low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below</a:t>
            </a:r>
            <a:r>
              <a:rPr lang="de-DE" baseline="0" dirty="0" smtClean="0"/>
              <a:t> 0.75)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maintaining</a:t>
            </a:r>
            <a:r>
              <a:rPr lang="de-DE" baseline="0" dirty="0" smtClean="0">
                <a:sym typeface="Wingdings" panose="05000000000000000000" pitchFamily="2" charset="2"/>
              </a:rPr>
              <a:t> still 85%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dataset</a:t>
            </a:r>
            <a:endParaRPr lang="de-DE" baseline="0" dirty="0" smtClean="0"/>
          </a:p>
          <a:p>
            <a:r>
              <a:rPr lang="de-DE" dirty="0" smtClean="0"/>
              <a:t>This </a:t>
            </a:r>
            <a:r>
              <a:rPr lang="de-DE" dirty="0" err="1" smtClean="0"/>
              <a:t>dataset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enhanced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performance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leading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improvement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Mean</a:t>
            </a:r>
            <a:r>
              <a:rPr lang="de-DE" baseline="0" dirty="0" smtClean="0">
                <a:sym typeface="Wingdings" panose="05000000000000000000" pitchFamily="2" charset="2"/>
              </a:rPr>
              <a:t> Absolute Error MAE was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Hz, an </a:t>
            </a:r>
            <a:r>
              <a:rPr lang="de-DE" baseline="0" dirty="0" err="1" smtClean="0">
                <a:sym typeface="Wingdings" panose="05000000000000000000" pitchFamily="2" charset="2"/>
              </a:rPr>
              <a:t>excellent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result</a:t>
            </a:r>
            <a:r>
              <a:rPr lang="de-DE" baseline="0" dirty="0" smtClean="0">
                <a:sym typeface="Wingdings" panose="05000000000000000000" pitchFamily="2" charset="2"/>
              </a:rPr>
              <a:t> (0.1 %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driving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frequency</a:t>
            </a:r>
            <a:r>
              <a:rPr lang="de-DE" baseline="0" dirty="0" smtClean="0">
                <a:sym typeface="Wingdings" panose="05000000000000000000" pitchFamily="2" charset="2"/>
              </a:rPr>
              <a:t>)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‘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mention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next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steps</a:t>
            </a:r>
            <a:r>
              <a:rPr lang="de-DE" baseline="0" dirty="0" smtClean="0"/>
              <a:t>:</a:t>
            </a:r>
          </a:p>
          <a:p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deploy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in a </a:t>
            </a:r>
            <a:r>
              <a:rPr lang="de-DE" baseline="0" dirty="0" err="1" smtClean="0"/>
              <a:t>business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view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need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optimizer</a:t>
            </a:r>
            <a:r>
              <a:rPr lang="de-DE" baseline="0" dirty="0" smtClean="0"/>
              <a:t> 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optimal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geometries)</a:t>
            </a:r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optimizer</a:t>
            </a:r>
            <a:r>
              <a:rPr lang="de-DE" dirty="0" smtClean="0"/>
              <a:t> will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navigate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efficiently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click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define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three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functions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combine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</a:t>
            </a:r>
            <a:r>
              <a:rPr lang="de-DE" baseline="0" dirty="0" smtClean="0"/>
              <a:t> a total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click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exploring</a:t>
            </a:r>
            <a:r>
              <a:rPr lang="de-DE" baseline="0" dirty="0" smtClean="0"/>
              <a:t> a large </a:t>
            </a:r>
            <a:r>
              <a:rPr lang="de-DE" baseline="0" dirty="0" err="1" smtClean="0"/>
              <a:t>area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candidate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gradient-based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fine</a:t>
            </a:r>
            <a:r>
              <a:rPr lang="de-DE" baseline="0" dirty="0" smtClean="0"/>
              <a:t>-tuning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85253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959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3250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863430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86388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image" Target="../media/image24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5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3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err="1" smtClean="0"/>
              <a:t>Presentation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Next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steps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/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Conclusion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Modelling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Result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overview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Pre-processing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visualization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exploration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Context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sp>
        <p:nvSpPr>
          <p:cNvPr id="8" name="Richtungspfeil 7"/>
          <p:cNvSpPr/>
          <p:nvPr/>
        </p:nvSpPr>
        <p:spPr bwMode="gray">
          <a:xfrm rot="5400000">
            <a:off x="4423823" y="1207759"/>
            <a:ext cx="54670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9" name="Textfeld 8"/>
          <p:cNvSpPr txBox="1"/>
          <p:nvPr/>
        </p:nvSpPr>
        <p:spPr bwMode="gray">
          <a:xfrm>
            <a:off x="4447931" y="1515379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sp>
        <p:nvSpPr>
          <p:cNvPr id="32" name="Richtungspfeil 31"/>
          <p:cNvSpPr/>
          <p:nvPr/>
        </p:nvSpPr>
        <p:spPr bwMode="gray">
          <a:xfrm rot="5400000">
            <a:off x="4565632" y="2515017"/>
            <a:ext cx="26308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33" name="Textfeld 32"/>
          <p:cNvSpPr txBox="1"/>
          <p:nvPr/>
        </p:nvSpPr>
        <p:spPr bwMode="gray">
          <a:xfrm>
            <a:off x="4447931" y="2812976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pic>
        <p:nvPicPr>
          <p:cNvPr id="31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1.png"/>
          <p:cNvPicPr/>
          <p:nvPr/>
        </p:nvPicPr>
        <p:blipFill rotWithShape="1">
          <a:blip r:embed="rId8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1478" y="3533769"/>
            <a:ext cx="1071046" cy="34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	</a:t>
            </a:r>
            <a:r>
              <a:rPr lang="de-DE" i="1" dirty="0" err="1" smtClean="0"/>
              <a:t>Prediction</a:t>
            </a:r>
            <a:r>
              <a:rPr lang="de-DE" i="1" dirty="0" smtClean="0"/>
              <a:t> </a:t>
            </a:r>
            <a:r>
              <a:rPr lang="de-DE" i="1" dirty="0" err="1" smtClean="0"/>
              <a:t>of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</a:t>
            </a:r>
            <a:r>
              <a:rPr lang="de-DE" i="1" dirty="0" err="1" smtClean="0"/>
              <a:t>FEM</a:t>
            </a:r>
            <a:r>
              <a:rPr lang="de-DE" i="1" dirty="0" smtClean="0"/>
              <a:t> </a:t>
            </a:r>
            <a:r>
              <a:rPr lang="de-DE" i="1" dirty="0" err="1" smtClean="0"/>
              <a:t>results</a:t>
            </a:r>
            <a:r>
              <a:rPr lang="de-DE" i="1" dirty="0" smtClean="0"/>
              <a:t> </a:t>
            </a:r>
            <a:r>
              <a:rPr lang="de-DE" i="1" dirty="0" err="1" smtClean="0"/>
              <a:t>from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sonotrode </a:t>
            </a:r>
            <a:r>
              <a:rPr lang="de-DE" i="1" dirty="0" err="1" smtClean="0"/>
              <a:t>geometry</a:t>
            </a:r>
            <a:endParaRPr lang="de-DE" i="1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dim_x</a:t>
            </a:r>
            <a:r>
              <a:rPr lang="de-DE" sz="1400" dirty="0" smtClean="0"/>
              <a:t>) × (</a:t>
            </a:r>
            <a:r>
              <a:rPr lang="de-DE" sz="1400" dirty="0" err="1" smtClean="0"/>
              <a:t>dim_z</a:t>
            </a:r>
            <a:r>
              <a:rPr lang="de-DE" sz="1400" dirty="0" smtClean="0"/>
              <a:t>): </a:t>
            </a:r>
            <a:r>
              <a:rPr lang="de-DE" sz="1400" dirty="0" err="1" smtClean="0"/>
              <a:t>output</a:t>
            </a:r>
            <a:r>
              <a:rPr lang="de-DE" sz="1400" dirty="0" smtClean="0"/>
              <a:t> </a:t>
            </a:r>
            <a:r>
              <a:rPr lang="de-DE" sz="1400" dirty="0" err="1" smtClean="0"/>
              <a:t>surface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dim_y</a:t>
            </a:r>
            <a:r>
              <a:rPr lang="de-DE" sz="1400" dirty="0" smtClean="0"/>
              <a:t>): </a:t>
            </a:r>
            <a:r>
              <a:rPr lang="de-DE" sz="1400" dirty="0" err="1" smtClean="0"/>
              <a:t>length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…</a:t>
            </a:r>
            <a:endParaRPr lang="de-DE" sz="140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11" name="image1.png"/>
          <p:cNvPicPr/>
          <p:nvPr/>
        </p:nvPicPr>
        <p:blipFill rotWithShape="1">
          <a:blip r:embed="rId4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0</a:t>
            </a:r>
            <a:r>
              <a:rPr lang="de-DE" dirty="0" smtClean="0"/>
              <a:t>  </a:t>
            </a:r>
            <a:r>
              <a:rPr lang="de-DE" i="1" dirty="0" err="1" smtClean="0"/>
              <a:t>no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1</a:t>
            </a:r>
            <a:r>
              <a:rPr lang="de-DE" dirty="0" smtClean="0"/>
              <a:t>  </a:t>
            </a:r>
            <a:r>
              <a:rPr lang="de-DE" i="1" dirty="0" err="1" smtClean="0"/>
              <a:t>full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smtClean="0"/>
              <a:t>	Long. </a:t>
            </a:r>
            <a:r>
              <a:rPr lang="de-DE" sz="1400" dirty="0" err="1" smtClean="0"/>
              <a:t>mode</a:t>
            </a:r>
            <a:r>
              <a:rPr lang="de-DE" sz="1400" dirty="0" smtClean="0"/>
              <a:t>: </a:t>
            </a:r>
            <a:r>
              <a:rPr lang="de-DE" sz="1400" dirty="0" err="1" smtClean="0"/>
              <a:t>highest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	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 rotWithShape="1">
          <a:blip r:embed="rId4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  <p:pic>
        <p:nvPicPr>
          <p:cNvPr id="11" name="image1.png"/>
          <p:cNvPicPr/>
          <p:nvPr/>
        </p:nvPicPr>
        <p:blipFill rotWithShape="1">
          <a:blip r:embed="rId6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 algn="ctr"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 rotWithShape="1">
          <a:blip r:embed="rId3"/>
          <a:srcRect l="22768"/>
          <a:stretch/>
        </p:blipFill>
        <p:spPr>
          <a:xfrm>
            <a:off x="2123728" y="1225090"/>
            <a:ext cx="1221268" cy="1008112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693412" y="3880542"/>
            <a:ext cx="3767020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hteck 5"/>
              <p:cNvSpPr/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6" name="Rechteck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hteck 10"/>
              <p:cNvSpPr/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11" name="Rechtec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image1.png"/>
          <p:cNvPicPr/>
          <p:nvPr/>
        </p:nvPicPr>
        <p:blipFill rotWithShape="1">
          <a:blip r:embed="rId9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</a:t>
            </a:r>
            <a:r>
              <a:rPr lang="de-DE" b="1" dirty="0" smtClean="0"/>
              <a:t>0</a:t>
            </a:r>
            <a:r>
              <a:rPr lang="de-DE" dirty="0" smtClean="0"/>
              <a:t> 	</a:t>
            </a:r>
            <a:r>
              <a:rPr lang="de-DE" i="1" dirty="0" err="1" smtClean="0">
                <a:sym typeface="Wingdings" panose="05000000000000000000" pitchFamily="2" charset="2"/>
              </a:rPr>
              <a:t>perfect</a:t>
            </a:r>
            <a:r>
              <a:rPr lang="de-DE" i="1" dirty="0" smtClean="0">
                <a:sym typeface="Wingdings" panose="05000000000000000000" pitchFamily="2" charset="2"/>
              </a:rPr>
              <a:t> uniform </a:t>
            </a:r>
            <a:r>
              <a:rPr lang="de-DE" i="1" dirty="0" err="1" smtClean="0">
                <a:sym typeface="Wingdings" panose="05000000000000000000" pitchFamily="2" charset="2"/>
              </a:rPr>
              <a:t>displacements</a:t>
            </a:r>
            <a:endParaRPr lang="de-DE" i="1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</a:t>
            </a:r>
            <a:r>
              <a:rPr lang="de-DE" b="1" dirty="0" smtClean="0">
                <a:sym typeface="Wingdings" panose="05000000000000000000" pitchFamily="2" charset="2"/>
              </a:rPr>
              <a:t>10 	</a:t>
            </a:r>
            <a:r>
              <a:rPr lang="de-DE" i="1" dirty="0" err="1" smtClean="0">
                <a:sym typeface="Wingdings" panose="05000000000000000000" pitchFamily="2" charset="2"/>
              </a:rPr>
              <a:t>poor</a:t>
            </a:r>
            <a:r>
              <a:rPr lang="de-DE" i="1" dirty="0" smtClean="0">
                <a:sym typeface="Wingdings" panose="05000000000000000000" pitchFamily="2" charset="2"/>
              </a:rPr>
              <a:t> </a:t>
            </a:r>
            <a:r>
              <a:rPr lang="de-DE" i="1" dirty="0" err="1" smtClean="0">
                <a:sym typeface="Wingdings" panose="05000000000000000000" pitchFamily="2" charset="2"/>
              </a:rPr>
              <a:t>uniformity</a:t>
            </a:r>
            <a:endParaRPr lang="de-DE" i="1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  <p:pic>
        <p:nvPicPr>
          <p:cNvPr id="10" name="image1.png"/>
          <p:cNvPicPr/>
          <p:nvPr/>
        </p:nvPicPr>
        <p:blipFill rotWithShape="1">
          <a:blip r:embed="rId5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968276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Keras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9940" y="2556869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Modelling</a:t>
            </a:r>
            <a:endParaRPr lang="de-DE" dirty="0"/>
          </a:p>
        </p:txBody>
      </p:sp>
      <p:sp>
        <p:nvSpPr>
          <p:cNvPr id="8" name="Textplatzhalter 4"/>
          <p:cNvSpPr txBox="1">
            <a:spLocks/>
          </p:cNvSpPr>
          <p:nvPr/>
        </p:nvSpPr>
        <p:spPr bwMode="gray">
          <a:xfrm>
            <a:off x="453822" y="917228"/>
            <a:ext cx="8278988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algn="ctr" defTabSz="914400">
              <a:buFont typeface="Wingdings" pitchFamily="2" charset="2"/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 defTabSz="914400">
              <a:buFontTx/>
              <a:buChar char="-"/>
            </a:pPr>
            <a:endParaRPr lang="de-DE" dirty="0"/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Optimizer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Navigation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Cost</a:t>
            </a:r>
            <a:r>
              <a:rPr lang="de-DE" dirty="0" smtClean="0"/>
              <a:t> </a:t>
            </a:r>
            <a:r>
              <a:rPr lang="de-DE" dirty="0" err="1" smtClean="0"/>
              <a:t>functions</a:t>
            </a:r>
            <a:endParaRPr lang="de-DE" dirty="0" smtClean="0"/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r>
              <a:rPr lang="de-DE" dirty="0" smtClean="0"/>
              <a:t> &amp; </a:t>
            </a:r>
            <a:r>
              <a:rPr lang="de-DE" dirty="0" err="1" smtClean="0"/>
              <a:t>Conclusion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17" name="Gruppieren 16"/>
          <p:cNvGrpSpPr/>
          <p:nvPr/>
        </p:nvGrpSpPr>
        <p:grpSpPr>
          <a:xfrm>
            <a:off x="3855697" y="1188178"/>
            <a:ext cx="4073104" cy="1334766"/>
            <a:chOff x="3855697" y="1188178"/>
            <a:chExt cx="4073104" cy="1334766"/>
          </a:xfrm>
        </p:grpSpPr>
        <p:sp>
          <p:nvSpPr>
            <p:cNvPr id="9" name="Textfeld 8"/>
            <p:cNvSpPr txBox="1"/>
            <p:nvPr/>
          </p:nvSpPr>
          <p:spPr bwMode="gray">
            <a:xfrm>
              <a:off x="3855697" y="1188178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cost_long_freq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Textfeld 9"/>
            <p:cNvSpPr txBox="1"/>
            <p:nvPr/>
          </p:nvSpPr>
          <p:spPr bwMode="gray">
            <a:xfrm>
              <a:off x="5314958" y="1188178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cost_all_freq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Textfeld 10"/>
            <p:cNvSpPr txBox="1"/>
            <p:nvPr/>
          </p:nvSpPr>
          <p:spPr bwMode="gray">
            <a:xfrm>
              <a:off x="6776673" y="1193809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cost_nrdd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Textfeld 11"/>
            <p:cNvSpPr txBox="1"/>
            <p:nvPr/>
          </p:nvSpPr>
          <p:spPr bwMode="gray">
            <a:xfrm>
              <a:off x="5314958" y="2229406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b="1" dirty="0" err="1" smtClean="0">
                  <a:solidFill>
                    <a:schemeClr val="tx1"/>
                  </a:solidFill>
                  <a:latin typeface="+mn-lt"/>
                </a:rPr>
                <a:t>cost_total</a:t>
              </a:r>
              <a:endParaRPr lang="de-DE" sz="1400" b="1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4" name="Gerade Verbindung mit Pfeil 13"/>
            <p:cNvCxnSpPr>
              <a:stCxn id="9" idx="2"/>
            </p:cNvCxnSpPr>
            <p:nvPr/>
          </p:nvCxnSpPr>
          <p:spPr bwMode="gray">
            <a:xfrm>
              <a:off x="4431761" y="1481716"/>
              <a:ext cx="1172457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/>
            <p:cNvCxnSpPr>
              <a:stCxn id="10" idx="2"/>
            </p:cNvCxnSpPr>
            <p:nvPr/>
          </p:nvCxnSpPr>
          <p:spPr bwMode="gray">
            <a:xfrm>
              <a:off x="5891022" y="1481716"/>
              <a:ext cx="0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mit Pfeil 17"/>
            <p:cNvCxnSpPr>
              <a:stCxn id="11" idx="2"/>
            </p:cNvCxnSpPr>
            <p:nvPr/>
          </p:nvCxnSpPr>
          <p:spPr bwMode="gray">
            <a:xfrm flipH="1">
              <a:off x="6177827" y="1487347"/>
              <a:ext cx="1174910" cy="636810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uppieren 12"/>
          <p:cNvGrpSpPr/>
          <p:nvPr/>
        </p:nvGrpSpPr>
        <p:grpSpPr>
          <a:xfrm>
            <a:off x="2843808" y="3086221"/>
            <a:ext cx="5298192" cy="355047"/>
            <a:chOff x="2843808" y="3086221"/>
            <a:chExt cx="5298192" cy="355047"/>
          </a:xfrm>
        </p:grpSpPr>
        <p:sp>
          <p:nvSpPr>
            <p:cNvPr id="22" name="Textfeld 21"/>
            <p:cNvSpPr txBox="1"/>
            <p:nvPr/>
          </p:nvSpPr>
          <p:spPr bwMode="gray">
            <a:xfrm>
              <a:off x="2843808" y="3102970"/>
              <a:ext cx="2271510" cy="338298"/>
            </a:xfrm>
            <a:prstGeom prst="rect">
              <a:avLst/>
            </a:prstGeom>
            <a:solidFill>
              <a:srgbClr val="00FFCC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scipy.differential_evolution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3" name="Textfeld 22"/>
            <p:cNvSpPr txBox="1"/>
            <p:nvPr/>
          </p:nvSpPr>
          <p:spPr bwMode="gray">
            <a:xfrm>
              <a:off x="5870490" y="3086221"/>
              <a:ext cx="2271510" cy="338298"/>
            </a:xfrm>
            <a:prstGeom prst="rect">
              <a:avLst/>
            </a:prstGeom>
            <a:solidFill>
              <a:srgbClr val="00FFCC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scipy.minimize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24" name="Gerade Verbindung mit Pfeil 23"/>
            <p:cNvCxnSpPr>
              <a:stCxn id="22" idx="3"/>
            </p:cNvCxnSpPr>
            <p:nvPr/>
          </p:nvCxnSpPr>
          <p:spPr bwMode="gray">
            <a:xfrm>
              <a:off x="5115318" y="3272119"/>
              <a:ext cx="620768" cy="4096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Lösung 1</a:t>
            </a:r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r>
              <a:rPr lang="de-DE" dirty="0" smtClean="0"/>
              <a:t>Vergleich Vorhersage / Reale Werte</a:t>
            </a:r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Optimizer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1110" y="899590"/>
            <a:ext cx="7070050" cy="1833464"/>
          </a:xfrm>
          <a:prstGeom prst="rect">
            <a:avLst/>
          </a:prstGeom>
        </p:spPr>
      </p:pic>
      <p:pic>
        <p:nvPicPr>
          <p:cNvPr id="19" name="Grafik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8343" y="2893599"/>
            <a:ext cx="2753949" cy="1988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98852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Variationsbereich mit konstanter Schlitzverteilung:</a:t>
            </a:r>
            <a:endParaRPr lang="de-DE" dirty="0"/>
          </a:p>
          <a:p>
            <a:pPr lvl="1" indent="0">
              <a:buNone/>
            </a:pPr>
            <a:r>
              <a:rPr lang="de-DE" dirty="0" err="1" smtClean="0"/>
              <a:t>dim_X</a:t>
            </a:r>
            <a:r>
              <a:rPr lang="de-DE" dirty="0"/>
              <a:t>: 100 – (175) – 195	2 Schlitze</a:t>
            </a:r>
          </a:p>
          <a:p>
            <a:pPr lvl="1" indent="0">
              <a:buNone/>
            </a:pPr>
            <a:r>
              <a:rPr lang="de-DE" dirty="0" err="1" smtClean="0"/>
              <a:t>dim_Z</a:t>
            </a:r>
            <a:r>
              <a:rPr lang="de-DE" dirty="0"/>
              <a:t>: 200 – (240) – 280	4 Schlitze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Breiterer Bereich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1660255" y="1770294"/>
            <a:ext cx="4855961" cy="2873860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 bwMode="gray">
          <a:xfrm>
            <a:off x="1835696" y="2480824"/>
            <a:ext cx="216024" cy="8640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10" name="Rechteck 9"/>
          <p:cNvSpPr/>
          <p:nvPr/>
        </p:nvSpPr>
        <p:spPr bwMode="gray">
          <a:xfrm>
            <a:off x="2267744" y="1826446"/>
            <a:ext cx="216024" cy="7827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</p:spTree>
    <p:extLst>
      <p:ext uri="{BB962C8B-B14F-4D97-AF65-F5344CB8AC3E}">
        <p14:creationId xmlns:p14="http://schemas.microsoft.com/office/powerpoint/2010/main" val="241434944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Verteilung der Längsmoden</a:t>
            </a:r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Long. Frequenzen</a:t>
            </a:r>
          </a:p>
          <a:p>
            <a:pPr lvl="1" indent="0">
              <a:buNone/>
            </a:pPr>
            <a:r>
              <a:rPr lang="de-DE" dirty="0" smtClean="0"/>
              <a:t>+ MAC-Werte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Breiterer Bereich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1" name="Grafik 10"/>
          <p:cNvPicPr/>
          <p:nvPr/>
        </p:nvPicPr>
        <p:blipFill>
          <a:blip r:embed="rId4"/>
          <a:stretch>
            <a:fillRect/>
          </a:stretch>
        </p:blipFill>
        <p:spPr>
          <a:xfrm>
            <a:off x="3131839" y="888435"/>
            <a:ext cx="4479865" cy="1323275"/>
          </a:xfrm>
          <a:prstGeom prst="rect">
            <a:avLst/>
          </a:prstGeom>
        </p:spPr>
      </p:pic>
      <p:pic>
        <p:nvPicPr>
          <p:cNvPr id="12" name="Grafik 11"/>
          <p:cNvPicPr/>
          <p:nvPr/>
        </p:nvPicPr>
        <p:blipFill>
          <a:blip r:embed="rId5"/>
          <a:stretch>
            <a:fillRect/>
          </a:stretch>
        </p:blipFill>
        <p:spPr>
          <a:xfrm>
            <a:off x="2771800" y="2383264"/>
            <a:ext cx="2867452" cy="2183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09869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Alle Frequenzen</a:t>
            </a:r>
          </a:p>
          <a:p>
            <a:pPr lvl="1" indent="0">
              <a:buNone/>
            </a:pPr>
            <a:r>
              <a:rPr lang="de-DE" dirty="0" smtClean="0"/>
              <a:t>	</a:t>
            </a:r>
            <a:r>
              <a:rPr lang="de-DE" dirty="0" err="1" smtClean="0"/>
              <a:t>Schmaller</a:t>
            </a:r>
            <a:r>
              <a:rPr lang="de-DE" dirty="0" smtClean="0"/>
              <a:t> Bereich				Breiter Bereich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/>
              <a:t>	</a:t>
            </a:r>
            <a:r>
              <a:rPr lang="de-DE" dirty="0" err="1" smtClean="0"/>
              <a:t>Schmaller</a:t>
            </a:r>
            <a:r>
              <a:rPr lang="de-DE" dirty="0" smtClean="0"/>
              <a:t> Bereich				Breiter Bereich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Vergleich der Performances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1079663" y="1551839"/>
            <a:ext cx="4032448" cy="1199689"/>
          </a:xfrm>
          <a:prstGeom prst="rect">
            <a:avLst/>
          </a:prstGeom>
        </p:spPr>
      </p:pic>
      <p:pic>
        <p:nvPicPr>
          <p:cNvPr id="10" name="Grafik 9"/>
          <p:cNvPicPr/>
          <p:nvPr/>
        </p:nvPicPr>
        <p:blipFill>
          <a:blip r:embed="rId5"/>
          <a:stretch>
            <a:fillRect/>
          </a:stretch>
        </p:blipFill>
        <p:spPr>
          <a:xfrm>
            <a:off x="5302049" y="1601540"/>
            <a:ext cx="2850068" cy="1100286"/>
          </a:xfrm>
          <a:prstGeom prst="rect">
            <a:avLst/>
          </a:prstGeom>
        </p:spPr>
      </p:pic>
      <p:pic>
        <p:nvPicPr>
          <p:cNvPr id="11" name="Grafik 10"/>
          <p:cNvPicPr/>
          <p:nvPr/>
        </p:nvPicPr>
        <p:blipFill>
          <a:blip r:embed="rId6"/>
          <a:stretch>
            <a:fillRect/>
          </a:stretch>
        </p:blipFill>
        <p:spPr>
          <a:xfrm>
            <a:off x="827584" y="4147165"/>
            <a:ext cx="3614420" cy="270510"/>
          </a:xfrm>
          <a:prstGeom prst="rect">
            <a:avLst/>
          </a:prstGeom>
        </p:spPr>
      </p:pic>
      <p:pic>
        <p:nvPicPr>
          <p:cNvPr id="12" name="Grafik 11"/>
          <p:cNvPicPr/>
          <p:nvPr/>
        </p:nvPicPr>
        <p:blipFill>
          <a:blip r:embed="rId7"/>
          <a:stretch>
            <a:fillRect/>
          </a:stretch>
        </p:blipFill>
        <p:spPr>
          <a:xfrm>
            <a:off x="4949718" y="4147165"/>
            <a:ext cx="3554730" cy="306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56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PCA</a:t>
            </a: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Dimensionsreduktion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5217734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2219</Words>
  <Application>Microsoft Office PowerPoint</Application>
  <PresentationFormat>Bildschirmpräsentation (16:9)</PresentationFormat>
  <Paragraphs>379</Paragraphs>
  <Slides>17</Slides>
  <Notes>17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5" baseType="lpstr">
      <vt:lpstr>ＭＳ Ｐゴシック</vt:lpstr>
      <vt:lpstr>Arial</vt:lpstr>
      <vt:lpstr>Arial Narrow</vt:lpstr>
      <vt:lpstr>Calibri</vt:lpstr>
      <vt:lpstr>Cambria Math</vt:lpstr>
      <vt:lpstr>Courier New</vt:lpstr>
      <vt:lpstr>Wingdings</vt:lpstr>
      <vt:lpstr>Herrmann_Ultraschall_Template_01_EXP</vt:lpstr>
      <vt:lpstr>Francois Brouet – sep24_continuous_ds</vt:lpstr>
      <vt:lpstr>PowerPoint-Präsentation</vt:lpstr>
      <vt:lpstr>Context</vt:lpstr>
      <vt:lpstr>Goal</vt:lpstr>
      <vt:lpstr>Data exploration</vt:lpstr>
      <vt:lpstr>Data exploration</vt:lpstr>
      <vt:lpstr>Pre-processing</vt:lpstr>
      <vt:lpstr>Pre-processing</vt:lpstr>
      <vt:lpstr>Result overview</vt:lpstr>
      <vt:lpstr>Modelling</vt:lpstr>
      <vt:lpstr>Next steps &amp; Conclusion</vt:lpstr>
      <vt:lpstr>Optimizer</vt:lpstr>
      <vt:lpstr>Breiterer Bereich</vt:lpstr>
      <vt:lpstr>Breiterer Bereich</vt:lpstr>
      <vt:lpstr>Vergleich der Performances</vt:lpstr>
      <vt:lpstr>Dimensionsreduktion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177</cp:revision>
  <cp:lastPrinted>2024-10-28T09:15:24Z</cp:lastPrinted>
  <dcterms:created xsi:type="dcterms:W3CDTF">2024-10-21T06:24:53Z</dcterms:created>
  <dcterms:modified xsi:type="dcterms:W3CDTF">2025-09-01T14:31:54Z</dcterms:modified>
</cp:coreProperties>
</file>