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4" r:id="rId1"/>
  </p:sldMasterIdLst>
  <p:notesMasterIdLst>
    <p:notesMasterId r:id="rId24"/>
  </p:notesMasterIdLst>
  <p:handoutMasterIdLst>
    <p:handoutMasterId r:id="rId25"/>
  </p:handoutMasterIdLst>
  <p:sldIdLst>
    <p:sldId id="383" r:id="rId2"/>
    <p:sldId id="394" r:id="rId3"/>
    <p:sldId id="398" r:id="rId4"/>
    <p:sldId id="399" r:id="rId5"/>
    <p:sldId id="405" r:id="rId6"/>
    <p:sldId id="417" r:id="rId7"/>
    <p:sldId id="402" r:id="rId8"/>
    <p:sldId id="407" r:id="rId9"/>
    <p:sldId id="400" r:id="rId10"/>
    <p:sldId id="415" r:id="rId11"/>
    <p:sldId id="416" r:id="rId12"/>
    <p:sldId id="418" r:id="rId13"/>
    <p:sldId id="419" r:id="rId14"/>
    <p:sldId id="381" r:id="rId15"/>
    <p:sldId id="378" r:id="rId16"/>
    <p:sldId id="403" r:id="rId17"/>
    <p:sldId id="408" r:id="rId18"/>
    <p:sldId id="409" r:id="rId19"/>
    <p:sldId id="412" r:id="rId20"/>
    <p:sldId id="410" r:id="rId21"/>
    <p:sldId id="411" r:id="rId22"/>
    <p:sldId id="413" r:id="rId23"/>
  </p:sldIdLst>
  <p:sldSz cx="9144000" cy="5143500" type="screen16x9"/>
  <p:notesSz cx="6645275" cy="9775825"/>
  <p:custDataLst>
    <p:tags r:id="rId26"/>
  </p:custDataLst>
  <p:defaultTextStyle>
    <a:defPPr>
      <a:defRPr lang="de-DE"/>
    </a:defPPr>
    <a:lvl1pPr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13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26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39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52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565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278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19991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04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rmann Ultraschall Template" id="{E288A15B-C61F-46F5-9AF1-9B20770DE8A5}">
          <p14:sldIdLst>
            <p14:sldId id="383"/>
            <p14:sldId id="394"/>
            <p14:sldId id="398"/>
            <p14:sldId id="399"/>
            <p14:sldId id="405"/>
            <p14:sldId id="417"/>
            <p14:sldId id="402"/>
            <p14:sldId id="407"/>
            <p14:sldId id="400"/>
            <p14:sldId id="415"/>
            <p14:sldId id="416"/>
            <p14:sldId id="418"/>
            <p14:sldId id="419"/>
            <p14:sldId id="381"/>
            <p14:sldId id="378"/>
            <p14:sldId id="403"/>
            <p14:sldId id="408"/>
            <p14:sldId id="409"/>
            <p14:sldId id="412"/>
            <p14:sldId id="410"/>
            <p14:sldId id="411"/>
            <p14:sldId id="413"/>
          </p14:sldIdLst>
        </p14:section>
      </p14:sectionLst>
    </p:ext>
    <p:ext uri="{EFAFB233-063F-42B5-8137-9DF3F51BA10A}">
      <p15:sldGuideLst xmlns:p15="http://schemas.microsoft.com/office/powerpoint/2012/main">
        <p15:guide id="7" pos="2880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44" userDrawn="1">
          <p15:clr>
            <a:srgbClr val="A4A3A4"/>
          </p15:clr>
        </p15:guide>
        <p15:guide id="2" orient="horz" pos="2410" userDrawn="1">
          <p15:clr>
            <a:srgbClr val="A4A3A4"/>
          </p15:clr>
        </p15:guide>
        <p15:guide id="3" pos="542" userDrawn="1">
          <p15:clr>
            <a:srgbClr val="A4A3A4"/>
          </p15:clr>
        </p15:guide>
        <p15:guide id="4" pos="3919" userDrawn="1">
          <p15:clr>
            <a:srgbClr val="A4A3A4"/>
          </p15:clr>
        </p15:guide>
        <p15:guide id="5" orient="horz" pos="199" userDrawn="1">
          <p15:clr>
            <a:srgbClr val="A4A3A4"/>
          </p15:clr>
        </p15:guide>
        <p15:guide id="6" orient="horz" pos="5721" userDrawn="1">
          <p15:clr>
            <a:srgbClr val="A4A3A4"/>
          </p15:clr>
        </p15:guide>
        <p15:guide id="7" orient="horz" pos="5851" userDrawn="1">
          <p15:clr>
            <a:srgbClr val="A4A3A4"/>
          </p15:clr>
        </p15:guide>
        <p15:guide id="8" orient="horz" pos="6004" userDrawn="1">
          <p15:clr>
            <a:srgbClr val="A4A3A4"/>
          </p15:clr>
        </p15:guide>
        <p15:guide id="9" pos="438" userDrawn="1">
          <p15:clr>
            <a:srgbClr val="A4A3A4"/>
          </p15:clr>
        </p15:guide>
        <p15:guide id="10" pos="3960" userDrawn="1">
          <p15:clr>
            <a:srgbClr val="A4A3A4"/>
          </p15:clr>
        </p15:guide>
        <p15:guide id="11" pos="2687" userDrawn="1">
          <p15:clr>
            <a:srgbClr val="A4A3A4"/>
          </p15:clr>
        </p15:guide>
        <p15:guide id="12" pos="277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99FF66"/>
    <a:srgbClr val="007BBD"/>
    <a:srgbClr val="000000"/>
    <a:srgbClr val="05FFFF"/>
    <a:srgbClr val="D9D9D9"/>
    <a:srgbClr val="333333"/>
    <a:srgbClr val="FF00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7CE84F3-28C3-443E-9E96-99CF82512B78}" styleName="Dunkle Formatvorlage 1 - Akz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71332" autoAdjust="0"/>
  </p:normalViewPr>
  <p:slideViewPr>
    <p:cSldViewPr snapToObjects="1">
      <p:cViewPr varScale="1">
        <p:scale>
          <a:sx n="150" d="100"/>
          <a:sy n="150" d="100"/>
        </p:scale>
        <p:origin x="1992" y="216"/>
      </p:cViewPr>
      <p:guideLst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>
        <p:scale>
          <a:sx n="75" d="100"/>
          <a:sy n="75" d="100"/>
        </p:scale>
        <p:origin x="6060" y="1344"/>
      </p:cViewPr>
      <p:guideLst>
        <p:guide orient="horz" pos="2544"/>
        <p:guide orient="horz" pos="2410"/>
        <p:guide pos="542"/>
        <p:guide pos="3919"/>
        <p:guide orient="horz" pos="199"/>
        <p:guide orient="horz" pos="5721"/>
        <p:guide orient="horz" pos="5851"/>
        <p:guide orient="horz" pos="6004"/>
        <p:guide pos="438"/>
        <p:guide pos="3960"/>
        <p:guide pos="2687"/>
        <p:guide pos="277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/>
          <p:cNvGrpSpPr/>
          <p:nvPr/>
        </p:nvGrpSpPr>
        <p:grpSpPr bwMode="gray">
          <a:xfrm>
            <a:off x="-143730" y="-141131"/>
            <a:ext cx="6932735" cy="10058091"/>
            <a:chOff x="-153653" y="-147757"/>
            <a:chExt cx="7411369" cy="10530126"/>
          </a:xfrm>
        </p:grpSpPr>
        <p:sp>
          <p:nvSpPr>
            <p:cNvPr id="4" name="Isosceles Triangle 9"/>
            <p:cNvSpPr/>
            <p:nvPr/>
          </p:nvSpPr>
          <p:spPr bwMode="gray">
            <a:xfrm rot="10800000">
              <a:off x="710046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6" name="Isosceles Triangle 9"/>
            <p:cNvSpPr/>
            <p:nvPr/>
          </p:nvSpPr>
          <p:spPr bwMode="gray">
            <a:xfrm rot="10800000">
              <a:off x="6689365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7" name="Isosceles Triangle 9"/>
            <p:cNvSpPr/>
            <p:nvPr/>
          </p:nvSpPr>
          <p:spPr bwMode="gray">
            <a:xfrm rot="10800000">
              <a:off x="4671254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8" name="Isosceles Triangle 9"/>
            <p:cNvSpPr/>
            <p:nvPr/>
          </p:nvSpPr>
          <p:spPr bwMode="gray">
            <a:xfrm rot="10800000">
              <a:off x="4528778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9" name="Isosceles Triangle 9"/>
            <p:cNvSpPr/>
            <p:nvPr/>
          </p:nvSpPr>
          <p:spPr bwMode="gray">
            <a:xfrm rot="10800000" flipV="1">
              <a:off x="710046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0" name="Isosceles Triangle 9"/>
            <p:cNvSpPr/>
            <p:nvPr/>
          </p:nvSpPr>
          <p:spPr bwMode="gray">
            <a:xfrm rot="10800000" flipV="1">
              <a:off x="6689365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1" name="Isosceles Triangle 9"/>
            <p:cNvSpPr/>
            <p:nvPr/>
          </p:nvSpPr>
          <p:spPr bwMode="gray">
            <a:xfrm rot="10800000" flipV="1">
              <a:off x="4671254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2" name="Isosceles Triangle 9"/>
            <p:cNvSpPr/>
            <p:nvPr/>
          </p:nvSpPr>
          <p:spPr bwMode="gray">
            <a:xfrm rot="10800000" flipV="1">
              <a:off x="4528778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3" name="Isosceles Triangle 9"/>
            <p:cNvSpPr/>
            <p:nvPr/>
          </p:nvSpPr>
          <p:spPr bwMode="gray">
            <a:xfrm rot="5400000">
              <a:off x="-157863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4" name="Isosceles Triangle 9"/>
            <p:cNvSpPr/>
            <p:nvPr/>
          </p:nvSpPr>
          <p:spPr bwMode="gray">
            <a:xfrm rot="5400000">
              <a:off x="-157863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5" name="Isosceles Triangle 9"/>
            <p:cNvSpPr/>
            <p:nvPr/>
          </p:nvSpPr>
          <p:spPr bwMode="gray">
            <a:xfrm rot="5400000">
              <a:off x="-157863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6" name="Isosceles Triangle 9"/>
            <p:cNvSpPr/>
            <p:nvPr/>
          </p:nvSpPr>
          <p:spPr bwMode="gray">
            <a:xfrm rot="5400000">
              <a:off x="-157863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7" name="Isosceles Triangle 9"/>
            <p:cNvSpPr/>
            <p:nvPr/>
          </p:nvSpPr>
          <p:spPr bwMode="gray">
            <a:xfrm rot="5400000">
              <a:off x="-157863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8" name="Isosceles Triangle 9"/>
            <p:cNvSpPr/>
            <p:nvPr/>
          </p:nvSpPr>
          <p:spPr bwMode="gray">
            <a:xfrm rot="5400000">
              <a:off x="-157863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9" name="Isosceles Triangle 9"/>
            <p:cNvSpPr/>
            <p:nvPr/>
          </p:nvSpPr>
          <p:spPr bwMode="gray">
            <a:xfrm rot="16200000" flipH="1">
              <a:off x="7200880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0" name="Isosceles Triangle 9"/>
            <p:cNvSpPr/>
            <p:nvPr/>
          </p:nvSpPr>
          <p:spPr bwMode="gray">
            <a:xfrm rot="16200000" flipH="1">
              <a:off x="7200880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1" name="Isosceles Triangle 9"/>
            <p:cNvSpPr/>
            <p:nvPr/>
          </p:nvSpPr>
          <p:spPr bwMode="gray">
            <a:xfrm rot="16200000" flipH="1">
              <a:off x="7200880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2" name="Isosceles Triangle 9"/>
            <p:cNvSpPr/>
            <p:nvPr/>
          </p:nvSpPr>
          <p:spPr bwMode="gray">
            <a:xfrm rot="16200000" flipH="1">
              <a:off x="7200880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3" name="Isosceles Triangle 9"/>
            <p:cNvSpPr/>
            <p:nvPr/>
          </p:nvSpPr>
          <p:spPr bwMode="gray">
            <a:xfrm rot="16200000" flipH="1">
              <a:off x="7200880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4" name="Isosceles Triangle 9"/>
            <p:cNvSpPr/>
            <p:nvPr/>
          </p:nvSpPr>
          <p:spPr bwMode="gray">
            <a:xfrm rot="16200000" flipH="1">
              <a:off x="7200880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</p:grpSp>
      <p:sp>
        <p:nvSpPr>
          <p:cNvPr id="28" name="Foliennummernplatzhalter 6"/>
          <p:cNvSpPr>
            <a:spLocks noGrp="1"/>
          </p:cNvSpPr>
          <p:nvPr>
            <p:ph type="sldNum" sz="quarter" idx="3"/>
          </p:nvPr>
        </p:nvSpPr>
        <p:spPr bwMode="gray">
          <a:xfrm>
            <a:off x="4972347" y="9289839"/>
            <a:ext cx="1313565" cy="240341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fld id="{34E13925-E938-4228-AE74-92AB500038A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9" name="Kopfzeilenplatzhalter 13"/>
          <p:cNvSpPr>
            <a:spLocks noGrp="1"/>
          </p:cNvSpPr>
          <p:nvPr>
            <p:ph type="hdr" sz="quarter"/>
          </p:nvPr>
        </p:nvSpPr>
        <p:spPr bwMode="gray">
          <a:xfrm>
            <a:off x="694971" y="313884"/>
            <a:ext cx="4347515" cy="29983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l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30" name="Datumsplatzhalter 32"/>
          <p:cNvSpPr>
            <a:spLocks noGrp="1"/>
          </p:cNvSpPr>
          <p:nvPr>
            <p:ph type="dt" idx="1"/>
          </p:nvPr>
        </p:nvSpPr>
        <p:spPr bwMode="gray">
          <a:xfrm>
            <a:off x="5042485" y="313884"/>
            <a:ext cx="1243426" cy="29983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r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fld id="{4898E2BF-6B10-4B00-9BEA-AA866B211861}" type="datetimeFigureOut">
              <a:rPr lang="de-DE" smtClean="0"/>
              <a:pPr/>
              <a:t>04.11.2025</a:t>
            </a:fld>
            <a:endParaRPr lang="de-DE" dirty="0"/>
          </a:p>
        </p:txBody>
      </p:sp>
      <p:sp>
        <p:nvSpPr>
          <p:cNvPr id="31" name="Fußzeilenplatzhalter 33"/>
          <p:cNvSpPr>
            <a:spLocks noGrp="1"/>
          </p:cNvSpPr>
          <p:nvPr>
            <p:ph type="ftr" sz="quarter" idx="2"/>
          </p:nvPr>
        </p:nvSpPr>
        <p:spPr bwMode="gray">
          <a:xfrm>
            <a:off x="694970" y="9289839"/>
            <a:ext cx="2184402" cy="24034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l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2403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uppieren 62"/>
          <p:cNvGrpSpPr/>
          <p:nvPr/>
        </p:nvGrpSpPr>
        <p:grpSpPr bwMode="gray">
          <a:xfrm>
            <a:off x="-143730" y="-141131"/>
            <a:ext cx="6932735" cy="10058091"/>
            <a:chOff x="-153653" y="-147757"/>
            <a:chExt cx="7411369" cy="10530126"/>
          </a:xfrm>
        </p:grpSpPr>
        <p:sp>
          <p:nvSpPr>
            <p:cNvPr id="10" name="Isosceles Triangle 9"/>
            <p:cNvSpPr/>
            <p:nvPr/>
          </p:nvSpPr>
          <p:spPr bwMode="gray">
            <a:xfrm rot="10800000">
              <a:off x="710046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1" name="Isosceles Triangle 9"/>
            <p:cNvSpPr/>
            <p:nvPr/>
          </p:nvSpPr>
          <p:spPr bwMode="gray">
            <a:xfrm rot="10800000">
              <a:off x="6689365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38" name="Isosceles Triangle 9"/>
            <p:cNvSpPr/>
            <p:nvPr/>
          </p:nvSpPr>
          <p:spPr bwMode="gray">
            <a:xfrm rot="10800000">
              <a:off x="4671254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39" name="Isosceles Triangle 9"/>
            <p:cNvSpPr/>
            <p:nvPr/>
          </p:nvSpPr>
          <p:spPr bwMode="gray">
            <a:xfrm rot="10800000">
              <a:off x="4528778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41" name="Isosceles Triangle 9"/>
            <p:cNvSpPr/>
            <p:nvPr/>
          </p:nvSpPr>
          <p:spPr bwMode="gray">
            <a:xfrm rot="10800000" flipV="1">
              <a:off x="710046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42" name="Isosceles Triangle 9"/>
            <p:cNvSpPr/>
            <p:nvPr/>
          </p:nvSpPr>
          <p:spPr bwMode="gray">
            <a:xfrm rot="10800000" flipV="1">
              <a:off x="6689365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43" name="Isosceles Triangle 9"/>
            <p:cNvSpPr/>
            <p:nvPr/>
          </p:nvSpPr>
          <p:spPr bwMode="gray">
            <a:xfrm rot="10800000" flipV="1">
              <a:off x="4671254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44" name="Isosceles Triangle 9"/>
            <p:cNvSpPr/>
            <p:nvPr/>
          </p:nvSpPr>
          <p:spPr bwMode="gray">
            <a:xfrm rot="10800000" flipV="1">
              <a:off x="4528778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47" name="Isosceles Triangle 9"/>
            <p:cNvSpPr/>
            <p:nvPr/>
          </p:nvSpPr>
          <p:spPr bwMode="gray">
            <a:xfrm rot="5400000">
              <a:off x="-157863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48" name="Isosceles Triangle 9"/>
            <p:cNvSpPr/>
            <p:nvPr/>
          </p:nvSpPr>
          <p:spPr bwMode="gray">
            <a:xfrm rot="5400000">
              <a:off x="-157863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50" name="Isosceles Triangle 9"/>
            <p:cNvSpPr/>
            <p:nvPr/>
          </p:nvSpPr>
          <p:spPr bwMode="gray">
            <a:xfrm rot="5400000">
              <a:off x="-157863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51" name="Isosceles Triangle 9"/>
            <p:cNvSpPr/>
            <p:nvPr/>
          </p:nvSpPr>
          <p:spPr bwMode="gray">
            <a:xfrm rot="5400000">
              <a:off x="-157863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52" name="Isosceles Triangle 9"/>
            <p:cNvSpPr/>
            <p:nvPr/>
          </p:nvSpPr>
          <p:spPr bwMode="gray">
            <a:xfrm rot="5400000">
              <a:off x="-157863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53" name="Isosceles Triangle 9"/>
            <p:cNvSpPr/>
            <p:nvPr/>
          </p:nvSpPr>
          <p:spPr bwMode="gray">
            <a:xfrm rot="5400000">
              <a:off x="-157863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55" name="Isosceles Triangle 9"/>
            <p:cNvSpPr/>
            <p:nvPr/>
          </p:nvSpPr>
          <p:spPr bwMode="gray">
            <a:xfrm rot="16200000" flipH="1">
              <a:off x="7200880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56" name="Isosceles Triangle 9"/>
            <p:cNvSpPr/>
            <p:nvPr/>
          </p:nvSpPr>
          <p:spPr bwMode="gray">
            <a:xfrm rot="16200000" flipH="1">
              <a:off x="7200880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57" name="Isosceles Triangle 9"/>
            <p:cNvSpPr/>
            <p:nvPr/>
          </p:nvSpPr>
          <p:spPr bwMode="gray">
            <a:xfrm rot="16200000" flipH="1">
              <a:off x="7200880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58" name="Isosceles Triangle 9"/>
            <p:cNvSpPr/>
            <p:nvPr/>
          </p:nvSpPr>
          <p:spPr bwMode="gray">
            <a:xfrm rot="16200000" flipH="1">
              <a:off x="7200880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59" name="Isosceles Triangle 9"/>
            <p:cNvSpPr/>
            <p:nvPr/>
          </p:nvSpPr>
          <p:spPr bwMode="gray">
            <a:xfrm rot="16200000" flipH="1">
              <a:off x="7200880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60" name="Isosceles Triangle 9"/>
            <p:cNvSpPr/>
            <p:nvPr/>
          </p:nvSpPr>
          <p:spPr bwMode="gray">
            <a:xfrm rot="16200000" flipH="1">
              <a:off x="7200880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</p:grp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694970" y="3794290"/>
            <a:ext cx="5650268" cy="5489409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 err="1"/>
              <a:t>Asdf</a:t>
            </a:r>
            <a:endParaRPr lang="de-DE" noProof="0" dirty="0"/>
          </a:p>
          <a:p>
            <a:pPr lvl="5"/>
            <a:r>
              <a:rPr lang="de-DE" noProof="0" dirty="0" err="1"/>
              <a:t>Asdf</a:t>
            </a:r>
            <a:endParaRPr lang="de-DE" noProof="0" dirty="0"/>
          </a:p>
          <a:p>
            <a:pPr lvl="6"/>
            <a:r>
              <a:rPr lang="de-DE" noProof="0" dirty="0" err="1"/>
              <a:t>Asdf</a:t>
            </a:r>
            <a:endParaRPr lang="de-DE" noProof="0" dirty="0"/>
          </a:p>
          <a:p>
            <a:pPr lvl="7"/>
            <a:r>
              <a:rPr lang="de-DE" noProof="0" dirty="0" err="1"/>
              <a:t>Asdf</a:t>
            </a:r>
            <a:endParaRPr lang="de-DE" noProof="0" dirty="0"/>
          </a:p>
          <a:p>
            <a:pPr lvl="8"/>
            <a:r>
              <a:rPr lang="de-DE" noProof="0" dirty="0" err="1"/>
              <a:t>asdf</a:t>
            </a:r>
            <a:endParaRPr lang="de-DE" noProof="0" dirty="0"/>
          </a:p>
        </p:txBody>
      </p:sp>
      <p:sp>
        <p:nvSpPr>
          <p:cNvPr id="23" name="Folienbildplatzhalter 22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36588" y="351408"/>
            <a:ext cx="5708650" cy="3211512"/>
          </a:xfrm>
          <a:prstGeom prst="rect">
            <a:avLst/>
          </a:prstGeom>
          <a:noFill/>
          <a:ln w="3175"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txBody>
          <a:bodyPr vert="horz" lIns="86545" tIns="43273" rIns="86545" bIns="43273" rtlCol="0" anchor="ctr"/>
          <a:lstStyle/>
          <a:p>
            <a:pPr lvl="0"/>
            <a:endParaRPr lang="de-DE" noProof="0"/>
          </a:p>
        </p:txBody>
      </p:sp>
      <p:sp>
        <p:nvSpPr>
          <p:cNvPr id="34" name="Fußzeilenplatzhalter 33"/>
          <p:cNvSpPr>
            <a:spLocks noGrp="1"/>
          </p:cNvSpPr>
          <p:nvPr>
            <p:ph type="ftr" sz="quarter" idx="4"/>
          </p:nvPr>
        </p:nvSpPr>
        <p:spPr bwMode="gray">
          <a:xfrm>
            <a:off x="694970" y="9289839"/>
            <a:ext cx="2184402" cy="24034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l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5"/>
          </p:nvPr>
        </p:nvSpPr>
        <p:spPr>
          <a:xfrm>
            <a:off x="4185238" y="9318235"/>
            <a:ext cx="2160000" cy="24120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r">
              <a:defRPr lang="de-DE" sz="1000" smtClean="0">
                <a:solidFill>
                  <a:schemeClr val="bg2"/>
                </a:solidFill>
                <a:latin typeface="+mn-lt"/>
              </a:defRPr>
            </a:lvl1pPr>
          </a:lstStyle>
          <a:p>
            <a:fld id="{567B3B95-3F62-486B-BCAC-65A3E0C7085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8819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130" rtl="0" eaLnBrk="0" fontAlgn="base" hangingPunct="0">
      <a:spcBef>
        <a:spcPts val="200"/>
      </a:spcBef>
      <a:spcAft>
        <a:spcPts val="200"/>
      </a:spcAft>
      <a:defRPr sz="1600" kern="1200">
        <a:solidFill>
          <a:schemeClr val="tx1"/>
        </a:solidFill>
        <a:latin typeface="+mn-lt"/>
        <a:ea typeface="ＭＳ Ｐゴシック" pitchFamily="-84" charset="-128"/>
        <a:cs typeface="ＭＳ Ｐゴシック" charset="0"/>
      </a:defRPr>
    </a:lvl1pPr>
    <a:lvl2pPr marL="180000" indent="-18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Wingdings" pitchFamily="2" charset="2"/>
      <a:buChar char="§"/>
      <a:defRPr sz="1600" kern="1200">
        <a:solidFill>
          <a:schemeClr val="tx1"/>
        </a:solidFill>
        <a:latin typeface="+mn-lt"/>
        <a:ea typeface="ＭＳ Ｐゴシック" pitchFamily="-84" charset="-128"/>
        <a:cs typeface="+mn-cs"/>
      </a:defRPr>
    </a:lvl2pPr>
    <a:lvl3pPr marL="360000" indent="-18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Wingdings" pitchFamily="2" charset="2"/>
      <a:buChar char="§"/>
      <a:defRPr sz="1600" kern="1200">
        <a:solidFill>
          <a:schemeClr val="tx1"/>
        </a:solidFill>
        <a:latin typeface="+mn-lt"/>
        <a:ea typeface="ＭＳ Ｐゴシック" pitchFamily="-84" charset="-128"/>
        <a:cs typeface="+mn-cs"/>
      </a:defRPr>
    </a:lvl3pPr>
    <a:lvl4pPr marL="540000" indent="-18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Wingdings" pitchFamily="2" charset="2"/>
      <a:buChar char="§"/>
      <a:defRPr sz="1600" b="0" kern="1200">
        <a:solidFill>
          <a:schemeClr val="tx1"/>
        </a:solidFill>
        <a:latin typeface="+mn-lt"/>
        <a:ea typeface="ＭＳ Ｐゴシック" pitchFamily="-84" charset="-128"/>
        <a:cs typeface="+mn-cs"/>
      </a:defRPr>
    </a:lvl4pPr>
    <a:lvl5pPr marL="270000" indent="-27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+mj-lt"/>
      <a:buAutoNum type="arabicPeriod"/>
      <a:defRPr sz="1600" b="0" kern="1200">
        <a:solidFill>
          <a:schemeClr val="tx1"/>
        </a:solidFill>
        <a:latin typeface="+mn-lt"/>
        <a:ea typeface="ＭＳ Ｐゴシック" pitchFamily="-84" charset="-128"/>
        <a:cs typeface="+mn-cs"/>
      </a:defRPr>
    </a:lvl5pPr>
    <a:lvl6pPr marL="450850" indent="-180000" algn="l" defTabSz="457130" rtl="0" eaLnBrk="1" latinLnBrk="0" hangingPunct="1">
      <a:spcBef>
        <a:spcPts val="200"/>
      </a:spcBef>
      <a:spcAft>
        <a:spcPts val="200"/>
      </a:spcAft>
      <a:buClr>
        <a:schemeClr val="accent2"/>
      </a:buClr>
      <a:buFont typeface="+mj-lt"/>
      <a:buAutoNum type="alphaLcPeriod"/>
      <a:defRPr sz="1600" b="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457130" rtl="0" eaLnBrk="1" latinLnBrk="0" hangingPunct="1">
      <a:spcBef>
        <a:spcPts val="200"/>
      </a:spcBef>
      <a:spcAft>
        <a:spcPts val="200"/>
      </a:spcAft>
      <a:defRPr sz="2000" b="1" kern="1200">
        <a:solidFill>
          <a:schemeClr val="accent2"/>
        </a:solidFill>
        <a:latin typeface="+mn-lt"/>
        <a:ea typeface="+mn-ea"/>
        <a:cs typeface="+mn-cs"/>
      </a:defRPr>
    </a:lvl7pPr>
    <a:lvl8pPr marL="0" indent="0" algn="l" defTabSz="457130" rtl="0" eaLnBrk="1" latinLnBrk="0" hangingPunct="1">
      <a:spcBef>
        <a:spcPts val="200"/>
      </a:spcBef>
      <a:spcAft>
        <a:spcPts val="200"/>
      </a:spcAft>
      <a:defRPr sz="1100" b="0" kern="1200">
        <a:solidFill>
          <a:schemeClr val="tx2"/>
        </a:solidFill>
        <a:latin typeface="+mn-lt"/>
        <a:ea typeface="+mn-ea"/>
        <a:cs typeface="+mn-cs"/>
      </a:defRPr>
    </a:lvl8pPr>
    <a:lvl9pPr marL="0" indent="0" algn="l" defTabSz="457130" rtl="0" eaLnBrk="1" latinLnBrk="0" hangingPunct="1">
      <a:spcBef>
        <a:spcPts val="200"/>
      </a:spcBef>
      <a:spcAft>
        <a:spcPts val="200"/>
      </a:spcAft>
      <a:defRPr sz="1100" b="0" kern="1200">
        <a:solidFill>
          <a:schemeClr val="tx2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391" userDrawn="1">
          <p15:clr>
            <a:srgbClr val="F26B43"/>
          </p15:clr>
        </p15:guide>
        <p15:guide id="2" pos="2093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afternoon</a:t>
            </a:r>
            <a:r>
              <a:rPr lang="de-DE" dirty="0"/>
              <a:t>, I am </a:t>
            </a:r>
            <a:r>
              <a:rPr lang="de-DE" dirty="0" err="1"/>
              <a:t>pleased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present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today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results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my</a:t>
            </a:r>
            <a:r>
              <a:rPr lang="de-DE" baseline="0" dirty="0"/>
              <a:t> Data Science Project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5536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baseline="0" dirty="0" err="1"/>
              <a:t>Requirements</a:t>
            </a:r>
            <a:endParaRPr lang="de-DE" baseline="0" dirty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baseline="0" dirty="0"/>
              <a:t>Longitudinal </a:t>
            </a:r>
            <a:r>
              <a:rPr lang="de-DE" baseline="0" dirty="0" err="1"/>
              <a:t>mode‘s</a:t>
            </a:r>
            <a:r>
              <a:rPr lang="de-DE" baseline="0" dirty="0"/>
              <a:t> </a:t>
            </a:r>
            <a:r>
              <a:rPr lang="de-DE" baseline="0" dirty="0" err="1"/>
              <a:t>frequency</a:t>
            </a:r>
            <a:r>
              <a:rPr lang="de-DE" baseline="0" dirty="0"/>
              <a:t> </a:t>
            </a:r>
            <a:r>
              <a:rPr lang="de-DE" baseline="0" dirty="0" err="1"/>
              <a:t>should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close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20 kHz (</a:t>
            </a:r>
            <a:r>
              <a:rPr lang="de-DE" baseline="0" dirty="0" err="1"/>
              <a:t>driving</a:t>
            </a:r>
            <a:r>
              <a:rPr lang="de-DE" baseline="0" dirty="0"/>
              <a:t> </a:t>
            </a:r>
            <a:r>
              <a:rPr lang="de-DE" baseline="0" dirty="0" err="1"/>
              <a:t>frequency</a:t>
            </a:r>
            <a:r>
              <a:rPr lang="de-DE" baseline="0" dirty="0"/>
              <a:t>)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baseline="0" dirty="0"/>
              <a:t>Longitudinal </a:t>
            </a:r>
            <a:r>
              <a:rPr lang="de-DE" baseline="0" dirty="0" err="1"/>
              <a:t>mode</a:t>
            </a:r>
            <a:r>
              <a:rPr lang="de-DE" baseline="0" dirty="0"/>
              <a:t> </a:t>
            </a:r>
            <a:r>
              <a:rPr lang="de-DE" baseline="0" dirty="0" err="1"/>
              <a:t>should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isolated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modes</a:t>
            </a:r>
            <a:endParaRPr lang="de-DE" baseline="0" dirty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baseline="0" dirty="0"/>
              <a:t>Longitudinal </a:t>
            </a:r>
            <a:r>
              <a:rPr lang="de-DE" baseline="0" dirty="0" err="1"/>
              <a:t>mode‘s</a:t>
            </a:r>
            <a:r>
              <a:rPr lang="de-DE" baseline="0" dirty="0"/>
              <a:t> </a:t>
            </a:r>
            <a:r>
              <a:rPr lang="de-DE" baseline="0" dirty="0" err="1"/>
              <a:t>displacements</a:t>
            </a:r>
            <a:r>
              <a:rPr lang="de-DE" baseline="0" dirty="0"/>
              <a:t> </a:t>
            </a:r>
            <a:r>
              <a:rPr lang="de-DE" baseline="0" dirty="0" err="1"/>
              <a:t>should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uniform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possible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welding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3315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Goal of this project</a:t>
            </a:r>
            <a:r>
              <a:rPr lang="en-US" sz="1600" kern="1200" baseline="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was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to predict the results of FEM simulations (calculation of modal properties) without running them</a:t>
            </a:r>
          </a:p>
          <a:p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Simulations of complex geometries are very computer-intensive</a:t>
            </a:r>
            <a:r>
              <a:rPr lang="en-US" sz="1600" kern="1200" baseline="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</a:t>
            </a:r>
            <a:r>
              <a:rPr lang="en-US" sz="1600" kern="1200" baseline="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  <a:sym typeface="Wingdings" panose="05000000000000000000" pitchFamily="2" charset="2"/>
              </a:rPr>
              <a:t> so 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one iteration can take up to an hour</a:t>
            </a:r>
          </a:p>
          <a:p>
            <a:endParaRPr lang="de-DE" dirty="0"/>
          </a:p>
          <a:p>
            <a:r>
              <a:rPr lang="de-DE" dirty="0"/>
              <a:t>FEM </a:t>
            </a:r>
            <a:r>
              <a:rPr lang="de-DE" dirty="0" err="1"/>
              <a:t>results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splitted</a:t>
            </a:r>
            <a:r>
              <a:rPr lang="de-DE" baseline="0" dirty="0"/>
              <a:t> in 3 </a:t>
            </a:r>
            <a:r>
              <a:rPr lang="de-DE" baseline="0" dirty="0" err="1"/>
              <a:t>subgoals</a:t>
            </a:r>
            <a:r>
              <a:rPr lang="de-DE" baseline="0" dirty="0"/>
              <a:t> (different </a:t>
            </a:r>
            <a:r>
              <a:rPr lang="de-DE" baseline="0" dirty="0" err="1"/>
              <a:t>target</a:t>
            </a:r>
            <a:r>
              <a:rPr lang="de-DE" baseline="0" dirty="0"/>
              <a:t> variables)</a:t>
            </a:r>
          </a:p>
          <a:p>
            <a:pPr lvl="0"/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- Prediction of the longitudinal mode’s frequency</a:t>
            </a:r>
          </a:p>
          <a:p>
            <a:pPr lvl="0"/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- Prediction of the frequencies of all other modes:</a:t>
            </a:r>
            <a:r>
              <a:rPr lang="en-US" sz="1600" kern="1200" baseline="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in particular those near 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the longitudinal mode (ex: 5 modes below and 5 modes above). </a:t>
            </a:r>
            <a:endParaRPr lang="de-DE" sz="1600" kern="1200" dirty="0">
              <a:solidFill>
                <a:schemeClr val="tx1"/>
              </a:solidFill>
              <a:effectLst/>
              <a:latin typeface="+mn-lt"/>
              <a:ea typeface="ＭＳ Ｐゴシック" pitchFamily="-84" charset="-128"/>
              <a:cs typeface="ＭＳ Ｐゴシック" charset="0"/>
            </a:endParaRPr>
          </a:p>
          <a:p>
            <a:pPr lvl="0"/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- Prediction of the displacements’ uniformity (as a number),</a:t>
            </a:r>
            <a:r>
              <a:rPr lang="en-US" sz="1600" kern="1200" baseline="0" dirty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rather than all displacement values</a:t>
            </a:r>
            <a:endParaRPr lang="de-DE" sz="1600" kern="1200" dirty="0">
              <a:solidFill>
                <a:schemeClr val="tx1"/>
              </a:solidFill>
              <a:effectLst/>
              <a:latin typeface="+mn-lt"/>
              <a:ea typeface="ＭＳ Ｐゴシック" pitchFamily="-84" charset="-128"/>
              <a:cs typeface="ＭＳ Ｐゴシック" charset="0"/>
            </a:endParaRPr>
          </a:p>
          <a:p>
            <a:pPr marL="285750" indent="-285750">
              <a:buFontTx/>
              <a:buChar char="-"/>
            </a:pPr>
            <a:endParaRPr lang="de-DE" baseline="0" dirty="0"/>
          </a:p>
          <a:p>
            <a:pPr marL="0" indent="0">
              <a:buFontTx/>
              <a:buNone/>
            </a:pPr>
            <a:r>
              <a:rPr lang="de-DE" baseline="0" dirty="0" err="1"/>
              <a:t>Geometry</a:t>
            </a:r>
            <a:r>
              <a:rPr lang="de-DE" baseline="0" dirty="0"/>
              <a:t> </a:t>
            </a:r>
            <a:r>
              <a:rPr lang="de-DE" baseline="0" dirty="0" err="1"/>
              <a:t>described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23 </a:t>
            </a:r>
            <a:r>
              <a:rPr lang="de-DE" baseline="0" dirty="0" err="1"/>
              <a:t>parameters</a:t>
            </a:r>
            <a:endParaRPr lang="de-DE" baseline="0" dirty="0"/>
          </a:p>
          <a:p>
            <a:pPr marL="285750" indent="-285750">
              <a:buFontTx/>
              <a:buChar char="-"/>
            </a:pPr>
            <a:r>
              <a:rPr lang="de-DE" baseline="0" dirty="0" err="1"/>
              <a:t>dim_x</a:t>
            </a:r>
            <a:r>
              <a:rPr lang="de-DE" baseline="0" dirty="0"/>
              <a:t> / </a:t>
            </a:r>
            <a:r>
              <a:rPr lang="de-DE" baseline="0" dirty="0" err="1"/>
              <a:t>dim_z</a:t>
            </a:r>
            <a:r>
              <a:rPr lang="de-DE" baseline="0" dirty="0"/>
              <a:t> </a:t>
            </a:r>
            <a:r>
              <a:rPr lang="de-DE" baseline="0" dirty="0" err="1"/>
              <a:t>welding</a:t>
            </a:r>
            <a:r>
              <a:rPr lang="de-DE" baseline="0" dirty="0"/>
              <a:t> (</a:t>
            </a:r>
            <a:r>
              <a:rPr lang="de-DE" baseline="0" dirty="0" err="1"/>
              <a:t>output</a:t>
            </a:r>
            <a:r>
              <a:rPr lang="de-DE" baseline="0" dirty="0"/>
              <a:t>)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usually</a:t>
            </a:r>
            <a:r>
              <a:rPr lang="de-DE" baseline="0" dirty="0"/>
              <a:t> </a:t>
            </a:r>
            <a:r>
              <a:rPr lang="de-DE" baseline="0" dirty="0" err="1"/>
              <a:t>fixed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welding</a:t>
            </a:r>
            <a:r>
              <a:rPr lang="de-DE" baseline="0" dirty="0"/>
              <a:t> </a:t>
            </a:r>
            <a:r>
              <a:rPr lang="de-DE" baseline="0" dirty="0" err="1"/>
              <a:t>part</a:t>
            </a:r>
            <a:endParaRPr lang="de-DE" baseline="0" dirty="0"/>
          </a:p>
          <a:p>
            <a:pPr marL="465750" lvl="1" indent="-285750">
              <a:buFontTx/>
              <a:buChar char="-"/>
            </a:pPr>
            <a:r>
              <a:rPr lang="de-DE" baseline="0" dirty="0"/>
              <a:t>Variation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="1" baseline="0" dirty="0"/>
              <a:t>+/- 5 mm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>
                <a:sym typeface="Wingdings" panose="05000000000000000000" pitchFamily="2" charset="2"/>
              </a:rPr>
              <a:t> </a:t>
            </a:r>
            <a:r>
              <a:rPr lang="de-DE" b="1" baseline="0" dirty="0" err="1">
                <a:sym typeface="Wingdings" panose="05000000000000000000" pitchFamily="2" charset="2"/>
              </a:rPr>
              <a:t>local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observation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first</a:t>
            </a:r>
            <a:endParaRPr lang="de-DE" baseline="0" dirty="0"/>
          </a:p>
          <a:p>
            <a:pPr marL="285750" indent="-285750">
              <a:buFontTx/>
              <a:buChar char="-"/>
            </a:pPr>
            <a:r>
              <a:rPr lang="de-DE" baseline="0" dirty="0" err="1"/>
              <a:t>dim_y</a:t>
            </a:r>
            <a:r>
              <a:rPr lang="de-DE" baseline="0" dirty="0"/>
              <a:t>: </a:t>
            </a:r>
            <a:r>
              <a:rPr lang="de-DE" baseline="0" dirty="0" err="1"/>
              <a:t>oscillation</a:t>
            </a:r>
            <a:r>
              <a:rPr lang="de-DE" baseline="0" dirty="0"/>
              <a:t> </a:t>
            </a:r>
            <a:r>
              <a:rPr lang="de-DE" baseline="0" dirty="0" err="1"/>
              <a:t>length</a:t>
            </a:r>
            <a:r>
              <a:rPr lang="de-DE" baseline="0" dirty="0"/>
              <a:t>, </a:t>
            </a:r>
            <a:r>
              <a:rPr lang="de-DE" baseline="0" dirty="0" err="1"/>
              <a:t>important</a:t>
            </a:r>
            <a:r>
              <a:rPr lang="de-DE" baseline="0" dirty="0"/>
              <a:t> </a:t>
            </a:r>
            <a:r>
              <a:rPr lang="de-DE" baseline="0" dirty="0" err="1"/>
              <a:t>feature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tune </a:t>
            </a:r>
            <a:r>
              <a:rPr lang="de-DE" baseline="0" dirty="0" err="1"/>
              <a:t>the</a:t>
            </a:r>
            <a:r>
              <a:rPr lang="de-DE" baseline="0" dirty="0"/>
              <a:t> longitudinal </a:t>
            </a:r>
            <a:r>
              <a:rPr lang="de-DE" baseline="0" dirty="0" err="1"/>
              <a:t>frequency</a:t>
            </a:r>
            <a:endParaRPr lang="de-DE" baseline="0" dirty="0"/>
          </a:p>
          <a:p>
            <a:pPr marL="285750" indent="-285750">
              <a:buFontTx/>
              <a:buChar char="-"/>
            </a:pPr>
            <a:r>
              <a:rPr lang="de-DE" baseline="0" dirty="0" err="1"/>
              <a:t>here</a:t>
            </a:r>
            <a:r>
              <a:rPr lang="de-DE" baseline="0" dirty="0"/>
              <a:t>: 4 </a:t>
            </a:r>
            <a:r>
              <a:rPr lang="de-DE" baseline="0" dirty="0" err="1"/>
              <a:t>slots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2 </a:t>
            </a:r>
            <a:r>
              <a:rPr lang="de-DE" baseline="0" dirty="0" err="1"/>
              <a:t>slots</a:t>
            </a:r>
            <a:r>
              <a:rPr lang="de-DE" baseline="0" dirty="0"/>
              <a:t> in </a:t>
            </a:r>
            <a:r>
              <a:rPr lang="de-DE" baseline="0" dirty="0" err="1"/>
              <a:t>both</a:t>
            </a:r>
            <a:r>
              <a:rPr lang="de-DE" baseline="0" dirty="0"/>
              <a:t> </a:t>
            </a:r>
            <a:r>
              <a:rPr lang="de-DE" baseline="0" dirty="0" err="1"/>
              <a:t>directions</a:t>
            </a:r>
            <a:endParaRPr lang="de-DE" baseline="0" dirty="0"/>
          </a:p>
          <a:p>
            <a:pPr marL="285750" indent="-285750">
              <a:buFontTx/>
              <a:buChar char="-"/>
            </a:pP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dimensions</a:t>
            </a:r>
            <a:r>
              <a:rPr lang="de-DE" baseline="0" dirty="0"/>
              <a:t>: </a:t>
            </a:r>
            <a:r>
              <a:rPr lang="de-DE" baseline="0" dirty="0" err="1"/>
              <a:t>free</a:t>
            </a:r>
            <a:r>
              <a:rPr lang="de-DE" baseline="0" dirty="0"/>
              <a:t>,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optimize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modal </a:t>
            </a:r>
            <a:r>
              <a:rPr lang="de-DE" baseline="0" dirty="0" err="1"/>
              <a:t>properties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sonotrode</a:t>
            </a:r>
          </a:p>
          <a:p>
            <a:pPr marL="285750" indent="-285750">
              <a:buFontTx/>
              <a:buChar char="-"/>
            </a:pPr>
            <a:endParaRPr lang="de-DE" baseline="0" dirty="0"/>
          </a:p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5478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describe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longitudinal </a:t>
            </a:r>
            <a:r>
              <a:rPr lang="de-DE" baseline="0" dirty="0" err="1"/>
              <a:t>mode‘s</a:t>
            </a:r>
            <a:r>
              <a:rPr lang="de-DE" baseline="0" dirty="0"/>
              <a:t> </a:t>
            </a:r>
            <a:r>
              <a:rPr lang="de-DE" baseline="0" dirty="0" err="1"/>
              <a:t>displacements</a:t>
            </a:r>
            <a:r>
              <a:rPr lang="de-DE" baseline="0" dirty="0"/>
              <a:t>: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the</a:t>
            </a:r>
            <a:r>
              <a:rPr lang="de-DE" dirty="0"/>
              <a:t> MAC</a:t>
            </a:r>
            <a:r>
              <a:rPr lang="de-DE" baseline="0" dirty="0"/>
              <a:t> </a:t>
            </a:r>
            <a:r>
              <a:rPr lang="de-DE" baseline="0" dirty="0" err="1"/>
              <a:t>value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an </a:t>
            </a:r>
            <a:r>
              <a:rPr lang="de-DE" baseline="0" dirty="0" err="1"/>
              <a:t>indicator</a:t>
            </a:r>
            <a:r>
              <a:rPr lang="de-DE" baseline="0" dirty="0"/>
              <a:t>,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compares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calculated</a:t>
            </a:r>
            <a:r>
              <a:rPr lang="de-DE" baseline="0" dirty="0"/>
              <a:t> </a:t>
            </a:r>
            <a:r>
              <a:rPr lang="de-DE" baseline="0" dirty="0" err="1"/>
              <a:t>mode</a:t>
            </a:r>
            <a:r>
              <a:rPr lang="de-DE" baseline="0" dirty="0"/>
              <a:t> </a:t>
            </a:r>
            <a:r>
              <a:rPr lang="de-DE" baseline="0" dirty="0" err="1"/>
              <a:t>shapes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a </a:t>
            </a:r>
            <a:r>
              <a:rPr lang="de-DE" baseline="0" dirty="0" err="1"/>
              <a:t>reference</a:t>
            </a:r>
            <a:r>
              <a:rPr lang="de-DE" baseline="0" dirty="0"/>
              <a:t> </a:t>
            </a:r>
            <a:r>
              <a:rPr lang="de-DE" baseline="0" dirty="0" err="1"/>
              <a:t>shape</a:t>
            </a:r>
            <a:r>
              <a:rPr lang="de-DE" baseline="0" dirty="0"/>
              <a:t>, </a:t>
            </a:r>
            <a:r>
              <a:rPr lang="de-DE" baseline="0" dirty="0" err="1"/>
              <a:t>chosen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an ideal </a:t>
            </a:r>
            <a:r>
              <a:rPr lang="de-DE" baseline="0" dirty="0" err="1"/>
              <a:t>long</a:t>
            </a:r>
            <a:r>
              <a:rPr lang="de-DE" baseline="0" dirty="0"/>
              <a:t>. </a:t>
            </a:r>
            <a:r>
              <a:rPr lang="de-DE" baseline="0" dirty="0" err="1"/>
              <a:t>mode</a:t>
            </a:r>
            <a:r>
              <a:rPr lang="de-DE" baseline="0" dirty="0"/>
              <a:t> </a:t>
            </a:r>
            <a:r>
              <a:rPr lang="de-DE" baseline="0" dirty="0" err="1"/>
              <a:t>shape</a:t>
            </a:r>
            <a:endParaRPr lang="de-DE" baseline="0" dirty="0"/>
          </a:p>
          <a:p>
            <a:pPr marL="285750" indent="-285750">
              <a:buFontTx/>
              <a:buChar char="-"/>
            </a:pPr>
            <a:r>
              <a:rPr lang="de-DE" baseline="0" dirty="0"/>
              <a:t>in a </a:t>
            </a:r>
            <a:r>
              <a:rPr lang="de-DE" baseline="0" dirty="0" err="1"/>
              <a:t>range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0 (</a:t>
            </a:r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correspondance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long</a:t>
            </a:r>
            <a:r>
              <a:rPr lang="de-DE" baseline="0" dirty="0"/>
              <a:t>. </a:t>
            </a:r>
            <a:r>
              <a:rPr lang="de-DE" baseline="0" dirty="0" err="1"/>
              <a:t>mode</a:t>
            </a:r>
            <a:r>
              <a:rPr lang="de-DE" baseline="0" dirty="0"/>
              <a:t> </a:t>
            </a:r>
            <a:r>
              <a:rPr lang="de-DE" baseline="0" dirty="0" err="1"/>
              <a:t>shape</a:t>
            </a:r>
            <a:r>
              <a:rPr lang="de-DE" baseline="0" dirty="0"/>
              <a:t> at </a:t>
            </a:r>
            <a:r>
              <a:rPr lang="de-DE" baseline="0" dirty="0" err="1"/>
              <a:t>alll</a:t>
            </a:r>
            <a:r>
              <a:rPr lang="de-DE" baseline="0" dirty="0"/>
              <a:t>) </a:t>
            </a:r>
            <a:r>
              <a:rPr lang="de-DE" baseline="0" dirty="0" err="1"/>
              <a:t>to</a:t>
            </a:r>
            <a:r>
              <a:rPr lang="de-DE" baseline="0" dirty="0"/>
              <a:t> 1 (</a:t>
            </a:r>
            <a:r>
              <a:rPr lang="de-DE" baseline="0" dirty="0" err="1"/>
              <a:t>equals</a:t>
            </a:r>
            <a:r>
              <a:rPr lang="de-DE" baseline="0" dirty="0"/>
              <a:t> a </a:t>
            </a:r>
            <a:r>
              <a:rPr lang="de-DE" baseline="0" dirty="0" err="1"/>
              <a:t>perfect</a:t>
            </a:r>
            <a:r>
              <a:rPr lang="de-DE" baseline="0" dirty="0"/>
              <a:t> longitudinal </a:t>
            </a:r>
            <a:r>
              <a:rPr lang="de-DE" baseline="0" dirty="0" err="1"/>
              <a:t>mode</a:t>
            </a:r>
            <a:r>
              <a:rPr lang="de-DE" baseline="0" dirty="0"/>
              <a:t> </a:t>
            </a:r>
            <a:r>
              <a:rPr lang="de-DE" baseline="0" dirty="0" err="1"/>
              <a:t>shape</a:t>
            </a:r>
            <a:r>
              <a:rPr lang="de-DE" baseline="0" dirty="0"/>
              <a:t>)</a:t>
            </a:r>
          </a:p>
          <a:p>
            <a:pPr marL="285750" indent="-285750">
              <a:buFontTx/>
              <a:buChar char="-"/>
            </a:pPr>
            <a:r>
              <a:rPr lang="de-DE" baseline="0" dirty="0" err="1"/>
              <a:t>the</a:t>
            </a:r>
            <a:r>
              <a:rPr lang="de-DE" baseline="0" dirty="0"/>
              <a:t> FEM </a:t>
            </a:r>
            <a:r>
              <a:rPr lang="de-DE" baseline="0" dirty="0" err="1"/>
              <a:t>program</a:t>
            </a:r>
            <a:r>
              <a:rPr lang="de-DE" baseline="0" dirty="0"/>
              <a:t> </a:t>
            </a:r>
            <a:r>
              <a:rPr lang="de-DE" baseline="0" dirty="0" err="1"/>
              <a:t>directly</a:t>
            </a:r>
            <a:r>
              <a:rPr lang="de-DE" baseline="0" dirty="0"/>
              <a:t> </a:t>
            </a:r>
            <a:r>
              <a:rPr lang="de-DE" baseline="0" dirty="0" err="1"/>
              <a:t>calculates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MAC </a:t>
            </a:r>
            <a:r>
              <a:rPr lang="de-DE" baseline="0" dirty="0" err="1"/>
              <a:t>value</a:t>
            </a:r>
            <a:r>
              <a:rPr lang="de-DE" baseline="0" dirty="0"/>
              <a:t> </a:t>
            </a:r>
            <a:r>
              <a:rPr lang="de-DE" baseline="0" dirty="0" err="1"/>
              <a:t>when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simulation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complete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When</a:t>
            </a:r>
            <a:r>
              <a:rPr lang="de-DE" dirty="0"/>
              <a:t> a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all</a:t>
            </a:r>
            <a:r>
              <a:rPr lang="de-DE" baseline="0" dirty="0"/>
              <a:t> </a:t>
            </a:r>
            <a:r>
              <a:rPr lang="de-DE" baseline="0" dirty="0" err="1"/>
              <a:t>modes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been</a:t>
            </a:r>
            <a:r>
              <a:rPr lang="de-DE" baseline="0" dirty="0"/>
              <a:t> </a:t>
            </a:r>
            <a:r>
              <a:rPr lang="de-DE" baseline="0" dirty="0" err="1"/>
              <a:t>calculated</a:t>
            </a:r>
            <a:r>
              <a:rPr lang="de-DE" baseline="0" dirty="0"/>
              <a:t>, </a:t>
            </a:r>
            <a:r>
              <a:rPr lang="de-DE" baseline="0" dirty="0" err="1"/>
              <a:t>t</a:t>
            </a:r>
            <a:r>
              <a:rPr lang="de-DE" dirty="0" err="1"/>
              <a:t>he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. </a:t>
            </a:r>
            <a:r>
              <a:rPr lang="de-DE" dirty="0" err="1"/>
              <a:t>mode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comparing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MAC </a:t>
            </a:r>
            <a:r>
              <a:rPr lang="de-DE" dirty="0" err="1"/>
              <a:t>value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each</a:t>
            </a:r>
            <a:r>
              <a:rPr lang="de-DE" baseline="0" dirty="0"/>
              <a:t> </a:t>
            </a:r>
            <a:r>
              <a:rPr lang="de-DE" baseline="0" dirty="0" err="1"/>
              <a:t>mode</a:t>
            </a:r>
            <a:r>
              <a:rPr lang="de-DE" baseline="0" dirty="0"/>
              <a:t>.</a:t>
            </a:r>
          </a:p>
          <a:p>
            <a:r>
              <a:rPr lang="de-DE" baseline="0" dirty="0"/>
              <a:t>The </a:t>
            </a:r>
            <a:r>
              <a:rPr lang="de-DE" baseline="0" dirty="0" err="1"/>
              <a:t>mode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highest</a:t>
            </a:r>
            <a:r>
              <a:rPr lang="de-DE" baseline="0" dirty="0"/>
              <a:t> </a:t>
            </a:r>
            <a:r>
              <a:rPr lang="de-DE" baseline="0" dirty="0" err="1"/>
              <a:t>value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marked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long</a:t>
            </a:r>
            <a:r>
              <a:rPr lang="de-DE" baseline="0" dirty="0"/>
              <a:t>. </a:t>
            </a:r>
            <a:r>
              <a:rPr lang="de-DE" baseline="0" dirty="0" err="1"/>
              <a:t>mode</a:t>
            </a:r>
            <a:r>
              <a:rPr lang="de-DE" baseline="0" dirty="0"/>
              <a:t>. The </a:t>
            </a:r>
            <a:r>
              <a:rPr lang="de-DE" baseline="0" dirty="0" err="1"/>
              <a:t>mode</a:t>
            </a:r>
            <a:r>
              <a:rPr lang="de-DE" baseline="0" dirty="0"/>
              <a:t> </a:t>
            </a:r>
            <a:r>
              <a:rPr lang="de-DE" baseline="0" dirty="0" err="1"/>
              <a:t>number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change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2 geometries.</a:t>
            </a:r>
            <a:endParaRPr lang="de-DE" dirty="0"/>
          </a:p>
          <a:p>
            <a:endParaRPr lang="de-DE" dirty="0"/>
          </a:p>
          <a:p>
            <a:r>
              <a:rPr lang="de-DE" dirty="0"/>
              <a:t>A design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represents</a:t>
            </a:r>
            <a:r>
              <a:rPr lang="de-DE" baseline="0" dirty="0"/>
              <a:t> a </a:t>
            </a:r>
            <a:r>
              <a:rPr lang="de-DE" baseline="0" dirty="0" err="1"/>
              <a:t>distinct</a:t>
            </a:r>
            <a:r>
              <a:rPr lang="de-DE" baseline="0" dirty="0"/>
              <a:t> </a:t>
            </a:r>
            <a:r>
              <a:rPr lang="de-DE" baseline="0" dirty="0" err="1"/>
              <a:t>geometry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a 23-dimensional </a:t>
            </a:r>
            <a:r>
              <a:rPr lang="de-DE" baseline="0" dirty="0" err="1"/>
              <a:t>vector</a:t>
            </a:r>
            <a:r>
              <a:rPr lang="de-DE" baseline="0" dirty="0"/>
              <a:t>. </a:t>
            </a:r>
            <a:r>
              <a:rPr lang="de-DE" baseline="0" dirty="0" err="1"/>
              <a:t>Before</a:t>
            </a:r>
            <a:r>
              <a:rPr lang="de-DE" baseline="0" dirty="0"/>
              <a:t> </a:t>
            </a:r>
            <a:r>
              <a:rPr lang="de-DE" baseline="0" dirty="0" err="1"/>
              <a:t>starting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, I </a:t>
            </a:r>
            <a:r>
              <a:rPr lang="de-DE" baseline="0" dirty="0" err="1"/>
              <a:t>generated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DPs </a:t>
            </a:r>
            <a:r>
              <a:rPr lang="de-DE" baseline="0" dirty="0" err="1"/>
              <a:t>randomly</a:t>
            </a:r>
            <a:r>
              <a:rPr lang="de-DE" baseline="0" dirty="0"/>
              <a:t> </a:t>
            </a:r>
            <a:r>
              <a:rPr lang="de-DE" baseline="0" dirty="0" err="1"/>
              <a:t>within</a:t>
            </a:r>
            <a:r>
              <a:rPr lang="de-DE" baseline="0" dirty="0"/>
              <a:t> a </a:t>
            </a:r>
            <a:r>
              <a:rPr lang="de-DE" baseline="0" dirty="0" err="1"/>
              <a:t>defined</a:t>
            </a:r>
            <a:r>
              <a:rPr lang="de-DE" baseline="0" dirty="0"/>
              <a:t> </a:t>
            </a:r>
            <a:r>
              <a:rPr lang="de-DE" baseline="0" dirty="0" err="1"/>
              <a:t>parameter</a:t>
            </a:r>
            <a:r>
              <a:rPr lang="de-DE" baseline="0" dirty="0"/>
              <a:t> </a:t>
            </a:r>
            <a:r>
              <a:rPr lang="de-DE" baseline="0" dirty="0" err="1"/>
              <a:t>space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ensure</a:t>
            </a:r>
            <a:r>
              <a:rPr lang="de-DE" baseline="0" dirty="0"/>
              <a:t> valid sonotrode geometries.</a:t>
            </a:r>
          </a:p>
          <a:p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about</a:t>
            </a:r>
            <a:r>
              <a:rPr lang="de-DE" baseline="0" dirty="0"/>
              <a:t> 8000 DPs. The </a:t>
            </a:r>
            <a:r>
              <a:rPr lang="de-DE" baseline="0" dirty="0" err="1"/>
              <a:t>data</a:t>
            </a:r>
            <a:r>
              <a:rPr lang="de-DE" baseline="0" dirty="0"/>
              <a:t> was </a:t>
            </a:r>
            <a:r>
              <a:rPr lang="de-DE" baseline="0" dirty="0" err="1"/>
              <a:t>stored</a:t>
            </a:r>
            <a:r>
              <a:rPr lang="de-DE" baseline="0" dirty="0"/>
              <a:t> in CSV </a:t>
            </a:r>
            <a:r>
              <a:rPr lang="de-DE" baseline="0" dirty="0" err="1"/>
              <a:t>files</a:t>
            </a:r>
            <a:r>
              <a:rPr lang="de-DE" baseline="0" dirty="0"/>
              <a:t> </a:t>
            </a:r>
            <a:r>
              <a:rPr lang="de-DE" baseline="0" dirty="0" err="1"/>
              <a:t>written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FEM</a:t>
            </a:r>
            <a:r>
              <a:rPr lang="de-DE" baseline="0" dirty="0"/>
              <a:t> </a:t>
            </a:r>
            <a:r>
              <a:rPr lang="de-DE" baseline="0" dirty="0" err="1"/>
              <a:t>program</a:t>
            </a:r>
            <a:r>
              <a:rPr lang="de-DE" baseline="0" dirty="0"/>
              <a:t>.</a:t>
            </a:r>
          </a:p>
          <a:p>
            <a:r>
              <a:rPr lang="de-DE" baseline="0" dirty="0" err="1"/>
              <a:t>During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data</a:t>
            </a:r>
            <a:r>
              <a:rPr lang="de-DE" baseline="0" dirty="0"/>
              <a:t> </a:t>
            </a:r>
            <a:r>
              <a:rPr lang="de-DE" baseline="0" dirty="0" err="1"/>
              <a:t>collection</a:t>
            </a:r>
            <a:r>
              <a:rPr lang="de-DE" baseline="0" dirty="0"/>
              <a:t> </a:t>
            </a:r>
            <a:r>
              <a:rPr lang="de-DE" baseline="0" dirty="0" err="1"/>
              <a:t>step</a:t>
            </a:r>
            <a:r>
              <a:rPr lang="de-DE" baseline="0" dirty="0"/>
              <a:t>, I </a:t>
            </a:r>
            <a:r>
              <a:rPr lang="de-DE" baseline="0" dirty="0" err="1"/>
              <a:t>imported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24,000 CSV </a:t>
            </a:r>
            <a:r>
              <a:rPr lang="de-DE" baseline="0" dirty="0" err="1"/>
              <a:t>files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4 </a:t>
            </a:r>
            <a:r>
              <a:rPr lang="de-DE" baseline="0" dirty="0" err="1"/>
              <a:t>dataframes</a:t>
            </a:r>
            <a:r>
              <a:rPr lang="de-DE" baseline="0" dirty="0"/>
              <a:t>,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see</a:t>
            </a:r>
            <a:r>
              <a:rPr lang="de-DE" baseline="0" dirty="0"/>
              <a:t> </a:t>
            </a:r>
            <a:r>
              <a:rPr lang="de-DE" baseline="0" dirty="0" err="1"/>
              <a:t>now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6070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* Data </a:t>
            </a:r>
            <a:r>
              <a:rPr lang="de-DE" dirty="0" err="1"/>
              <a:t>visualization</a:t>
            </a:r>
            <a:endParaRPr lang="de-DE" dirty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indent="0">
              <a:buFontTx/>
              <a:buNone/>
            </a:pPr>
            <a:r>
              <a:rPr lang="en-US" baseline="0" dirty="0"/>
              <a:t>We start with the distribution of t</a:t>
            </a:r>
            <a:r>
              <a:rPr lang="en-US" dirty="0"/>
              <a:t>he explanatory variables: the geometric parameters are distributed according </a:t>
            </a:r>
            <a:r>
              <a:rPr lang="en-US" baseline="0" dirty="0"/>
              <a:t>a </a:t>
            </a:r>
            <a:r>
              <a:rPr lang="en-US" dirty="0"/>
              <a:t>normal</a:t>
            </a:r>
            <a:r>
              <a:rPr lang="en-US" baseline="0" dirty="0"/>
              <a:t> distribution</a:t>
            </a:r>
          </a:p>
          <a:p>
            <a:pPr marL="0" indent="0">
              <a:buFontTx/>
              <a:buNone/>
            </a:pPr>
            <a:r>
              <a:rPr lang="de-DE" baseline="0" dirty="0" err="1"/>
              <a:t>slot_x_distance</a:t>
            </a:r>
            <a:r>
              <a:rPr lang="de-DE" baseline="0" dirty="0"/>
              <a:t> and </a:t>
            </a:r>
            <a:r>
              <a:rPr lang="de-DE" baseline="0" dirty="0" err="1"/>
              <a:t>slot_z_distance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a </a:t>
            </a:r>
            <a:r>
              <a:rPr lang="de-DE" baseline="0" dirty="0" err="1"/>
              <a:t>skew</a:t>
            </a:r>
            <a:r>
              <a:rPr lang="de-DE" baseline="0" dirty="0"/>
              <a:t> </a:t>
            </a:r>
            <a:r>
              <a:rPr lang="de-DE" baseline="0" dirty="0" err="1"/>
              <a:t>distribution</a:t>
            </a:r>
            <a:r>
              <a:rPr lang="de-DE" baseline="0" dirty="0"/>
              <a:t> </a:t>
            </a:r>
            <a:r>
              <a:rPr lang="de-DE" baseline="0" dirty="0">
                <a:sym typeface="Wingdings" panose="05000000000000000000" pitchFamily="2" charset="2"/>
              </a:rPr>
              <a:t> </a:t>
            </a:r>
            <a:r>
              <a:rPr lang="de-DE" baseline="0" dirty="0" err="1">
                <a:sym typeface="Wingdings" panose="05000000000000000000" pitchFamily="2" charset="2"/>
              </a:rPr>
              <a:t>they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depending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variable </a:t>
            </a:r>
            <a:r>
              <a:rPr lang="de-DE" baseline="0" dirty="0" err="1"/>
              <a:t>number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slots</a:t>
            </a:r>
            <a:endParaRPr lang="de-DE" baseline="0" dirty="0"/>
          </a:p>
          <a:p>
            <a:pPr marL="0" indent="0">
              <a:buFontTx/>
              <a:buNone/>
            </a:pPr>
            <a:endParaRPr lang="de-DE" dirty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589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F338-215E-7A8C-D40B-AFC26D51C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0A681B-3208-D154-EE0E-206AE63D0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8BD9A7-7838-5590-D4B5-B0B298D20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DP 1001: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geometric</a:t>
            </a:r>
            <a:r>
              <a:rPr lang="de-DE" dirty="0"/>
              <a:t> </a:t>
            </a:r>
            <a:r>
              <a:rPr lang="de-DE" dirty="0" err="1"/>
              <a:t>parameters</a:t>
            </a: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0" indent="0">
              <a:buFontTx/>
              <a:buNone/>
            </a:pPr>
            <a:r>
              <a:rPr lang="de-DE" dirty="0" err="1"/>
              <a:t>Identified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. </a:t>
            </a:r>
            <a:r>
              <a:rPr lang="de-DE" dirty="0" err="1"/>
              <a:t>mode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 77, </a:t>
            </a:r>
            <a:r>
              <a:rPr lang="de-DE" dirty="0" err="1"/>
              <a:t>why</a:t>
            </a:r>
            <a:r>
              <a:rPr lang="de-DE" dirty="0"/>
              <a:t>?</a:t>
            </a:r>
          </a:p>
          <a:p>
            <a:pPr marL="0" indent="0">
              <a:buFontTx/>
              <a:buNone/>
            </a:pPr>
            <a:r>
              <a:rPr lang="de-DE" dirty="0"/>
              <a:t>-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baseline="0" dirty="0"/>
              <a:t> </a:t>
            </a:r>
            <a:r>
              <a:rPr lang="de-DE" baseline="0" dirty="0" err="1"/>
              <a:t>list</a:t>
            </a:r>
            <a:r>
              <a:rPr lang="de-DE" baseline="0" dirty="0"/>
              <a:t>:</a:t>
            </a:r>
          </a:p>
          <a:p>
            <a:pPr marL="0" indent="0">
              <a:buFontTx/>
              <a:buNone/>
            </a:pPr>
            <a:r>
              <a:rPr lang="de-DE" baseline="0" dirty="0"/>
              <a:t>MAC </a:t>
            </a:r>
            <a:r>
              <a:rPr lang="de-DE" baseline="0" dirty="0" err="1"/>
              <a:t>value</a:t>
            </a:r>
            <a:r>
              <a:rPr lang="de-DE" baseline="0" dirty="0"/>
              <a:t> 0.92 maximal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mode</a:t>
            </a:r>
            <a:r>
              <a:rPr lang="de-DE" baseline="0" dirty="0"/>
              <a:t> 77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Long. </a:t>
            </a:r>
            <a:r>
              <a:rPr lang="de-DE" baseline="0" dirty="0" err="1"/>
              <a:t>frequency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frequency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mode</a:t>
            </a:r>
            <a:r>
              <a:rPr lang="de-DE" baseline="0" dirty="0"/>
              <a:t> 77: 19218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Delta 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61 Hz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/>
              <a:t>Displacements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mode</a:t>
            </a:r>
            <a:r>
              <a:rPr lang="de-DE" baseline="0" dirty="0"/>
              <a:t> 77 </a:t>
            </a:r>
            <a:r>
              <a:rPr lang="de-DE" baseline="0" dirty="0" err="1"/>
              <a:t>are</a:t>
            </a:r>
            <a:r>
              <a:rPr lang="de-DE" baseline="0" dirty="0"/>
              <a:t> not </a:t>
            </a:r>
            <a:r>
              <a:rPr lang="de-DE" baseline="0" dirty="0" err="1"/>
              <a:t>perfectly</a:t>
            </a:r>
            <a:r>
              <a:rPr lang="de-DE" baseline="0" dirty="0"/>
              <a:t> uniform (</a:t>
            </a:r>
            <a:r>
              <a:rPr lang="de-DE" baseline="0" dirty="0" err="1"/>
              <a:t>although</a:t>
            </a:r>
            <a:r>
              <a:rPr lang="de-DE" baseline="0" dirty="0"/>
              <a:t> </a:t>
            </a:r>
            <a:r>
              <a:rPr lang="de-DE" baseline="0" dirty="0" err="1"/>
              <a:t>they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same </a:t>
            </a:r>
            <a:r>
              <a:rPr lang="de-DE" baseline="0" dirty="0" err="1"/>
              <a:t>sign</a:t>
            </a:r>
            <a:r>
              <a:rPr lang="de-DE" baseline="0" dirty="0"/>
              <a:t>)</a:t>
            </a:r>
            <a:endParaRPr lang="de-DE" dirty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2EF66B-0357-617F-257D-1963D5AF9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7704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see</a:t>
            </a:r>
            <a:r>
              <a:rPr lang="de-DE" baseline="0" dirty="0"/>
              <a:t>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overview</a:t>
            </a:r>
            <a:r>
              <a:rPr lang="de-DE" baseline="0" dirty="0"/>
              <a:t> </a:t>
            </a:r>
            <a:r>
              <a:rPr lang="de-DE" baseline="0" dirty="0" err="1"/>
              <a:t>table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best</a:t>
            </a:r>
            <a:r>
              <a:rPr lang="de-DE" baseline="0" dirty="0"/>
              <a:t> </a:t>
            </a:r>
            <a:r>
              <a:rPr lang="de-DE" baseline="0" dirty="0" err="1"/>
              <a:t>results</a:t>
            </a:r>
            <a:r>
              <a:rPr lang="de-DE" baseline="0" dirty="0"/>
              <a:t> </a:t>
            </a:r>
            <a:r>
              <a:rPr lang="de-DE" baseline="0" dirty="0" err="1"/>
              <a:t>achieved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3 </a:t>
            </a:r>
            <a:r>
              <a:rPr lang="de-DE" baseline="0" dirty="0" err="1"/>
              <a:t>targets</a:t>
            </a:r>
            <a:r>
              <a:rPr lang="de-DE" baseline="0" dirty="0"/>
              <a:t>:</a:t>
            </a:r>
          </a:p>
          <a:p>
            <a:r>
              <a:rPr lang="de-DE" baseline="0" dirty="0"/>
              <a:t>Today I will </a:t>
            </a:r>
            <a:r>
              <a:rPr lang="de-DE" baseline="0" dirty="0" err="1"/>
              <a:t>present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results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long</a:t>
            </a:r>
            <a:r>
              <a:rPr lang="de-DE" baseline="0" dirty="0"/>
              <a:t>. </a:t>
            </a:r>
            <a:r>
              <a:rPr lang="de-DE" baseline="0" dirty="0" err="1"/>
              <a:t>frequency</a:t>
            </a:r>
            <a:r>
              <a:rPr lang="de-DE" baseline="0" dirty="0"/>
              <a:t> and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displacements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endParaRPr lang="de-DE" baseline="0" dirty="0"/>
          </a:p>
          <a:p>
            <a:endParaRPr lang="de-DE" baseline="0" dirty="0"/>
          </a:p>
          <a:p>
            <a:pPr marL="0" indent="0">
              <a:buFontTx/>
              <a:buNone/>
            </a:pPr>
            <a:r>
              <a:rPr lang="de-DE" baseline="0" dirty="0"/>
              <a:t>- </a:t>
            </a:r>
            <a:r>
              <a:rPr lang="de-DE" baseline="0" dirty="0" err="1"/>
              <a:t>predictions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frequencies</a:t>
            </a:r>
            <a:r>
              <a:rPr lang="de-DE" baseline="0" dirty="0"/>
              <a:t> </a:t>
            </a:r>
            <a:r>
              <a:rPr lang="de-DE" baseline="0" dirty="0" err="1"/>
              <a:t>were</a:t>
            </a:r>
            <a:r>
              <a:rPr lang="de-DE" baseline="0" dirty="0"/>
              <a:t> </a:t>
            </a:r>
            <a:r>
              <a:rPr lang="de-DE" baseline="0" dirty="0" err="1"/>
              <a:t>performed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Light Gradient-Boosting </a:t>
            </a:r>
            <a:r>
              <a:rPr lang="de-DE" baseline="0" dirty="0" err="1"/>
              <a:t>Machine</a:t>
            </a:r>
            <a:r>
              <a:rPr lang="de-DE" baseline="0" dirty="0"/>
              <a:t> </a:t>
            </a:r>
            <a:r>
              <a:rPr lang="de-DE" baseline="0" dirty="0" err="1"/>
              <a:t>algorithm</a:t>
            </a:r>
            <a:endParaRPr lang="de-DE" baseline="0" dirty="0"/>
          </a:p>
          <a:p>
            <a:pPr marL="0" indent="0">
              <a:buFontTx/>
              <a:buNone/>
            </a:pPr>
            <a:endParaRPr lang="de-DE" baseline="0" dirty="0"/>
          </a:p>
          <a:p>
            <a:pPr marL="0" indent="0">
              <a:buFontTx/>
              <a:buNone/>
            </a:pPr>
            <a:r>
              <a:rPr lang="de-DE" baseline="0" dirty="0"/>
              <a:t>- </a:t>
            </a:r>
            <a:r>
              <a:rPr lang="de-DE" baseline="0" dirty="0" err="1"/>
              <a:t>prediction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uniformity</a:t>
            </a:r>
            <a:r>
              <a:rPr lang="de-DE" baseline="0" dirty="0"/>
              <a:t> (</a:t>
            </a:r>
            <a:r>
              <a:rPr lang="de-DE" baseline="0" dirty="0" err="1"/>
              <a:t>NRDD</a:t>
            </a:r>
            <a:r>
              <a:rPr lang="de-DE" baseline="0" dirty="0"/>
              <a:t>) was </a:t>
            </a:r>
            <a:r>
              <a:rPr lang="de-DE" baseline="0" dirty="0" err="1"/>
              <a:t>achieved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a Keras </a:t>
            </a:r>
            <a:r>
              <a:rPr lang="de-DE" baseline="0" dirty="0" err="1"/>
              <a:t>Neural</a:t>
            </a:r>
            <a:r>
              <a:rPr lang="de-DE" baseline="0" dirty="0"/>
              <a:t> Network </a:t>
            </a:r>
            <a:r>
              <a:rPr lang="de-DE" baseline="0" dirty="0">
                <a:sym typeface="Wingdings" panose="05000000000000000000" pitchFamily="2" charset="2"/>
              </a:rPr>
              <a:t> </a:t>
            </a:r>
            <a:r>
              <a:rPr lang="de-DE" baseline="0" dirty="0" err="1">
                <a:sym typeface="Wingdings" panose="05000000000000000000" pitchFamily="2" charset="2"/>
              </a:rPr>
              <a:t>NRDD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criterion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described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later</a:t>
            </a:r>
            <a:endParaRPr lang="de-DE" baseline="0" dirty="0"/>
          </a:p>
          <a:p>
            <a:pPr marL="0" indent="0">
              <a:buFontTx/>
              <a:buNone/>
            </a:pPr>
            <a:r>
              <a:rPr lang="de-DE" dirty="0"/>
              <a:t>-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uniformity</a:t>
            </a:r>
            <a:r>
              <a:rPr lang="de-DE" dirty="0"/>
              <a:t> (MAC) </a:t>
            </a:r>
            <a:r>
              <a:rPr lang="de-DE" dirty="0" err="1"/>
              <a:t>did</a:t>
            </a:r>
            <a:r>
              <a:rPr lang="de-DE" dirty="0"/>
              <a:t> not </a:t>
            </a:r>
            <a:r>
              <a:rPr lang="de-DE" dirty="0" err="1"/>
              <a:t>performed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(</a:t>
            </a:r>
            <a:r>
              <a:rPr lang="de-DE" dirty="0" err="1"/>
              <a:t>NRDD</a:t>
            </a:r>
            <a:r>
              <a:rPr lang="de-DE" dirty="0"/>
              <a:t>)</a:t>
            </a:r>
          </a:p>
          <a:p>
            <a:pPr marL="0" indent="0">
              <a:buFontTx/>
              <a:buNone/>
            </a:pPr>
            <a:r>
              <a:rPr lang="de-DE" dirty="0"/>
              <a:t>- I </a:t>
            </a:r>
            <a:r>
              <a:rPr lang="de-DE" dirty="0" err="1"/>
              <a:t>tried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dimensions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displacement</a:t>
            </a:r>
            <a:r>
              <a:rPr lang="de-DE" dirty="0"/>
              <a:t> </a:t>
            </a:r>
            <a:r>
              <a:rPr lang="de-DE" dirty="0" err="1"/>
              <a:t>vectors</a:t>
            </a:r>
            <a:r>
              <a:rPr lang="de-DE" dirty="0"/>
              <a:t>: 400 </a:t>
            </a:r>
            <a:r>
              <a:rPr lang="de-DE" dirty="0" err="1"/>
              <a:t>DOFs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10 </a:t>
            </a:r>
            <a:r>
              <a:rPr lang="de-DE" dirty="0" err="1">
                <a:sym typeface="Wingdings" panose="05000000000000000000" pitchFamily="2" charset="2"/>
              </a:rPr>
              <a:t>DOFs</a:t>
            </a:r>
            <a:r>
              <a:rPr lang="de-DE" dirty="0">
                <a:sym typeface="Wingdings" panose="05000000000000000000" pitchFamily="2" charset="2"/>
              </a:rPr>
              <a:t>, and </a:t>
            </a:r>
            <a:r>
              <a:rPr lang="de-DE" dirty="0" err="1">
                <a:sym typeface="Wingdings" panose="05000000000000000000" pitchFamily="2" charset="2"/>
              </a:rPr>
              <a:t>predict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first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component</a:t>
            </a:r>
            <a:endParaRPr lang="de-DE" dirty="0"/>
          </a:p>
          <a:p>
            <a:endParaRPr lang="de-DE" dirty="0"/>
          </a:p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7273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aseline="0" dirty="0"/>
              <a:t>Here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results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model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tuned</a:t>
            </a:r>
            <a:r>
              <a:rPr lang="de-DE" baseline="0" dirty="0"/>
              <a:t> </a:t>
            </a:r>
            <a:r>
              <a:rPr lang="de-DE" baseline="0" dirty="0" err="1"/>
              <a:t>parameters</a:t>
            </a:r>
            <a:r>
              <a:rPr lang="de-DE" baseline="0" dirty="0"/>
              <a:t> and </a:t>
            </a:r>
            <a:r>
              <a:rPr lang="de-DE" baseline="0" dirty="0" err="1"/>
              <a:t>filtered</a:t>
            </a:r>
            <a:r>
              <a:rPr lang="de-DE" baseline="0" dirty="0"/>
              <a:t> </a:t>
            </a:r>
            <a:r>
              <a:rPr lang="de-DE" baseline="0" dirty="0" err="1"/>
              <a:t>data</a:t>
            </a:r>
            <a:r>
              <a:rPr lang="de-DE" baseline="0" dirty="0"/>
              <a:t>:</a:t>
            </a:r>
          </a:p>
          <a:p>
            <a:r>
              <a:rPr lang="de-DE" baseline="0" dirty="0"/>
              <a:t>- </a:t>
            </a:r>
            <a:r>
              <a:rPr lang="de-DE" baseline="0" dirty="0" err="1"/>
              <a:t>Tuned</a:t>
            </a:r>
            <a:r>
              <a:rPr lang="de-DE" baseline="0" dirty="0"/>
              <a:t> </a:t>
            </a:r>
            <a:r>
              <a:rPr lang="de-DE" baseline="0" dirty="0" err="1"/>
              <a:t>hyperparameters</a:t>
            </a:r>
            <a:r>
              <a:rPr lang="de-DE" baseline="0" dirty="0"/>
              <a:t> = external </a:t>
            </a:r>
            <a:r>
              <a:rPr lang="de-DE" baseline="0" dirty="0" err="1"/>
              <a:t>configuration</a:t>
            </a:r>
            <a:r>
              <a:rPr lang="de-DE" baseline="0" dirty="0"/>
              <a:t> variables </a:t>
            </a:r>
            <a:r>
              <a:rPr lang="de-DE" baseline="0" dirty="0" err="1"/>
              <a:t>that</a:t>
            </a:r>
            <a:r>
              <a:rPr lang="de-DE" baseline="0" dirty="0"/>
              <a:t> manage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training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ML </a:t>
            </a:r>
            <a:r>
              <a:rPr lang="de-DE" baseline="0" dirty="0" err="1"/>
              <a:t>models</a:t>
            </a:r>
            <a:r>
              <a:rPr lang="de-DE" baseline="0" dirty="0"/>
              <a:t>. Selected in a </a:t>
            </a:r>
            <a:r>
              <a:rPr lang="de-DE" baseline="0" dirty="0" err="1"/>
              <a:t>grid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acceptable</a:t>
            </a:r>
            <a:r>
              <a:rPr lang="de-DE" baseline="0" dirty="0"/>
              <a:t> </a:t>
            </a:r>
            <a:r>
              <a:rPr lang="de-DE" baseline="0" dirty="0" err="1"/>
              <a:t>ranges</a:t>
            </a:r>
            <a:r>
              <a:rPr lang="de-DE" baseline="0" dirty="0"/>
              <a:t>.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- </a:t>
            </a:r>
            <a:r>
              <a:rPr lang="de-DE" baseline="0" dirty="0" err="1"/>
              <a:t>Filetered</a:t>
            </a:r>
            <a:r>
              <a:rPr lang="de-DE" baseline="0" dirty="0"/>
              <a:t> </a:t>
            </a:r>
            <a:r>
              <a:rPr lang="de-DE" baseline="0" dirty="0" err="1"/>
              <a:t>data</a:t>
            </a:r>
            <a:r>
              <a:rPr lang="de-DE" baseline="0" dirty="0"/>
              <a:t>: </a:t>
            </a:r>
            <a:r>
              <a:rPr lang="de-DE" baseline="0" dirty="0" err="1"/>
              <a:t>exclude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DP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training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low</a:t>
            </a:r>
            <a:r>
              <a:rPr lang="de-DE" baseline="0" dirty="0"/>
              <a:t> MAC </a:t>
            </a:r>
            <a:r>
              <a:rPr lang="de-DE" baseline="0" dirty="0" err="1"/>
              <a:t>values</a:t>
            </a:r>
            <a:r>
              <a:rPr lang="de-DE" baseline="0" dirty="0"/>
              <a:t> (</a:t>
            </a:r>
            <a:r>
              <a:rPr lang="de-DE" baseline="0" dirty="0" err="1"/>
              <a:t>below</a:t>
            </a:r>
            <a:r>
              <a:rPr lang="de-DE" baseline="0" dirty="0"/>
              <a:t> 0.75) </a:t>
            </a:r>
            <a:r>
              <a:rPr lang="de-DE" baseline="0" dirty="0">
                <a:sym typeface="Wingdings" panose="05000000000000000000" pitchFamily="2" charset="2"/>
              </a:rPr>
              <a:t> </a:t>
            </a:r>
            <a:r>
              <a:rPr lang="de-DE" baseline="0" dirty="0" err="1">
                <a:sym typeface="Wingdings" panose="05000000000000000000" pitchFamily="2" charset="2"/>
              </a:rPr>
              <a:t>maintaining</a:t>
            </a:r>
            <a:r>
              <a:rPr lang="de-DE" baseline="0" dirty="0">
                <a:sym typeface="Wingdings" panose="05000000000000000000" pitchFamily="2" charset="2"/>
              </a:rPr>
              <a:t> still 85% </a:t>
            </a:r>
            <a:r>
              <a:rPr lang="de-DE" baseline="0" dirty="0" err="1">
                <a:sym typeface="Wingdings" panose="05000000000000000000" pitchFamily="2" charset="2"/>
              </a:rPr>
              <a:t>of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the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dataset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 err="1"/>
              <a:t>Finally</a:t>
            </a:r>
            <a:endParaRPr lang="de-DE" baseline="0" dirty="0"/>
          </a:p>
          <a:p>
            <a:r>
              <a:rPr lang="de-DE" dirty="0"/>
              <a:t>- </a:t>
            </a:r>
            <a:r>
              <a:rPr lang="de-DE" baseline="0" dirty="0" err="1"/>
              <a:t>R²</a:t>
            </a:r>
            <a:r>
              <a:rPr lang="de-DE" baseline="0" dirty="0"/>
              <a:t> score </a:t>
            </a:r>
            <a:r>
              <a:rPr lang="de-DE" baseline="0" dirty="0" err="1"/>
              <a:t>is</a:t>
            </a:r>
            <a:r>
              <a:rPr lang="de-DE" baseline="0" dirty="0"/>
              <a:t> high </a:t>
            </a:r>
            <a:endParaRPr lang="de-DE" dirty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- MAE (</a:t>
            </a:r>
            <a:r>
              <a:rPr lang="de-DE" baseline="0" dirty="0" err="1"/>
              <a:t>arithmetic</a:t>
            </a:r>
            <a:r>
              <a:rPr lang="de-DE" baseline="0" dirty="0"/>
              <a:t> </a:t>
            </a:r>
            <a:r>
              <a:rPr lang="de-DE" baseline="0" dirty="0" err="1"/>
              <a:t>average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abs. </a:t>
            </a:r>
            <a:r>
              <a:rPr lang="de-DE" baseline="0" dirty="0" err="1"/>
              <a:t>error</a:t>
            </a:r>
            <a:r>
              <a:rPr lang="de-DE" baseline="0" dirty="0"/>
              <a:t>) </a:t>
            </a:r>
            <a:r>
              <a:rPr lang="de-DE" baseline="0" dirty="0" err="1"/>
              <a:t>around</a:t>
            </a:r>
            <a:r>
              <a:rPr lang="de-DE" baseline="0" dirty="0"/>
              <a:t> 21 Hz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baseline="0" dirty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baseline="0" dirty="0" err="1"/>
              <a:t>plots</a:t>
            </a:r>
            <a:r>
              <a:rPr lang="de-DE" baseline="0" dirty="0"/>
              <a:t>,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see</a:t>
            </a:r>
            <a:r>
              <a:rPr lang="de-DE" baseline="0" dirty="0"/>
              <a:t>:</a:t>
            </a:r>
          </a:p>
          <a:p>
            <a:r>
              <a:rPr lang="de-DE" baseline="0" dirty="0"/>
              <a:t>(</a:t>
            </a:r>
            <a:r>
              <a:rPr lang="de-DE" baseline="0" dirty="0" err="1"/>
              <a:t>left</a:t>
            </a:r>
            <a:r>
              <a:rPr lang="de-DE" baseline="0" dirty="0"/>
              <a:t>)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predicted</a:t>
            </a:r>
            <a:r>
              <a:rPr lang="de-DE" baseline="0" dirty="0"/>
              <a:t> </a:t>
            </a:r>
            <a:r>
              <a:rPr lang="de-DE" baseline="0" dirty="0" err="1"/>
              <a:t>values</a:t>
            </a:r>
            <a:r>
              <a:rPr lang="de-DE" baseline="0" dirty="0"/>
              <a:t> = f (real </a:t>
            </a:r>
            <a:r>
              <a:rPr lang="de-DE" baseline="0" dirty="0" err="1"/>
              <a:t>values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(</a:t>
            </a:r>
            <a:r>
              <a:rPr lang="de-DE" baseline="0" dirty="0" err="1"/>
              <a:t>right</a:t>
            </a:r>
            <a:r>
              <a:rPr lang="de-DE" baseline="0" dirty="0"/>
              <a:t>)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residuals</a:t>
            </a:r>
            <a:r>
              <a:rPr lang="de-DE" baseline="0" dirty="0"/>
              <a:t> </a:t>
            </a:r>
            <a:r>
              <a:rPr lang="de-DE" baseline="0" dirty="0" err="1"/>
              <a:t>calculated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difference</a:t>
            </a:r>
            <a:r>
              <a:rPr lang="de-DE" baseline="0" dirty="0"/>
              <a:t> (</a:t>
            </a:r>
            <a:r>
              <a:rPr lang="de-DE" baseline="0" dirty="0" err="1"/>
              <a:t>Prediction</a:t>
            </a:r>
            <a:r>
              <a:rPr lang="de-DE" baseline="0" dirty="0"/>
              <a:t> – Real)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666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displacements</a:t>
            </a:r>
            <a:r>
              <a:rPr lang="de-DE" dirty="0"/>
              <a:t> I </a:t>
            </a:r>
            <a:r>
              <a:rPr lang="de-DE" dirty="0" err="1"/>
              <a:t>added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feature </a:t>
            </a:r>
            <a:r>
              <a:rPr lang="de-DE" dirty="0" err="1"/>
              <a:t>called</a:t>
            </a:r>
            <a:r>
              <a:rPr lang="de-DE" dirty="0"/>
              <a:t> </a:t>
            </a:r>
            <a:r>
              <a:rPr lang="de-DE" dirty="0" err="1"/>
              <a:t>NRDD</a:t>
            </a:r>
            <a:r>
              <a:rPr lang="de-DE" dirty="0"/>
              <a:t>:</a:t>
            </a:r>
          </a:p>
          <a:p>
            <a:endParaRPr lang="de-DE" baseline="0" dirty="0"/>
          </a:p>
          <a:p>
            <a:r>
              <a:rPr lang="de-DE" dirty="0"/>
              <a:t>The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baseline="0" dirty="0"/>
              <a:t> </a:t>
            </a:r>
            <a:r>
              <a:rPr lang="de-DE" baseline="0" dirty="0" err="1"/>
              <a:t>displacements</a:t>
            </a:r>
            <a:r>
              <a:rPr lang="de-DE" baseline="0" dirty="0"/>
              <a:t> </a:t>
            </a:r>
            <a:r>
              <a:rPr lang="de-DE" baseline="0" dirty="0" err="1"/>
              <a:t>themselves</a:t>
            </a:r>
            <a:r>
              <a:rPr lang="de-DE" baseline="0" dirty="0"/>
              <a:t> </a:t>
            </a:r>
            <a:r>
              <a:rPr lang="de-DE" baseline="0" dirty="0" err="1"/>
              <a:t>did</a:t>
            </a:r>
            <a:r>
              <a:rPr lang="de-DE" baseline="0" dirty="0"/>
              <a:t> not turn out </a:t>
            </a:r>
            <a:r>
              <a:rPr lang="de-DE" baseline="0" dirty="0" err="1"/>
              <a:t>accurate</a:t>
            </a:r>
            <a:r>
              <a:rPr lang="de-DE" baseline="0" dirty="0"/>
              <a:t>. </a:t>
            </a:r>
            <a:r>
              <a:rPr lang="de-DE" baseline="0" dirty="0" err="1"/>
              <a:t>Since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3rd</a:t>
            </a:r>
            <a:r>
              <a:rPr lang="de-DE" baseline="0" dirty="0"/>
              <a:t> </a:t>
            </a:r>
            <a:r>
              <a:rPr lang="de-DE" baseline="0" dirty="0" err="1"/>
              <a:t>goal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predict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uniformity</a:t>
            </a:r>
            <a:r>
              <a:rPr lang="de-DE" baseline="0" dirty="0"/>
              <a:t>, I </a:t>
            </a:r>
            <a:r>
              <a:rPr lang="de-DE" baseline="0" dirty="0" err="1"/>
              <a:t>introduced</a:t>
            </a:r>
            <a:r>
              <a:rPr lang="de-DE" baseline="0" dirty="0"/>
              <a:t> a </a:t>
            </a:r>
            <a:r>
              <a:rPr lang="de-DE" baseline="0" dirty="0" err="1"/>
              <a:t>new</a:t>
            </a:r>
            <a:r>
              <a:rPr lang="de-DE" baseline="0" dirty="0"/>
              <a:t> </a:t>
            </a:r>
            <a:r>
              <a:rPr lang="de-DE" baseline="0" dirty="0" err="1"/>
              <a:t>metric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evaluate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displacements</a:t>
            </a:r>
            <a:r>
              <a:rPr lang="de-DE" baseline="0" dirty="0"/>
              <a:t>‘ </a:t>
            </a:r>
            <a:r>
              <a:rPr lang="de-DE" baseline="0" dirty="0" err="1"/>
              <a:t>uniformity</a:t>
            </a:r>
            <a:r>
              <a:rPr lang="de-DE" baseline="0" dirty="0"/>
              <a:t>.</a:t>
            </a:r>
          </a:p>
          <a:p>
            <a:r>
              <a:rPr lang="de-DE" baseline="0" dirty="0"/>
              <a:t>The Norm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Relative </a:t>
            </a:r>
            <a:r>
              <a:rPr lang="de-DE" baseline="0" dirty="0" err="1"/>
              <a:t>Displacement</a:t>
            </a:r>
            <a:r>
              <a:rPr lang="de-DE" baseline="0" dirty="0"/>
              <a:t> Deviation (</a:t>
            </a:r>
            <a:r>
              <a:rPr lang="de-DE" baseline="0" dirty="0" err="1"/>
              <a:t>called</a:t>
            </a:r>
            <a:r>
              <a:rPr lang="de-DE" baseline="0" dirty="0"/>
              <a:t> </a:t>
            </a:r>
            <a:r>
              <a:rPr lang="de-DE" baseline="0" dirty="0" err="1"/>
              <a:t>NRDD</a:t>
            </a:r>
            <a:r>
              <a:rPr lang="de-DE" baseline="0" dirty="0"/>
              <a:t>)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obtained</a:t>
            </a:r>
            <a:r>
              <a:rPr lang="de-DE" baseline="0" dirty="0"/>
              <a:t>:</a:t>
            </a:r>
          </a:p>
          <a:p>
            <a:pPr marL="285750" indent="-285750">
              <a:buFontTx/>
              <a:buChar char="-"/>
            </a:pP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taking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relative </a:t>
            </a:r>
            <a:r>
              <a:rPr lang="de-DE" baseline="0" dirty="0" err="1"/>
              <a:t>difference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each</a:t>
            </a:r>
            <a:r>
              <a:rPr lang="de-DE" baseline="0" dirty="0"/>
              <a:t> </a:t>
            </a:r>
            <a:r>
              <a:rPr lang="de-DE" baseline="0" dirty="0" err="1"/>
              <a:t>node‘s</a:t>
            </a:r>
            <a:r>
              <a:rPr lang="de-DE" baseline="0" dirty="0"/>
              <a:t> </a:t>
            </a:r>
            <a:r>
              <a:rPr lang="de-DE" baseline="0" dirty="0" err="1"/>
              <a:t>displacements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average</a:t>
            </a:r>
            <a:endParaRPr lang="de-DE" baseline="0" dirty="0"/>
          </a:p>
          <a:p>
            <a:pPr marL="285750" indent="-285750">
              <a:buFontTx/>
              <a:buChar char="-"/>
            </a:pPr>
            <a:r>
              <a:rPr lang="de-DE" baseline="0" dirty="0" err="1"/>
              <a:t>squarring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summing</a:t>
            </a:r>
            <a:r>
              <a:rPr lang="de-DE" baseline="0" dirty="0"/>
              <a:t>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differences</a:t>
            </a:r>
            <a:endParaRPr lang="de-DE" baseline="0" dirty="0"/>
          </a:p>
          <a:p>
            <a:pPr marL="285750" indent="-285750">
              <a:buFontTx/>
              <a:buChar char="-"/>
            </a:pPr>
            <a:r>
              <a:rPr lang="de-DE" baseline="0" dirty="0" err="1"/>
              <a:t>taking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square</a:t>
            </a:r>
            <a:r>
              <a:rPr lang="de-DE" baseline="0" dirty="0"/>
              <a:t> root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result</a:t>
            </a:r>
            <a:endParaRPr lang="de-DE" baseline="0" dirty="0"/>
          </a:p>
          <a:p>
            <a:pPr marL="285750" indent="-285750">
              <a:buFontTx/>
              <a:buChar char="-"/>
            </a:pPr>
            <a:endParaRPr lang="de-DE" baseline="0" dirty="0"/>
          </a:p>
          <a:p>
            <a:r>
              <a:rPr lang="de-DE" dirty="0"/>
              <a:t>A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NRDD</a:t>
            </a:r>
            <a:r>
              <a:rPr lang="de-DE" dirty="0"/>
              <a:t> </a:t>
            </a:r>
            <a:r>
              <a:rPr lang="de-DE" dirty="0" err="1"/>
              <a:t>corresponds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uniform </a:t>
            </a:r>
            <a:r>
              <a:rPr lang="de-DE" baseline="0" dirty="0" err="1"/>
              <a:t>displacements</a:t>
            </a:r>
            <a:r>
              <a:rPr lang="de-DE" baseline="0" dirty="0"/>
              <a:t>, </a:t>
            </a:r>
            <a:r>
              <a:rPr lang="de-DE" baseline="0" dirty="0" err="1"/>
              <a:t>while</a:t>
            </a:r>
            <a:r>
              <a:rPr lang="de-DE" baseline="0" dirty="0"/>
              <a:t> high </a:t>
            </a:r>
            <a:r>
              <a:rPr lang="de-DE" baseline="0" dirty="0" err="1"/>
              <a:t>values</a:t>
            </a:r>
            <a:r>
              <a:rPr lang="de-DE" baseline="0" dirty="0"/>
              <a:t> </a:t>
            </a:r>
            <a:r>
              <a:rPr lang="de-DE" baseline="0" dirty="0" err="1"/>
              <a:t>indicate</a:t>
            </a:r>
            <a:r>
              <a:rPr lang="de-DE" baseline="0" dirty="0"/>
              <a:t> </a:t>
            </a:r>
            <a:r>
              <a:rPr lang="de-DE" baseline="0" dirty="0" err="1"/>
              <a:t>poor</a:t>
            </a:r>
            <a:r>
              <a:rPr lang="de-DE" baseline="0" dirty="0"/>
              <a:t> </a:t>
            </a:r>
            <a:r>
              <a:rPr lang="de-DE" baseline="0" dirty="0" err="1"/>
              <a:t>uniformities</a:t>
            </a:r>
            <a:r>
              <a:rPr lang="de-DE" baseline="0" dirty="0"/>
              <a:t> (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deviations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significant</a:t>
            </a:r>
            <a:r>
              <a:rPr lang="de-DE" baseline="0" dirty="0"/>
              <a:t>)</a:t>
            </a:r>
            <a:endParaRPr lang="de-DE" dirty="0"/>
          </a:p>
          <a:p>
            <a:r>
              <a:rPr lang="de-DE" dirty="0"/>
              <a:t>The</a:t>
            </a:r>
            <a:r>
              <a:rPr lang="de-DE" baseline="0" dirty="0"/>
              <a:t> </a:t>
            </a:r>
            <a:r>
              <a:rPr lang="de-DE" baseline="0" dirty="0" err="1"/>
              <a:t>graphs</a:t>
            </a:r>
            <a:r>
              <a:rPr lang="de-DE" baseline="0" dirty="0"/>
              <a:t>  </a:t>
            </a:r>
            <a:r>
              <a:rPr lang="de-DE" baseline="0" dirty="0" err="1"/>
              <a:t>show</a:t>
            </a:r>
            <a:endParaRPr lang="de-DE" baseline="0" dirty="0"/>
          </a:p>
          <a:p>
            <a:pPr marL="285750" indent="-285750">
              <a:buFontTx/>
              <a:buChar char="-"/>
            </a:pP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distribution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NRDD</a:t>
            </a:r>
            <a:r>
              <a:rPr lang="de-DE" baseline="0" dirty="0"/>
              <a:t> and MAC</a:t>
            </a:r>
          </a:p>
          <a:p>
            <a:pPr marL="285750" marR="0" lvl="0" indent="-28575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correlation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MAC </a:t>
            </a:r>
            <a:r>
              <a:rPr lang="de-DE" baseline="0" dirty="0" err="1"/>
              <a:t>values</a:t>
            </a:r>
            <a:r>
              <a:rPr lang="de-DE" baseline="0" dirty="0"/>
              <a:t> and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new</a:t>
            </a:r>
            <a:r>
              <a:rPr lang="de-DE" baseline="0" dirty="0"/>
              <a:t> </a:t>
            </a:r>
            <a:r>
              <a:rPr lang="de-DE" baseline="0" dirty="0" err="1"/>
              <a:t>metric</a:t>
            </a:r>
            <a:r>
              <a:rPr lang="de-DE" baseline="0" dirty="0"/>
              <a:t> </a:t>
            </a:r>
            <a:r>
              <a:rPr lang="de-DE" baseline="0" dirty="0" err="1"/>
              <a:t>NRDD</a:t>
            </a:r>
            <a:endParaRPr lang="de-DE" baseline="0" dirty="0"/>
          </a:p>
          <a:p>
            <a:pPr marL="285750" indent="-285750">
              <a:buFontTx/>
              <a:buChar char="-"/>
            </a:pPr>
            <a:endParaRPr lang="de-DE" baseline="0" dirty="0"/>
          </a:p>
          <a:p>
            <a:r>
              <a:rPr lang="de-DE" baseline="0" dirty="0"/>
              <a:t>I </a:t>
            </a:r>
            <a:r>
              <a:rPr lang="de-DE" baseline="0" dirty="0" err="1"/>
              <a:t>chose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NRDD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target</a:t>
            </a:r>
            <a:r>
              <a:rPr lang="de-DE" baseline="0" dirty="0"/>
              <a:t> variable, </a:t>
            </a:r>
            <a:r>
              <a:rPr lang="de-DE" baseline="0" dirty="0" err="1"/>
              <a:t>rather</a:t>
            </a:r>
            <a:r>
              <a:rPr lang="de-DE" baseline="0" dirty="0"/>
              <a:t> </a:t>
            </a:r>
            <a:r>
              <a:rPr lang="de-DE" baseline="0" dirty="0" err="1"/>
              <a:t>than</a:t>
            </a:r>
            <a:r>
              <a:rPr lang="de-DE" baseline="0" dirty="0"/>
              <a:t> MAC: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performed</a:t>
            </a:r>
            <a:r>
              <a:rPr lang="de-DE" baseline="0" dirty="0"/>
              <a:t> </a:t>
            </a:r>
            <a:r>
              <a:rPr lang="de-DE" baseline="0" dirty="0" err="1"/>
              <a:t>slightly</a:t>
            </a:r>
            <a:r>
              <a:rPr lang="de-DE" baseline="0" dirty="0"/>
              <a:t> </a:t>
            </a:r>
            <a:r>
              <a:rPr lang="de-DE" baseline="0" dirty="0" err="1"/>
              <a:t>better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NRDD</a:t>
            </a:r>
            <a:r>
              <a:rPr lang="de-DE" baseline="0" dirty="0"/>
              <a:t> </a:t>
            </a:r>
            <a:r>
              <a:rPr lang="de-DE" baseline="0" dirty="0" err="1"/>
              <a:t>than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MAC.</a:t>
            </a:r>
          </a:p>
          <a:p>
            <a:pPr marL="0" indent="0">
              <a:buFontTx/>
              <a:buNone/>
            </a:pPr>
            <a:endParaRPr lang="de-DE" baseline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78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baseline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a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27 </a:t>
            </a:r>
            <a:r>
              <a:rPr lang="de-DE" dirty="0" err="1"/>
              <a:t>neurons</a:t>
            </a:r>
            <a:r>
              <a:rPr lang="de-DE" dirty="0"/>
              <a:t> (same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explanatory</a:t>
            </a:r>
            <a:r>
              <a:rPr lang="de-DE" dirty="0"/>
              <a:t> variables: </a:t>
            </a:r>
            <a:r>
              <a:rPr lang="de-DE" dirty="0" err="1"/>
              <a:t>geometry</a:t>
            </a:r>
            <a:r>
              <a:rPr lang="de-DE" dirty="0"/>
              <a:t> + </a:t>
            </a:r>
            <a:r>
              <a:rPr lang="de-DE" dirty="0" err="1"/>
              <a:t>slot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r>
              <a:rPr lang="de-DE" dirty="0"/>
              <a:t>)</a:t>
            </a:r>
          </a:p>
          <a:p>
            <a:r>
              <a:rPr lang="de-DE" dirty="0" err="1"/>
              <a:t>Algorithm</a:t>
            </a:r>
            <a:r>
              <a:rPr lang="de-DE" dirty="0"/>
              <a:t>: Adam </a:t>
            </a:r>
            <a:r>
              <a:rPr lang="de-DE" dirty="0" err="1"/>
              <a:t>optimization</a:t>
            </a:r>
            <a:endParaRPr lang="de-DE" dirty="0"/>
          </a:p>
          <a:p>
            <a:r>
              <a:rPr lang="de-DE" dirty="0"/>
              <a:t>Loss </a:t>
            </a:r>
            <a:r>
              <a:rPr lang="de-DE" dirty="0" err="1"/>
              <a:t>function</a:t>
            </a:r>
            <a:r>
              <a:rPr lang="de-DE" dirty="0"/>
              <a:t>: Mean </a:t>
            </a:r>
            <a:r>
              <a:rPr lang="de-DE" dirty="0" err="1"/>
              <a:t>squared</a:t>
            </a:r>
            <a:r>
              <a:rPr lang="de-DE" dirty="0"/>
              <a:t> </a:t>
            </a:r>
            <a:r>
              <a:rPr lang="de-DE" dirty="0" err="1"/>
              <a:t>error</a:t>
            </a:r>
            <a:endParaRPr lang="de-DE" dirty="0"/>
          </a:p>
          <a:p>
            <a:r>
              <a:rPr lang="de-DE" dirty="0" err="1"/>
              <a:t>Activation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(</a:t>
            </a:r>
            <a:r>
              <a:rPr lang="de-DE" dirty="0" err="1"/>
              <a:t>controls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non-</a:t>
            </a:r>
            <a:r>
              <a:rPr lang="de-DE" dirty="0" err="1"/>
              <a:t>linearity</a:t>
            </a:r>
            <a:r>
              <a:rPr lang="de-DE" dirty="0"/>
              <a:t>)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hidden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 </a:t>
            </a:r>
            <a:r>
              <a:rPr lang="de-DE" dirty="0" err="1"/>
              <a:t>only</a:t>
            </a:r>
            <a:endParaRPr lang="de-DE" dirty="0"/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tuning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 </a:t>
            </a:r>
            <a:r>
              <a:rPr lang="de-DE" dirty="0" err="1"/>
              <a:t>topology</a:t>
            </a:r>
            <a:r>
              <a:rPr lang="de-DE" dirty="0"/>
              <a:t> was </a:t>
            </a:r>
            <a:r>
              <a:rPr lang="de-DE" dirty="0" err="1"/>
              <a:t>tuned</a:t>
            </a:r>
            <a:r>
              <a:rPr lang="de-DE" dirty="0"/>
              <a:t> in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.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previous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.</a:t>
            </a:r>
          </a:p>
          <a:p>
            <a:r>
              <a:rPr lang="de-DE" dirty="0"/>
              <a:t>I </a:t>
            </a:r>
            <a:r>
              <a:rPr lang="de-DE" dirty="0" err="1"/>
              <a:t>obtained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R²</a:t>
            </a:r>
            <a:r>
              <a:rPr lang="de-DE" dirty="0"/>
              <a:t> score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0.82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4674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left</a:t>
            </a:r>
            <a:r>
              <a:rPr lang="de-DE" dirty="0"/>
              <a:t> </a:t>
            </a:r>
            <a:r>
              <a:rPr lang="de-DE" dirty="0" err="1"/>
              <a:t>diagramm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predictions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actual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. The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performs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on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Right </a:t>
            </a:r>
            <a:r>
              <a:rPr lang="de-DE" dirty="0" err="1"/>
              <a:t>diagramm</a:t>
            </a:r>
            <a:r>
              <a:rPr lang="de-DE" dirty="0"/>
              <a:t>:</a:t>
            </a:r>
          </a:p>
          <a:p>
            <a:r>
              <a:rPr lang="de-DE" dirty="0"/>
              <a:t>The minimal 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corresponds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smallest</a:t>
            </a:r>
            <a:r>
              <a:rPr lang="de-DE" dirty="0"/>
              <a:t> 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gap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. </a:t>
            </a:r>
            <a:r>
              <a:rPr lang="de-DE" dirty="0" err="1"/>
              <a:t>mode</a:t>
            </a:r>
            <a:r>
              <a:rPr lang="de-DE" dirty="0"/>
              <a:t> and ist 2 </a:t>
            </a:r>
            <a:r>
              <a:rPr lang="de-DE" dirty="0" err="1"/>
              <a:t>neighbors</a:t>
            </a:r>
            <a:r>
              <a:rPr lang="de-DE" dirty="0"/>
              <a:t> (</a:t>
            </a:r>
            <a:r>
              <a:rPr lang="de-DE" dirty="0" err="1"/>
              <a:t>minimum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óf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distances</a:t>
            </a:r>
            <a:r>
              <a:rPr lang="de-DE" dirty="0"/>
              <a:t>)</a:t>
            </a:r>
          </a:p>
          <a:p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. 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isolated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redisuals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</a:t>
            </a:r>
            <a:r>
              <a:rPr lang="de-DE" dirty="0" err="1"/>
              <a:t>smaller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2136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2F082-6321-23BC-2CC8-56F3A727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5C7E933-5DEB-E548-990A-83F2F414A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C724365-D79B-1B5A-A947-925832AB1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histogram</a:t>
            </a:r>
            <a:r>
              <a:rPr lang="de-DE" dirty="0"/>
              <a:t> </a:t>
            </a:r>
            <a:r>
              <a:rPr lang="de-DE" dirty="0" err="1"/>
              <a:t>tells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frequent MAC </a:t>
            </a:r>
            <a:r>
              <a:rPr lang="de-DE" dirty="0" err="1"/>
              <a:t>value</a:t>
            </a:r>
            <a:r>
              <a:rPr lang="de-DE" dirty="0"/>
              <a:t> was </a:t>
            </a:r>
            <a:r>
              <a:rPr lang="de-DE" dirty="0" err="1"/>
              <a:t>located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0.95</a:t>
            </a:r>
          </a:p>
          <a:p>
            <a:r>
              <a:rPr lang="de-DE" dirty="0"/>
              <a:t>The </a:t>
            </a:r>
            <a:r>
              <a:rPr lang="de-DE" dirty="0" err="1"/>
              <a:t>best</a:t>
            </a:r>
            <a:r>
              <a:rPr lang="de-DE" dirty="0"/>
              <a:t> score was 0.69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1213A4-256F-CCEB-785B-6416E9B04F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5209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EC344-426B-B583-514B-55FECB59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C19E673-AC66-5B9F-C784-BC59CD1B0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6A46B87-768E-5ACF-7CCB-1473C580D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PCA: </a:t>
            </a:r>
            <a:r>
              <a:rPr lang="de-DE" dirty="0" err="1"/>
              <a:t>Principal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Analysis </a:t>
            </a:r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variables.</a:t>
            </a:r>
          </a:p>
          <a:p>
            <a:r>
              <a:rPr lang="de-DE" dirty="0" err="1"/>
              <a:t>Usually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variables, but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variables.</a:t>
            </a:r>
          </a:p>
          <a:p>
            <a:r>
              <a:rPr lang="de-DE" dirty="0"/>
              <a:t>The </a:t>
            </a:r>
            <a:r>
              <a:rPr lang="de-DE" dirty="0" err="1"/>
              <a:t>data</a:t>
            </a:r>
            <a:r>
              <a:rPr lang="de-DE" dirty="0"/>
              <a:t> was </a:t>
            </a:r>
            <a:r>
              <a:rPr lang="de-DE" dirty="0" err="1"/>
              <a:t>mapped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10 dimensional </a:t>
            </a:r>
            <a:r>
              <a:rPr lang="de-DE" dirty="0" err="1"/>
              <a:t>vector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keep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more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than</a:t>
            </a:r>
            <a:r>
              <a:rPr lang="de-DE" dirty="0">
                <a:sym typeface="Wingdings" panose="05000000000000000000" pitchFamily="2" charset="2"/>
              </a:rPr>
              <a:t> 95%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information</a:t>
            </a:r>
            <a:endParaRPr lang="de-DE" dirty="0"/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subset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displacements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not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satisfactory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. But </a:t>
            </a:r>
            <a:r>
              <a:rPr lang="de-DE" dirty="0" err="1"/>
              <a:t>shows</a:t>
            </a:r>
            <a:r>
              <a:rPr lang="de-DE" dirty="0"/>
              <a:t> high potential, </a:t>
            </a:r>
            <a:r>
              <a:rPr lang="de-DE" dirty="0" err="1"/>
              <a:t>unfortunately</a:t>
            </a:r>
            <a:r>
              <a:rPr lang="de-DE" dirty="0"/>
              <a:t> I </a:t>
            </a:r>
            <a:r>
              <a:rPr lang="de-DE" dirty="0" err="1"/>
              <a:t>could‘nt</a:t>
            </a:r>
            <a:r>
              <a:rPr lang="de-DE" dirty="0"/>
              <a:t> </a:t>
            </a:r>
            <a:r>
              <a:rPr lang="de-DE" dirty="0" err="1"/>
              <a:t>invest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time in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direction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DEAB4A-985D-8E7E-EF3F-07B6C38142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04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5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presentation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divided</a:t>
            </a:r>
            <a:r>
              <a:rPr lang="de-DE" baseline="0" dirty="0"/>
              <a:t>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following</a:t>
            </a:r>
            <a:r>
              <a:rPr lang="de-DE" baseline="0" dirty="0"/>
              <a:t> </a:t>
            </a:r>
            <a:r>
              <a:rPr lang="de-DE" baseline="0" dirty="0" err="1"/>
              <a:t>sections</a:t>
            </a:r>
            <a:r>
              <a:rPr lang="de-DE" baseline="0" dirty="0"/>
              <a:t>: I will </a:t>
            </a:r>
            <a:r>
              <a:rPr lang="de-DE" baseline="0" dirty="0" err="1"/>
              <a:t>show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elements</a:t>
            </a:r>
            <a:r>
              <a:rPr lang="de-DE" baseline="0" dirty="0"/>
              <a:t>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slides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then</a:t>
            </a:r>
            <a:r>
              <a:rPr lang="de-DE" baseline="0" dirty="0"/>
              <a:t> at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points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presentation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switch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streamlit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After a </a:t>
            </a:r>
            <a:r>
              <a:rPr lang="de-DE" baseline="0" dirty="0" err="1"/>
              <a:t>short</a:t>
            </a:r>
            <a:r>
              <a:rPr lang="de-DE" baseline="0" dirty="0"/>
              <a:t> </a:t>
            </a:r>
            <a:r>
              <a:rPr lang="de-DE" baseline="0" dirty="0" err="1"/>
              <a:t>introduction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have</a:t>
            </a:r>
            <a:r>
              <a:rPr lang="de-DE" baseline="0" dirty="0"/>
              <a:t> a </a:t>
            </a:r>
            <a:r>
              <a:rPr lang="de-DE" baseline="0" dirty="0" err="1"/>
              <a:t>look</a:t>
            </a:r>
            <a:r>
              <a:rPr lang="de-DE" baseline="0" dirty="0"/>
              <a:t> at:</a:t>
            </a:r>
          </a:p>
          <a:p>
            <a:pPr marL="285750" indent="-285750">
              <a:buFontTx/>
              <a:buChar char="-"/>
            </a:pP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data</a:t>
            </a:r>
            <a:endParaRPr lang="de-DE" baseline="0" dirty="0"/>
          </a:p>
          <a:p>
            <a:pPr marL="285750" indent="-285750">
              <a:buFontTx/>
              <a:buChar char="-"/>
            </a:pP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targets</a:t>
            </a:r>
            <a:endParaRPr lang="de-DE" baseline="0" dirty="0"/>
          </a:p>
          <a:p>
            <a:pPr marL="285750" indent="-285750">
              <a:buFontTx/>
              <a:buChar char="-"/>
            </a:pP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endParaRPr lang="de-DE" baseline="0" dirty="0"/>
          </a:p>
          <a:p>
            <a:pPr marL="0" indent="0">
              <a:buFontTx/>
              <a:buNone/>
            </a:pPr>
            <a:r>
              <a:rPr lang="de-DE" baseline="0" dirty="0" err="1"/>
              <a:t>and</a:t>
            </a:r>
            <a:r>
              <a:rPr lang="de-DE" baseline="0" dirty="0"/>
              <a:t> finish </a:t>
            </a:r>
            <a:r>
              <a:rPr lang="de-DE" baseline="0" dirty="0" err="1"/>
              <a:t>with</a:t>
            </a:r>
            <a:r>
              <a:rPr lang="de-DE" baseline="0" dirty="0"/>
              <a:t> an </a:t>
            </a:r>
            <a:r>
              <a:rPr lang="de-DE" baseline="0" dirty="0" err="1"/>
              <a:t>outlook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endParaRPr lang="de-DE" baseline="0" dirty="0"/>
          </a:p>
          <a:p>
            <a:endParaRPr lang="de-DE" baseline="0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4972347" y="9289839"/>
            <a:ext cx="1313565" cy="240341"/>
          </a:xfrm>
          <a:prstGeom prst="rect">
            <a:avLst/>
          </a:prstGeom>
        </p:spPr>
        <p:txBody>
          <a:bodyPr/>
          <a:lstStyle/>
          <a:p>
            <a:fld id="{34E13925-E938-4228-AE74-92AB500038AB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3659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completed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results</a:t>
            </a:r>
            <a:r>
              <a:rPr lang="de-DE" baseline="0" dirty="0"/>
              <a:t>‘ </a:t>
            </a:r>
            <a:r>
              <a:rPr lang="de-DE" baseline="0" dirty="0" err="1"/>
              <a:t>presentation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would</a:t>
            </a:r>
            <a:r>
              <a:rPr lang="de-DE" baseline="0" dirty="0"/>
              <a:t> like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mention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next</a:t>
            </a:r>
            <a:r>
              <a:rPr lang="de-DE" baseline="0" dirty="0"/>
              <a:t> </a:t>
            </a:r>
            <a:r>
              <a:rPr lang="de-DE" baseline="0" dirty="0" err="1"/>
              <a:t>steps</a:t>
            </a:r>
            <a:r>
              <a:rPr lang="de-DE" baseline="0" dirty="0"/>
              <a:t>:</a:t>
            </a:r>
          </a:p>
          <a:p>
            <a:endParaRPr lang="de-DE" baseline="0" dirty="0"/>
          </a:p>
          <a:p>
            <a:pPr marL="0" indent="0">
              <a:buFontTx/>
              <a:buNone/>
            </a:pPr>
            <a:r>
              <a:rPr lang="de-DE" baseline="0" dirty="0"/>
              <a:t>-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deploy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model</a:t>
            </a:r>
            <a:r>
              <a:rPr lang="de-DE" baseline="0" dirty="0"/>
              <a:t> in a </a:t>
            </a:r>
            <a:r>
              <a:rPr lang="de-DE" baseline="0" dirty="0" err="1"/>
              <a:t>business</a:t>
            </a:r>
            <a:r>
              <a:rPr lang="de-DE" baseline="0" dirty="0"/>
              <a:t> </a:t>
            </a:r>
            <a:r>
              <a:rPr lang="de-DE" baseline="0" dirty="0" err="1"/>
              <a:t>point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view</a:t>
            </a:r>
            <a:r>
              <a:rPr lang="de-DE" baseline="0" dirty="0"/>
              <a:t>: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need</a:t>
            </a:r>
            <a:r>
              <a:rPr lang="de-DE" baseline="0" dirty="0"/>
              <a:t> an </a:t>
            </a:r>
            <a:r>
              <a:rPr lang="de-DE" baseline="0" dirty="0" err="1"/>
              <a:t>optimizer</a:t>
            </a:r>
            <a:r>
              <a:rPr lang="de-DE" baseline="0" dirty="0"/>
              <a:t> </a:t>
            </a:r>
          </a:p>
          <a:p>
            <a:pPr marL="0" indent="0">
              <a:buFontTx/>
              <a:buNone/>
            </a:pPr>
            <a:r>
              <a:rPr lang="de-DE" baseline="0" dirty="0"/>
              <a:t>  * </a:t>
            </a:r>
            <a:r>
              <a:rPr lang="de-DE" baseline="0" dirty="0" err="1"/>
              <a:t>to</a:t>
            </a:r>
            <a:r>
              <a:rPr lang="de-DE" baseline="0" dirty="0"/>
              <a:t> find </a:t>
            </a:r>
            <a:r>
              <a:rPr lang="de-DE" baseline="0" dirty="0" err="1"/>
              <a:t>the</a:t>
            </a:r>
            <a:r>
              <a:rPr lang="de-DE" baseline="0" dirty="0"/>
              <a:t> optimal </a:t>
            </a:r>
            <a:r>
              <a:rPr lang="de-DE" baseline="0" dirty="0" err="1"/>
              <a:t>geometry</a:t>
            </a:r>
            <a:r>
              <a:rPr lang="de-DE" baseline="0" dirty="0"/>
              <a:t> (</a:t>
            </a:r>
            <a:r>
              <a:rPr lang="de-DE" baseline="0" dirty="0" err="1"/>
              <a:t>or</a:t>
            </a:r>
            <a:r>
              <a:rPr lang="de-DE" baseline="0" dirty="0"/>
              <a:t> geometries)</a:t>
            </a:r>
          </a:p>
          <a:p>
            <a:pPr marL="0" indent="0">
              <a:buFontTx/>
              <a:buNone/>
            </a:pPr>
            <a:r>
              <a:rPr lang="de-DE" dirty="0"/>
              <a:t>  *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optimizer</a:t>
            </a:r>
            <a:r>
              <a:rPr lang="de-DE" dirty="0"/>
              <a:t> will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predictions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navigate</a:t>
            </a:r>
            <a:r>
              <a:rPr lang="de-DE" baseline="0" dirty="0"/>
              <a:t> </a:t>
            </a:r>
            <a:r>
              <a:rPr lang="de-DE" baseline="0" dirty="0" err="1"/>
              <a:t>more</a:t>
            </a:r>
            <a:r>
              <a:rPr lang="de-DE" baseline="0" dirty="0"/>
              <a:t> </a:t>
            </a:r>
            <a:r>
              <a:rPr lang="de-DE" baseline="0" dirty="0" err="1"/>
              <a:t>efficiently</a:t>
            </a:r>
            <a:r>
              <a:rPr lang="de-DE" baseline="0" dirty="0"/>
              <a:t>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parameter</a:t>
            </a:r>
            <a:r>
              <a:rPr lang="de-DE" baseline="0" dirty="0"/>
              <a:t> </a:t>
            </a:r>
            <a:r>
              <a:rPr lang="de-DE" baseline="0" dirty="0" err="1"/>
              <a:t>space</a:t>
            </a:r>
            <a:r>
              <a:rPr lang="de-DE" baseline="0" dirty="0"/>
              <a:t>, </a:t>
            </a:r>
            <a:r>
              <a:rPr lang="de-DE" baseline="0" dirty="0" err="1"/>
              <a:t>than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FEM</a:t>
            </a:r>
            <a:r>
              <a:rPr lang="de-DE" baseline="0" dirty="0"/>
              <a:t> </a:t>
            </a:r>
            <a:r>
              <a:rPr lang="de-DE" baseline="0" dirty="0" err="1"/>
              <a:t>simulations</a:t>
            </a:r>
            <a:r>
              <a:rPr lang="de-DE" baseline="0" dirty="0"/>
              <a:t> </a:t>
            </a:r>
            <a:r>
              <a:rPr lang="de-DE" baseline="0" dirty="0" err="1"/>
              <a:t>would</a:t>
            </a:r>
            <a:endParaRPr lang="de-DE" baseline="0" dirty="0"/>
          </a:p>
          <a:p>
            <a:pPr marL="0" indent="0">
              <a:buFontTx/>
              <a:buNone/>
            </a:pPr>
            <a:endParaRPr lang="de-DE" baseline="0" dirty="0"/>
          </a:p>
          <a:p>
            <a:pPr marL="0" indent="0">
              <a:buFontTx/>
              <a:buNone/>
            </a:pPr>
            <a:r>
              <a:rPr lang="de-DE" baseline="0" dirty="0"/>
              <a:t>(</a:t>
            </a:r>
            <a:r>
              <a:rPr lang="de-DE" baseline="0" dirty="0" err="1"/>
              <a:t>click</a:t>
            </a:r>
            <a:r>
              <a:rPr lang="de-DE" baseline="0" dirty="0"/>
              <a:t>)</a:t>
            </a:r>
          </a:p>
          <a:p>
            <a:pPr marL="0" indent="0">
              <a:buFontTx/>
              <a:buNone/>
            </a:pPr>
            <a:r>
              <a:rPr lang="de-DE" baseline="0" dirty="0"/>
              <a:t>  * I will </a:t>
            </a:r>
            <a:r>
              <a:rPr lang="de-DE" baseline="0" dirty="0" err="1"/>
              <a:t>define</a:t>
            </a:r>
            <a:r>
              <a:rPr lang="de-DE" baseline="0" dirty="0"/>
              <a:t> </a:t>
            </a:r>
            <a:r>
              <a:rPr lang="de-DE" baseline="0" dirty="0" err="1"/>
              <a:t>three</a:t>
            </a:r>
            <a:r>
              <a:rPr lang="de-DE" baseline="0" dirty="0"/>
              <a:t> </a:t>
            </a:r>
            <a:r>
              <a:rPr lang="de-DE" baseline="0" dirty="0" err="1"/>
              <a:t>cost</a:t>
            </a:r>
            <a:r>
              <a:rPr lang="de-DE" baseline="0" dirty="0"/>
              <a:t> </a:t>
            </a:r>
            <a:r>
              <a:rPr lang="de-DE" baseline="0" dirty="0" err="1"/>
              <a:t>functions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each</a:t>
            </a:r>
            <a:r>
              <a:rPr lang="de-DE" baseline="0" dirty="0"/>
              <a:t> </a:t>
            </a:r>
            <a:r>
              <a:rPr lang="de-DE" baseline="0" dirty="0" err="1"/>
              <a:t>target</a:t>
            </a:r>
            <a:r>
              <a:rPr lang="de-DE" baseline="0" dirty="0"/>
              <a:t> + </a:t>
            </a:r>
            <a:r>
              <a:rPr lang="de-DE" baseline="0" dirty="0" err="1"/>
              <a:t>combine</a:t>
            </a:r>
            <a:r>
              <a:rPr lang="de-DE" baseline="0" dirty="0"/>
              <a:t> </a:t>
            </a:r>
            <a:r>
              <a:rPr lang="de-DE" baseline="0" dirty="0" err="1"/>
              <a:t>them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build</a:t>
            </a:r>
            <a:r>
              <a:rPr lang="de-DE" baseline="0" dirty="0"/>
              <a:t> a total </a:t>
            </a:r>
            <a:r>
              <a:rPr lang="de-DE" baseline="0" dirty="0" err="1"/>
              <a:t>cost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minimized</a:t>
            </a:r>
            <a:endParaRPr lang="de-DE" baseline="0" dirty="0"/>
          </a:p>
          <a:p>
            <a:pPr marL="0" indent="0">
              <a:buFontTx/>
              <a:buNone/>
            </a:pPr>
            <a:r>
              <a:rPr lang="de-DE" baseline="0" dirty="0"/>
              <a:t>(</a:t>
            </a:r>
            <a:r>
              <a:rPr lang="de-DE" baseline="0" dirty="0" err="1"/>
              <a:t>click</a:t>
            </a:r>
            <a:r>
              <a:rPr lang="de-DE" baseline="0" dirty="0"/>
              <a:t>)</a:t>
            </a:r>
          </a:p>
          <a:p>
            <a:pPr marL="0" indent="0">
              <a:buFontTx/>
              <a:buNone/>
            </a:pPr>
            <a:r>
              <a:rPr lang="de-DE" baseline="0" dirty="0"/>
              <a:t>  * I will </a:t>
            </a:r>
            <a:r>
              <a:rPr lang="de-DE" baseline="0" dirty="0" err="1"/>
              <a:t>start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exploring</a:t>
            </a:r>
            <a:r>
              <a:rPr lang="de-DE" baseline="0" dirty="0"/>
              <a:t> a large </a:t>
            </a:r>
            <a:r>
              <a:rPr lang="de-DE" baseline="0" dirty="0" err="1"/>
              <a:t>area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candidate</a:t>
            </a:r>
            <a:r>
              <a:rPr lang="de-DE" baseline="0" dirty="0"/>
              <a:t> </a:t>
            </a:r>
            <a:r>
              <a:rPr lang="de-DE" baseline="0" dirty="0" err="1"/>
              <a:t>space</a:t>
            </a:r>
            <a:r>
              <a:rPr lang="de-DE" baseline="0" dirty="0"/>
              <a:t> + </a:t>
            </a:r>
            <a:r>
              <a:rPr lang="de-DE" baseline="0" dirty="0" err="1"/>
              <a:t>then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a </a:t>
            </a:r>
            <a:r>
              <a:rPr lang="de-DE" baseline="0" dirty="0" err="1"/>
              <a:t>gradient-based</a:t>
            </a:r>
            <a:r>
              <a:rPr lang="de-DE" baseline="0" dirty="0"/>
              <a:t> </a:t>
            </a:r>
            <a:r>
              <a:rPr lang="de-DE" baseline="0" dirty="0" err="1"/>
              <a:t>minimizer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a </a:t>
            </a:r>
            <a:r>
              <a:rPr lang="de-DE" baseline="0" dirty="0" err="1"/>
              <a:t>fine</a:t>
            </a:r>
            <a:r>
              <a:rPr lang="de-DE" baseline="0" dirty="0"/>
              <a:t>-tuning</a:t>
            </a:r>
          </a:p>
          <a:p>
            <a:pPr marL="0" indent="0">
              <a:buFontTx/>
              <a:buNone/>
            </a:pPr>
            <a:endParaRPr lang="de-DE" baseline="0" dirty="0"/>
          </a:p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503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8525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5953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3250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343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638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1107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Bild groß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1539" y="2733675"/>
            <a:ext cx="8279073" cy="19431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5164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HUG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135" y="2738063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24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+ PL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67" name="Picture 2" descr="P:\Projekte\Herrmann_Ultraschall\06_TEMPLATE\_Data\slider-0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7981" b="7981"/>
          <a:stretch/>
        </p:blipFill>
        <p:spPr bwMode="gray">
          <a:xfrm>
            <a:off x="431539" y="2733675"/>
            <a:ext cx="827907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286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PK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388" y="2731879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44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NW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348" y="2732775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13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+ MT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65" name="Grafik 6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772" y="2745032"/>
            <a:ext cx="8280000" cy="194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99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+ HU ACADEMY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64" name="Grafik 6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135" y="2738063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88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Diese Folie leitet ein neues Kapitel ein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sp>
        <p:nvSpPr>
          <p:cNvPr id="4" name="Bildplatzhalter 3"/>
          <p:cNvSpPr>
            <a:spLocks noGrp="1"/>
          </p:cNvSpPr>
          <p:nvPr>
            <p:ph type="pic" sz="quarter" idx="24"/>
          </p:nvPr>
        </p:nvSpPr>
        <p:spPr>
          <a:xfrm>
            <a:off x="4608513" y="862014"/>
            <a:ext cx="4105275" cy="381476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247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HU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Diese Folie leitet ein neues Kapitel ein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5485" y="870516"/>
            <a:ext cx="4104000" cy="38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PL/HU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Diese Folie leitet ein neues Kapitel ein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pic>
        <p:nvPicPr>
          <p:cNvPr id="38" name="Picture 2" descr="P:\Projekte\Herrmann_Ultraschall\06_TEMPLATE\_Data\slider-0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4697" r="15247"/>
          <a:stretch/>
        </p:blipFill>
        <p:spPr bwMode="gray">
          <a:xfrm>
            <a:off x="4600201" y="869355"/>
            <a:ext cx="4105275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829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Diese Folie leitet ein neues Kapitel ein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8808" y="878576"/>
            <a:ext cx="4104000" cy="38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N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Diese Folie leitet ein neues Kapitel ein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552" y="871829"/>
            <a:ext cx="4104000" cy="38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7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trenner_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Diese Folie leitet ein neues Kapitel ein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pic>
        <p:nvPicPr>
          <p:cNvPr id="39" name="Grafik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2048" y="862363"/>
            <a:ext cx="4111740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8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6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06133C-6716-453B-AA54-8455677CE4FF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6" name="Textplatzhalter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1800" y="468278"/>
            <a:ext cx="6444456" cy="30067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Agenda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667636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64394"/>
            <a:ext cx="8278988" cy="38147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Foliennummernplatzhalter 4"/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B3FB55F-4BDC-4E07-AC86-33CFA4FC381D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149675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50/50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29"/>
          </p:nvPr>
        </p:nvSpPr>
        <p:spPr bwMode="gray">
          <a:xfrm>
            <a:off x="434180" y="864543"/>
            <a:ext cx="4103689" cy="3816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33"/>
          </p:nvPr>
        </p:nvSpPr>
        <p:spPr bwMode="gray">
          <a:xfrm>
            <a:off x="4610894" y="864543"/>
            <a:ext cx="4102275" cy="3816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4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7F5F06-0E9B-45E0-BFA4-77694FA369A6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7" name="Datumsplatzhalter 14"/>
          <p:cNvSpPr>
            <a:spLocks noGrp="1"/>
          </p:cNvSpPr>
          <p:nvPr>
            <p:ph type="dt" sz="half" idx="35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6698515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/SSCR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gray">
          <a:xfrm>
            <a:off x="431799" y="862013"/>
            <a:ext cx="4105276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/>
              <a:t>S</a:t>
            </a:r>
          </a:p>
        </p:txBody>
      </p:sp>
      <p:sp>
        <p:nvSpPr>
          <p:cNvPr id="13" name="Rechteck 12"/>
          <p:cNvSpPr/>
          <p:nvPr userDrawn="1"/>
        </p:nvSpPr>
        <p:spPr bwMode="gray">
          <a:xfrm>
            <a:off x="4608513" y="862013"/>
            <a:ext cx="4105276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/>
              <a:t>S</a:t>
            </a:r>
          </a:p>
        </p:txBody>
      </p:sp>
      <p:sp>
        <p:nvSpPr>
          <p:cNvPr id="14" name="Rechteck 13"/>
          <p:cNvSpPr/>
          <p:nvPr userDrawn="1"/>
        </p:nvSpPr>
        <p:spPr bwMode="gray">
          <a:xfrm>
            <a:off x="431800" y="2806701"/>
            <a:ext cx="4105276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/>
              <a:t>C</a:t>
            </a:r>
          </a:p>
        </p:txBody>
      </p:sp>
      <p:sp>
        <p:nvSpPr>
          <p:cNvPr id="15" name="Rechteck 14"/>
          <p:cNvSpPr/>
          <p:nvPr userDrawn="1"/>
        </p:nvSpPr>
        <p:spPr bwMode="gray">
          <a:xfrm>
            <a:off x="4608513" y="2806701"/>
            <a:ext cx="4101604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/>
              <a:t>R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4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7F5F06-0E9B-45E0-BFA4-77694FA369A6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7" name="Datumsplatzhalter 14"/>
          <p:cNvSpPr>
            <a:spLocks noGrp="1"/>
          </p:cNvSpPr>
          <p:nvPr>
            <p:ph type="dt" sz="half" idx="35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8" name="Textfeld 17"/>
          <p:cNvSpPr txBox="1"/>
          <p:nvPr userDrawn="1"/>
        </p:nvSpPr>
        <p:spPr bwMode="gray">
          <a:xfrm>
            <a:off x="440902" y="867581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>
                <a:solidFill>
                  <a:schemeClr val="tx1"/>
                </a:solidFill>
                <a:latin typeface="+mn-lt"/>
              </a:rPr>
              <a:t>Stärken</a:t>
            </a:r>
          </a:p>
        </p:txBody>
      </p:sp>
      <p:sp>
        <p:nvSpPr>
          <p:cNvPr id="28" name="Textplatzhalter 27"/>
          <p:cNvSpPr>
            <a:spLocks noGrp="1"/>
          </p:cNvSpPr>
          <p:nvPr>
            <p:ph type="body" sz="quarter" idx="40"/>
          </p:nvPr>
        </p:nvSpPr>
        <p:spPr>
          <a:xfrm>
            <a:off x="4614863" y="1167984"/>
            <a:ext cx="4102100" cy="1565691"/>
          </a:xfrm>
        </p:spPr>
        <p:txBody>
          <a:bodyPr/>
          <a:lstStyle>
            <a:lvl1pPr marL="269875" marR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marL="269875" marR="0" lvl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Formatvorlagen des Textmasters bearbeiten</a:t>
            </a:r>
          </a:p>
          <a:p>
            <a:pPr marL="269875" marR="0" lvl="1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Zweite Ebene</a:t>
            </a:r>
          </a:p>
          <a:p>
            <a:pPr marL="269875" marR="0" lvl="2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Dritte Ebene</a:t>
            </a:r>
          </a:p>
          <a:p>
            <a:pPr marL="269875" marR="0" lvl="3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Vierte Ebene</a:t>
            </a:r>
          </a:p>
          <a:p>
            <a:pPr marL="269875" marR="0" lvl="4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7"/>
          <p:cNvSpPr>
            <a:spLocks noGrp="1"/>
          </p:cNvSpPr>
          <p:nvPr>
            <p:ph type="body" sz="quarter" idx="41"/>
          </p:nvPr>
        </p:nvSpPr>
        <p:spPr>
          <a:xfrm>
            <a:off x="436072" y="1174336"/>
            <a:ext cx="4102100" cy="1565414"/>
          </a:xfrm>
        </p:spPr>
        <p:txBody>
          <a:bodyPr/>
          <a:lstStyle>
            <a:lvl1pPr marL="269875" indent="-182563">
              <a:buClr>
                <a:schemeClr val="accent2"/>
              </a:buClr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1" name="Textfeld 30"/>
          <p:cNvSpPr txBox="1"/>
          <p:nvPr userDrawn="1"/>
        </p:nvSpPr>
        <p:spPr bwMode="gray">
          <a:xfrm>
            <a:off x="436040" y="2813504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>
                <a:solidFill>
                  <a:schemeClr val="tx1"/>
                </a:solidFill>
                <a:latin typeface="+mn-lt"/>
              </a:rPr>
              <a:t>Chancen</a:t>
            </a:r>
          </a:p>
        </p:txBody>
      </p:sp>
      <p:sp>
        <p:nvSpPr>
          <p:cNvPr id="33" name="Textfeld 32"/>
          <p:cNvSpPr txBox="1"/>
          <p:nvPr userDrawn="1"/>
        </p:nvSpPr>
        <p:spPr bwMode="gray">
          <a:xfrm>
            <a:off x="4619152" y="2811301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>
                <a:solidFill>
                  <a:schemeClr val="tx1"/>
                </a:solidFill>
                <a:latin typeface="+mn-lt"/>
              </a:rPr>
              <a:t>Risiken</a:t>
            </a:r>
          </a:p>
        </p:txBody>
      </p:sp>
      <p:sp>
        <p:nvSpPr>
          <p:cNvPr id="34" name="Textfeld 33"/>
          <p:cNvSpPr txBox="1"/>
          <p:nvPr userDrawn="1"/>
        </p:nvSpPr>
        <p:spPr bwMode="gray">
          <a:xfrm>
            <a:off x="4615993" y="869949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>
                <a:solidFill>
                  <a:schemeClr val="tx1"/>
                </a:solidFill>
                <a:latin typeface="+mn-lt"/>
              </a:rPr>
              <a:t>Schwächen</a:t>
            </a:r>
          </a:p>
        </p:txBody>
      </p:sp>
      <p:sp>
        <p:nvSpPr>
          <p:cNvPr id="35" name="Textplatzhalter 27"/>
          <p:cNvSpPr>
            <a:spLocks noGrp="1"/>
          </p:cNvSpPr>
          <p:nvPr>
            <p:ph type="body" sz="quarter" idx="42"/>
          </p:nvPr>
        </p:nvSpPr>
        <p:spPr>
          <a:xfrm>
            <a:off x="4614560" y="3112674"/>
            <a:ext cx="4102100" cy="1566000"/>
          </a:xfrm>
        </p:spPr>
        <p:txBody>
          <a:bodyPr/>
          <a:lstStyle>
            <a:lvl1pPr marL="269875" marR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marL="269875" marR="0" lvl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Formatvorlagen des Textmasters bearbeiten</a:t>
            </a:r>
          </a:p>
          <a:p>
            <a:pPr marL="269875" marR="0" lvl="1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Zweite Ebene</a:t>
            </a:r>
          </a:p>
          <a:p>
            <a:pPr marL="269875" marR="0" lvl="2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Dritte Ebene</a:t>
            </a:r>
          </a:p>
          <a:p>
            <a:pPr marL="269875" marR="0" lvl="3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Vierte Ebene</a:t>
            </a:r>
          </a:p>
          <a:p>
            <a:pPr marL="269875" marR="0" lvl="4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36" name="Textplatzhalter 27"/>
          <p:cNvSpPr>
            <a:spLocks noGrp="1"/>
          </p:cNvSpPr>
          <p:nvPr>
            <p:ph type="body" sz="quarter" idx="43"/>
          </p:nvPr>
        </p:nvSpPr>
        <p:spPr>
          <a:xfrm>
            <a:off x="435769" y="3114876"/>
            <a:ext cx="4102100" cy="1565414"/>
          </a:xfrm>
        </p:spPr>
        <p:txBody>
          <a:bodyPr/>
          <a:lstStyle>
            <a:lvl1pPr marL="269875" marR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marL="269875" marR="0" lvl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Formatvorlagen des Textmasters bearbeiten</a:t>
            </a:r>
          </a:p>
          <a:p>
            <a:pPr marL="269875" marR="0" lvl="1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Zweite Ebene</a:t>
            </a:r>
          </a:p>
          <a:p>
            <a:pPr marL="269875" marR="0" lvl="2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Dritte Ebene</a:t>
            </a:r>
          </a:p>
          <a:p>
            <a:pPr marL="269875" marR="0" lvl="3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Vierte Ebene</a:t>
            </a:r>
          </a:p>
          <a:p>
            <a:pPr marL="269875" marR="0" lvl="4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5091157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75/2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870" y="864543"/>
            <a:ext cx="2016000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4181" y="864543"/>
            <a:ext cx="6191249" cy="3816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597444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50/50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08513" y="863973"/>
            <a:ext cx="4103687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1801" y="863973"/>
            <a:ext cx="4105274" cy="3816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72426894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5/7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2520950" y="863973"/>
            <a:ext cx="6192000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4182" y="863973"/>
            <a:ext cx="2016124" cy="3816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645893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50/50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10894" y="864393"/>
            <a:ext cx="4103687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0" y="864393"/>
            <a:ext cx="4105275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498829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Bild +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08513" y="863601"/>
            <a:ext cx="4103687" cy="1870073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801" y="863601"/>
            <a:ext cx="4103687" cy="187007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431802" y="2806822"/>
            <a:ext cx="4103686" cy="1869953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3"/>
          <p:cNvSpPr>
            <a:spLocks noGrp="1"/>
          </p:cNvSpPr>
          <p:nvPr>
            <p:ph type="body" sz="quarter" idx="34"/>
          </p:nvPr>
        </p:nvSpPr>
        <p:spPr bwMode="gray">
          <a:xfrm>
            <a:off x="4610894" y="2806822"/>
            <a:ext cx="4102275" cy="1869953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09314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quer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08513" y="863601"/>
            <a:ext cx="4103687" cy="1870073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801" y="863601"/>
            <a:ext cx="4103687" cy="187007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36"/>
          </p:nvPr>
        </p:nvSpPr>
        <p:spPr bwMode="gray">
          <a:xfrm>
            <a:off x="4611484" y="2806701"/>
            <a:ext cx="4103687" cy="1870073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3" name="Bildplatzhalter 10"/>
          <p:cNvSpPr>
            <a:spLocks noGrp="1"/>
          </p:cNvSpPr>
          <p:nvPr>
            <p:ph type="pic" sz="quarter" idx="37"/>
          </p:nvPr>
        </p:nvSpPr>
        <p:spPr bwMode="gray">
          <a:xfrm>
            <a:off x="434772" y="2806701"/>
            <a:ext cx="4103687" cy="187007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1120138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Bilder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608513" y="863972"/>
            <a:ext cx="4103687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431801" y="864393"/>
            <a:ext cx="4105273" cy="3816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10894" y="2806725"/>
            <a:ext cx="4103687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1482926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oben + Text unten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772" y="863972"/>
            <a:ext cx="8279016" cy="329020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431801" y="4227934"/>
            <a:ext cx="8281987" cy="45042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7302316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2/3 + Text 1/3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799" y="863971"/>
            <a:ext cx="5148321" cy="381439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5656961" y="863971"/>
            <a:ext cx="3053827" cy="3816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2904966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25/7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2519363" y="864394"/>
            <a:ext cx="6192837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2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59974274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75/2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4394"/>
            <a:ext cx="2016125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1" y="864394"/>
            <a:ext cx="6192838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166865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hoch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13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801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5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2519363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08513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8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4394"/>
            <a:ext cx="2016125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874070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+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35"/>
          </p:nvPr>
        </p:nvSpPr>
        <p:spPr bwMode="gray">
          <a:xfrm>
            <a:off x="434183" y="2807494"/>
            <a:ext cx="2015998" cy="1872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36"/>
          </p:nvPr>
        </p:nvSpPr>
        <p:spPr bwMode="gray">
          <a:xfrm>
            <a:off x="2520950" y="2807494"/>
            <a:ext cx="2016000" cy="1872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Textplatzhalter 3"/>
          <p:cNvSpPr>
            <a:spLocks noGrp="1"/>
          </p:cNvSpPr>
          <p:nvPr>
            <p:ph type="body" sz="quarter" idx="37"/>
          </p:nvPr>
        </p:nvSpPr>
        <p:spPr bwMode="gray">
          <a:xfrm>
            <a:off x="4610895" y="2807494"/>
            <a:ext cx="2014536" cy="1872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38"/>
          </p:nvPr>
        </p:nvSpPr>
        <p:spPr bwMode="gray">
          <a:xfrm>
            <a:off x="6696870" y="2807494"/>
            <a:ext cx="2011537" cy="18720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2" y="864395"/>
            <a:ext cx="2016124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8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2521744" y="864395"/>
            <a:ext cx="2016124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9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10894" y="864395"/>
            <a:ext cx="2016124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2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4395"/>
            <a:ext cx="2016125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004688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5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2" y="865083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26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2521744" y="865083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27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10894" y="865083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28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5083"/>
            <a:ext cx="2016125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29" name="Bildplatzhalter 10"/>
          <p:cNvSpPr>
            <a:spLocks noGrp="1"/>
          </p:cNvSpPr>
          <p:nvPr>
            <p:ph type="pic" sz="quarter" idx="35"/>
          </p:nvPr>
        </p:nvSpPr>
        <p:spPr bwMode="gray">
          <a:xfrm>
            <a:off x="434182" y="2808252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0" name="Bildplatzhalter 10"/>
          <p:cNvSpPr>
            <a:spLocks noGrp="1"/>
          </p:cNvSpPr>
          <p:nvPr>
            <p:ph type="pic" sz="quarter" idx="36"/>
          </p:nvPr>
        </p:nvSpPr>
        <p:spPr bwMode="gray">
          <a:xfrm>
            <a:off x="2521744" y="2808252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1" name="Bildplatzhalter 10"/>
          <p:cNvSpPr>
            <a:spLocks noGrp="1"/>
          </p:cNvSpPr>
          <p:nvPr>
            <p:ph type="pic" sz="quarter" idx="37"/>
          </p:nvPr>
        </p:nvSpPr>
        <p:spPr bwMode="gray">
          <a:xfrm>
            <a:off x="4610894" y="2808252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2" name="Bildplatzhalter 10"/>
          <p:cNvSpPr>
            <a:spLocks noGrp="1"/>
          </p:cNvSpPr>
          <p:nvPr>
            <p:ph type="pic" sz="quarter" idx="38"/>
          </p:nvPr>
        </p:nvSpPr>
        <p:spPr bwMode="gray">
          <a:xfrm>
            <a:off x="6696075" y="2808252"/>
            <a:ext cx="2016125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49834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F93ECFF-9824-47E4-B741-FA9348AE5497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6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4182" y="864394"/>
            <a:ext cx="8278988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64756468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6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06133C-6716-453B-AA54-8455677CE4FF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884593795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2521744" y="864393"/>
            <a:ext cx="6192837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4182" y="1900705"/>
            <a:ext cx="2016123" cy="277606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35"/>
          </p:nvPr>
        </p:nvSpPr>
        <p:spPr bwMode="gray">
          <a:xfrm>
            <a:off x="434181" y="865084"/>
            <a:ext cx="2016125" cy="936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0973543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Geschäftsbereich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F93ECFF-9824-47E4-B741-FA9348AE5497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6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1800" y="864393"/>
            <a:ext cx="2700000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8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3222000" y="864393"/>
            <a:ext cx="2700000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9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6010449" y="864691"/>
            <a:ext cx="2700000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34"/>
          </p:nvPr>
        </p:nvSpPr>
        <p:spPr bwMode="gray">
          <a:xfrm>
            <a:off x="434181" y="4244806"/>
            <a:ext cx="2700000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35"/>
          </p:nvPr>
        </p:nvSpPr>
        <p:spPr bwMode="gray">
          <a:xfrm>
            <a:off x="3222000" y="4244806"/>
            <a:ext cx="2700000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36"/>
          </p:nvPr>
        </p:nvSpPr>
        <p:spPr bwMode="gray">
          <a:xfrm>
            <a:off x="6010450" y="4244806"/>
            <a:ext cx="2700000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35319092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eschäftsbereich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F93ECFF-9824-47E4-B741-FA9348AE5497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6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4181" y="864095"/>
            <a:ext cx="2016125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9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6698456" y="864393"/>
            <a:ext cx="2014374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34"/>
          </p:nvPr>
        </p:nvSpPr>
        <p:spPr bwMode="gray">
          <a:xfrm>
            <a:off x="434181" y="4244659"/>
            <a:ext cx="201612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36"/>
          </p:nvPr>
        </p:nvSpPr>
        <p:spPr bwMode="gray">
          <a:xfrm>
            <a:off x="6696074" y="4244659"/>
            <a:ext cx="201437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3" name="Bildplatzhalter 10"/>
          <p:cNvSpPr>
            <a:spLocks noGrp="1"/>
          </p:cNvSpPr>
          <p:nvPr>
            <p:ph type="pic" sz="quarter" idx="37"/>
          </p:nvPr>
        </p:nvSpPr>
        <p:spPr bwMode="gray">
          <a:xfrm>
            <a:off x="2521744" y="864095"/>
            <a:ext cx="2016125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38"/>
          </p:nvPr>
        </p:nvSpPr>
        <p:spPr bwMode="gray">
          <a:xfrm>
            <a:off x="2521744" y="4244659"/>
            <a:ext cx="201612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39"/>
          </p:nvPr>
        </p:nvSpPr>
        <p:spPr bwMode="gray">
          <a:xfrm>
            <a:off x="4608513" y="863324"/>
            <a:ext cx="2016125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40"/>
          </p:nvPr>
        </p:nvSpPr>
        <p:spPr bwMode="gray">
          <a:xfrm>
            <a:off x="4610894" y="4239830"/>
            <a:ext cx="201612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de-DE"/>
              <a:t>Project defense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45463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chlussfolie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 bwMode="gray">
          <a:xfrm>
            <a:off x="431799" y="3040063"/>
            <a:ext cx="4103690" cy="359779"/>
          </a:xfrm>
        </p:spPr>
        <p:txBody>
          <a:bodyPr anchor="t"/>
          <a:lstStyle>
            <a:lvl1pPr algn="l">
              <a:defRPr/>
            </a:lvl1pPr>
          </a:lstStyle>
          <a:p>
            <a:pPr lvl="0"/>
            <a:r>
              <a:rPr lang="de-DE" dirty="0"/>
              <a:t>Herrmann Ultraschall</a:t>
            </a:r>
          </a:p>
        </p:txBody>
      </p:sp>
      <p:sp>
        <p:nvSpPr>
          <p:cNvPr id="21" name="Datumsplatzhalter 20"/>
          <p:cNvSpPr>
            <a:spLocks noGrp="1"/>
          </p:cNvSpPr>
          <p:nvPr>
            <p:ph type="dt" sz="half" idx="11"/>
          </p:nvPr>
        </p:nvSpPr>
        <p:spPr bwMode="gray">
          <a:xfrm>
            <a:off x="1871799" y="5337282"/>
            <a:ext cx="6480625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12"/>
          </p:nvPr>
        </p:nvSpPr>
        <p:spPr bwMode="gray">
          <a:xfrm>
            <a:off x="8352424" y="53372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43" name="Gruppieren 42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44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45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46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47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48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49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50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51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52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53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54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55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56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57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58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59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60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61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62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63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64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65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66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67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68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69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70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71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72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73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pic>
        <p:nvPicPr>
          <p:cNvPr id="41" name="Picture 4" descr="P:\Projekte\Herrmann_Ultraschall\06_TEMPLATE\_INPUT_KUNDE\_bilder_QZ\Herrmann_Bilder_HQs_Gebäude\img_HUG_HQ_000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0"/>
            <a:ext cx="9144000" cy="2764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Textplatzhalter 2"/>
          <p:cNvSpPr txBox="1">
            <a:spLocks/>
          </p:cNvSpPr>
          <p:nvPr userDrawn="1"/>
        </p:nvSpPr>
        <p:spPr bwMode="gray">
          <a:xfrm>
            <a:off x="4610870" y="3383514"/>
            <a:ext cx="4103688" cy="156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itchFamily="2" charset="2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itchFamily="2" charset="2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de-DE" b="1" dirty="0"/>
              <a:t>North </a:t>
            </a:r>
            <a:r>
              <a:rPr lang="de-DE" b="1" dirty="0" err="1"/>
              <a:t>America</a:t>
            </a:r>
            <a:r>
              <a:rPr lang="de-DE" b="1" dirty="0"/>
              <a:t> Headquarters</a:t>
            </a:r>
          </a:p>
          <a:p>
            <a:pPr defTabSz="914400"/>
            <a:r>
              <a:rPr lang="de-DE" dirty="0"/>
              <a:t>Herrmann </a:t>
            </a:r>
            <a:r>
              <a:rPr lang="de-DE" dirty="0" err="1"/>
              <a:t>Ultrasonics</a:t>
            </a:r>
            <a:r>
              <a:rPr lang="de-DE" dirty="0"/>
              <a:t>, Inc. Bartlett, IL, USA</a:t>
            </a:r>
          </a:p>
          <a:p>
            <a:pPr defTabSz="914400"/>
            <a:endParaRPr lang="de-DE" dirty="0"/>
          </a:p>
          <a:p>
            <a:pPr defTabSz="914400"/>
            <a:r>
              <a:rPr lang="de-DE" b="1" dirty="0"/>
              <a:t>China Headquarters</a:t>
            </a:r>
          </a:p>
          <a:p>
            <a:pPr defTabSz="914400"/>
            <a:r>
              <a:rPr lang="de-DE" dirty="0"/>
              <a:t>Herrmann </a:t>
            </a:r>
            <a:r>
              <a:rPr lang="de-DE" dirty="0" err="1"/>
              <a:t>Ultrasonics</a:t>
            </a:r>
            <a:r>
              <a:rPr lang="de-DE" dirty="0"/>
              <a:t> Co. Ltd. </a:t>
            </a:r>
            <a:r>
              <a:rPr lang="de-DE" dirty="0" err="1"/>
              <a:t>Taicang</a:t>
            </a:r>
            <a:r>
              <a:rPr lang="de-DE" dirty="0"/>
              <a:t>, </a:t>
            </a:r>
            <a:r>
              <a:rPr lang="de-DE" dirty="0" err="1"/>
              <a:t>Jiangsu</a:t>
            </a:r>
            <a:r>
              <a:rPr lang="de-DE" dirty="0"/>
              <a:t> </a:t>
            </a:r>
            <a:r>
              <a:rPr lang="de-DE" dirty="0" err="1"/>
              <a:t>Province</a:t>
            </a:r>
            <a:r>
              <a:rPr lang="de-DE" dirty="0"/>
              <a:t>, China</a:t>
            </a:r>
          </a:p>
          <a:p>
            <a:pPr defTabSz="914400"/>
            <a:endParaRPr lang="de-DE" dirty="0"/>
          </a:p>
          <a:p>
            <a:pPr defTabSz="914400"/>
            <a:r>
              <a:rPr lang="de-DE" b="1" dirty="0"/>
              <a:t>Japan Headquarters</a:t>
            </a:r>
          </a:p>
          <a:p>
            <a:pPr defTabSz="914400"/>
            <a:r>
              <a:rPr lang="de-DE" dirty="0"/>
              <a:t>Herrmann </a:t>
            </a:r>
            <a:r>
              <a:rPr lang="de-DE" dirty="0" err="1"/>
              <a:t>Ultrasonic</a:t>
            </a:r>
            <a:r>
              <a:rPr lang="de-DE" dirty="0"/>
              <a:t> Japan Co. Ltd. </a:t>
            </a:r>
            <a:r>
              <a:rPr lang="de-DE" dirty="0" err="1"/>
              <a:t>Kashiwa</a:t>
            </a:r>
            <a:r>
              <a:rPr lang="de-DE" dirty="0"/>
              <a:t> City, Chiba, Japan</a:t>
            </a:r>
          </a:p>
        </p:txBody>
      </p:sp>
      <p:sp>
        <p:nvSpPr>
          <p:cNvPr id="39" name="Textfeld 38"/>
          <p:cNvSpPr txBox="1"/>
          <p:nvPr userDrawn="1"/>
        </p:nvSpPr>
        <p:spPr bwMode="gray">
          <a:xfrm>
            <a:off x="429441" y="3399842"/>
            <a:ext cx="4107633" cy="16201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1200" b="1" dirty="0">
                <a:latin typeface="+mn-lt"/>
              </a:rPr>
              <a:t>Global Headquarters</a:t>
            </a:r>
          </a:p>
          <a:p>
            <a:r>
              <a:rPr lang="de-DE" sz="1200" b="1" dirty="0">
                <a:latin typeface="+mn-lt"/>
              </a:rPr>
              <a:t>Herrmann Ultraschalltechnik GmbH &amp; Co. KG</a:t>
            </a:r>
          </a:p>
          <a:p>
            <a:r>
              <a:rPr lang="de-DE" sz="1200" dirty="0" err="1">
                <a:latin typeface="+mn-lt"/>
              </a:rPr>
              <a:t>Descostraße</a:t>
            </a:r>
            <a:r>
              <a:rPr lang="de-DE" sz="1200" dirty="0">
                <a:latin typeface="+mn-lt"/>
              </a:rPr>
              <a:t> 3–11 · 76307 Karlsbad, Germany</a:t>
            </a:r>
          </a:p>
          <a:p>
            <a:endParaRPr lang="de-DE" sz="1200" dirty="0">
              <a:latin typeface="+mn-lt"/>
            </a:endParaRPr>
          </a:p>
          <a:p>
            <a:endParaRPr lang="de-DE" sz="1200" dirty="0">
              <a:latin typeface="+mn-lt"/>
            </a:endParaRPr>
          </a:p>
          <a:p>
            <a:br>
              <a:rPr lang="de-DE" sz="1200" dirty="0">
                <a:latin typeface="+mn-lt"/>
              </a:rPr>
            </a:br>
            <a:endParaRPr lang="de-DE" sz="1200" dirty="0">
              <a:latin typeface="+mn-lt"/>
            </a:endParaRPr>
          </a:p>
          <a:p>
            <a:r>
              <a:rPr lang="de-DE" sz="1200" b="1" dirty="0">
                <a:solidFill>
                  <a:srgbClr val="FF0000"/>
                </a:solidFill>
                <a:latin typeface="+mn-lt"/>
              </a:rPr>
              <a:t>www.herrmannultraschall.com</a:t>
            </a:r>
          </a:p>
          <a:p>
            <a:pPr marL="180000" indent="-18000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</a:pPr>
            <a:endParaRPr lang="de-DE" sz="1200" dirty="0" err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5482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jpe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9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2271" y="863249"/>
            <a:ext cx="8280901" cy="38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8352424" y="4852460"/>
            <a:ext cx="358364" cy="13576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800" b="1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030" name="Titelplatzhalter 6"/>
          <p:cNvSpPr>
            <a:spLocks noGrp="1"/>
          </p:cNvSpPr>
          <p:nvPr>
            <p:ph type="title"/>
          </p:nvPr>
        </p:nvSpPr>
        <p:spPr bwMode="gray">
          <a:xfrm>
            <a:off x="431799" y="531801"/>
            <a:ext cx="6485113" cy="23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Folientitel durch Klicken hinzufügen</a:t>
            </a:r>
            <a:endParaRPr lang="en-US" dirty="0"/>
          </a:p>
        </p:txBody>
      </p:sp>
      <p:sp>
        <p:nvSpPr>
          <p:cNvPr id="1031" name="Textfeld 12"/>
          <p:cNvSpPr txBox="1">
            <a:spLocks noChangeArrowheads="1"/>
          </p:cNvSpPr>
          <p:nvPr/>
        </p:nvSpPr>
        <p:spPr bwMode="gray">
          <a:xfrm>
            <a:off x="431799" y="4850709"/>
            <a:ext cx="1440000" cy="135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de-DE" sz="800" dirty="0">
                <a:solidFill>
                  <a:schemeClr val="tx1"/>
                </a:solidFill>
                <a:cs typeface="Arial" pitchFamily="34" charset="0"/>
              </a:rPr>
              <a:t>©</a:t>
            </a:r>
            <a:r>
              <a:rPr lang="de-DE" sz="800" baseline="0" dirty="0">
                <a:solidFill>
                  <a:schemeClr val="tx1"/>
                </a:solidFill>
                <a:latin typeface="Arial Narrow" pitchFamily="34" charset="0"/>
                <a:cs typeface="+mn-cs"/>
              </a:rPr>
              <a:t> </a:t>
            </a:r>
            <a:r>
              <a:rPr lang="de-DE" sz="800" dirty="0">
                <a:solidFill>
                  <a:schemeClr val="tx1"/>
                </a:solidFill>
                <a:latin typeface="Arial Narrow" pitchFamily="34" charset="0"/>
              </a:rPr>
              <a:t>Copyright </a:t>
            </a:r>
            <a:r>
              <a:rPr lang="de-DE" sz="800" b="1" dirty="0">
                <a:solidFill>
                  <a:schemeClr val="tx1"/>
                </a:solidFill>
                <a:latin typeface="Arial Narrow" pitchFamily="34" charset="0"/>
              </a:rPr>
              <a:t>Herrmann Ultraschall  </a:t>
            </a:r>
            <a:r>
              <a:rPr lang="de-DE" sz="800" b="0" dirty="0">
                <a:solidFill>
                  <a:schemeClr val="tx1"/>
                </a:solidFill>
                <a:latin typeface="Arial Narrow" pitchFamily="34" charset="0"/>
              </a:rPr>
              <a:t>I</a:t>
            </a:r>
            <a:endParaRPr lang="en-US" sz="800" b="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15" name="Datumsplatzhalter 14"/>
          <p:cNvSpPr>
            <a:spLocks noGrp="1"/>
          </p:cNvSpPr>
          <p:nvPr>
            <p:ph type="dt" sz="half" idx="2"/>
          </p:nvPr>
        </p:nvSpPr>
        <p:spPr bwMode="gray">
          <a:xfrm>
            <a:off x="1871799" y="4850710"/>
            <a:ext cx="6480625" cy="135765"/>
          </a:xfrm>
          <a:prstGeom prst="rect">
            <a:avLst/>
          </a:prstGeo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80000"/>
              </a:lnSpc>
              <a:defRPr sz="800">
                <a:solidFill>
                  <a:schemeClr val="accent2"/>
                </a:solidFill>
                <a:latin typeface="Arial Narrow" pitchFamily="34" charset="0"/>
              </a:defRPr>
            </a:lvl1pPr>
          </a:lstStyle>
          <a:p>
            <a:r>
              <a:rPr lang="de-DE"/>
              <a:t>Themenbereich, über Datum zu ändern</a:t>
            </a:r>
            <a:endParaRPr lang="de-DE" dirty="0"/>
          </a:p>
        </p:txBody>
      </p:sp>
      <p:grpSp>
        <p:nvGrpSpPr>
          <p:cNvPr id="163" name="Group 4"/>
          <p:cNvGrpSpPr>
            <a:grpSpLocks noChangeAspect="1"/>
          </p:cNvGrpSpPr>
          <p:nvPr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64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4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5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6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7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8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9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0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1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2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3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4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5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6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7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8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9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0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1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2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3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4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5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6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7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cxnSp>
        <p:nvCxnSpPr>
          <p:cNvPr id="244" name="Gerader Verbinder 78">
            <a:extLst>
              <a:ext uri="{FF2B5EF4-FFF2-40B4-BE49-F238E27FC236}">
                <a16:creationId xmlns:a16="http://schemas.microsoft.com/office/drawing/2014/main" id="{2CD3E0AF-C8FB-4FC3-A3C0-8855EA7C3E55}"/>
              </a:ext>
            </a:extLst>
          </p:cNvPr>
          <p:cNvCxnSpPr>
            <a:cxnSpLocks/>
          </p:cNvCxnSpPr>
          <p:nvPr/>
        </p:nvCxnSpPr>
        <p:spPr bwMode="gray">
          <a:xfrm>
            <a:off x="431800" y="769878"/>
            <a:ext cx="6120200" cy="0"/>
          </a:xfrm>
          <a:prstGeom prst="line">
            <a:avLst/>
          </a:prstGeom>
          <a:ln w="6350">
            <a:gradFill flip="none" rotWithShape="1">
              <a:gsLst>
                <a:gs pos="50000">
                  <a:schemeClr val="tx2"/>
                </a:gs>
                <a:gs pos="90000">
                  <a:schemeClr val="tx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0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0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0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0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1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1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1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1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1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1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1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1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1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1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2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  <p:sp>
          <p:nvSpPr>
            <p:cNvPr id="13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/>
            </a:p>
          </p:txBody>
        </p:sp>
      </p:grp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>
          <a:xfrm>
            <a:off x="434772" y="236541"/>
            <a:ext cx="5793412" cy="27019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lvl1pPr algn="l">
              <a:defRPr sz="1800" b="1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de-DE"/>
              <a:t>Project defense</a:t>
            </a: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477" r:id="rId1"/>
    <p:sldLayoutId id="2147489567" r:id="rId2"/>
    <p:sldLayoutId id="2147489574" r:id="rId3"/>
    <p:sldLayoutId id="2147489569" r:id="rId4"/>
    <p:sldLayoutId id="2147489568" r:id="rId5"/>
    <p:sldLayoutId id="2147489577" r:id="rId6"/>
    <p:sldLayoutId id="2147489576" r:id="rId7"/>
    <p:sldLayoutId id="2147489564" r:id="rId8"/>
    <p:sldLayoutId id="2147489575" r:id="rId9"/>
    <p:sldLayoutId id="2147489570" r:id="rId10"/>
    <p:sldLayoutId id="2147489571" r:id="rId11"/>
    <p:sldLayoutId id="2147489572" r:id="rId12"/>
    <p:sldLayoutId id="2147489578" r:id="rId13"/>
    <p:sldLayoutId id="2147489565" r:id="rId14"/>
    <p:sldLayoutId id="2147489504" r:id="rId15"/>
    <p:sldLayoutId id="2147489505" r:id="rId16"/>
    <p:sldLayoutId id="2147489579" r:id="rId17"/>
    <p:sldLayoutId id="2147489506" r:id="rId18"/>
    <p:sldLayoutId id="2147489507" r:id="rId19"/>
    <p:sldLayoutId id="2147489508" r:id="rId20"/>
    <p:sldLayoutId id="2147489510" r:id="rId21"/>
    <p:sldLayoutId id="2147489511" r:id="rId22"/>
    <p:sldLayoutId id="2147489573" r:id="rId23"/>
    <p:sldLayoutId id="2147489512" r:id="rId24"/>
    <p:sldLayoutId id="2147489581" r:id="rId25"/>
    <p:sldLayoutId id="2147489580" r:id="rId26"/>
    <p:sldLayoutId id="2147489513" r:id="rId27"/>
    <p:sldLayoutId id="2147489514" r:id="rId28"/>
    <p:sldLayoutId id="2147489515" r:id="rId29"/>
    <p:sldLayoutId id="2147489516" r:id="rId30"/>
    <p:sldLayoutId id="2147489517" r:id="rId31"/>
    <p:sldLayoutId id="2147489518" r:id="rId32"/>
    <p:sldLayoutId id="2147489520" r:id="rId33"/>
    <p:sldLayoutId id="2147489509" r:id="rId34"/>
    <p:sldLayoutId id="2147489519" r:id="rId35"/>
    <p:sldLayoutId id="2147489521" r:id="rId36"/>
    <p:sldLayoutId id="2147489561" r:id="rId37"/>
  </p:sldLayoutIdLst>
  <p:transition>
    <p:fade/>
  </p:transition>
  <p:hf hdr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ts val="300"/>
        </a:spcAft>
        <a:defRPr lang="en-US" sz="1800" b="1" kern="1200" dirty="0">
          <a:solidFill>
            <a:schemeClr val="tx1"/>
          </a:solidFill>
          <a:latin typeface="Arial Narrow" pitchFamily="34" charset="0"/>
          <a:ea typeface="ＭＳ Ｐゴシック" pitchFamily="34" charset="-128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5pPr>
      <a:lvl6pPr marL="45713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6pPr>
      <a:lvl7pPr marL="91426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7pPr>
      <a:lvl8pPr marL="137139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8pPr>
      <a:lvl9pPr marL="182852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9pPr>
    </p:titleStyle>
    <p:bodyStyle>
      <a:lvl1pPr marL="0" indent="0" algn="l" rtl="0" eaLnBrk="1" fontAlgn="base" hangingPunct="1"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1pPr>
      <a:lvl2pPr marL="180000" indent="-18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SzPct val="90000"/>
        <a:buFont typeface="Wingdings" pitchFamily="2" charset="2"/>
        <a:buChar char="§"/>
        <a:defRPr sz="16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2pPr>
      <a:lvl3pPr marL="358775" indent="-18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SzPct val="90000"/>
        <a:buFont typeface="Wingdings" pitchFamily="2" charset="2"/>
        <a:buChar char="§"/>
        <a:defRPr sz="14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3pPr>
      <a:lvl4pPr marL="541338" indent="-18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SzPct val="90000"/>
        <a:buFont typeface="Wingdings" panose="05000000000000000000" pitchFamily="2" charset="2"/>
        <a:buChar char="§"/>
        <a:defRPr sz="14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4pPr>
      <a:lvl5pPr marL="270000" indent="-27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Font typeface="+mj-lt"/>
        <a:buAutoNum type="arabicPeriod"/>
        <a:defRPr sz="16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5pPr>
      <a:lvl6pPr marL="449263" indent="-180000" algn="l" defTabSz="914260" rtl="0" eaLnBrk="1" latinLnBrk="0" hangingPunct="1">
        <a:spcBef>
          <a:spcPts val="300"/>
        </a:spcBef>
        <a:spcAft>
          <a:spcPts val="300"/>
        </a:spcAft>
        <a:buClr>
          <a:schemeClr val="accent2"/>
        </a:buClr>
        <a:buFont typeface="+mj-lt"/>
        <a:buAutoNum type="alphaLcPeriod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260" rtl="0" eaLnBrk="1" latinLnBrk="0" hangingPunct="1">
        <a:spcBef>
          <a:spcPts val="300"/>
        </a:spcBef>
        <a:spcAft>
          <a:spcPts val="300"/>
        </a:spcAft>
        <a:buClr>
          <a:schemeClr val="accent4"/>
        </a:buClr>
        <a:buFont typeface="Wingdings" pitchFamily="2" charset="2"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88900" indent="0" algn="l" defTabSz="914260" rtl="0" eaLnBrk="1" latinLnBrk="0" hangingPunct="1">
        <a:spcBef>
          <a:spcPts val="0"/>
        </a:spcBef>
        <a:spcAft>
          <a:spcPts val="1300"/>
        </a:spcAft>
        <a:buClr>
          <a:schemeClr val="accent2"/>
        </a:buClr>
        <a:buSzPct val="90000"/>
        <a:buFontTx/>
        <a:buNone/>
        <a:defRPr sz="1400" b="0" kern="1200">
          <a:solidFill>
            <a:srgbClr val="333333"/>
          </a:solidFill>
          <a:latin typeface="+mn-lt"/>
          <a:ea typeface="+mn-ea"/>
          <a:cs typeface="+mn-cs"/>
        </a:defRPr>
      </a:lvl8pPr>
      <a:lvl9pPr marL="0" indent="0" algn="ctr" defTabSz="914260" rtl="0" eaLnBrk="1" latinLnBrk="0" hangingPunct="1">
        <a:spcBef>
          <a:spcPts val="0"/>
        </a:spcBef>
        <a:spcAft>
          <a:spcPts val="1300"/>
        </a:spcAft>
        <a:buFont typeface="Arial" pitchFamily="34" charset="0"/>
        <a:buNone/>
        <a:defRPr lang="de-DE" sz="1400" b="0" kern="1200" dirty="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2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1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4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45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858" userDrawn="1">
          <p15:clr>
            <a:srgbClr val="F26B43"/>
          </p15:clr>
        </p15:guide>
        <p15:guide id="4" pos="2903" userDrawn="1">
          <p15:clr>
            <a:srgbClr val="F26B43"/>
          </p15:clr>
        </p15:guide>
        <p15:guide id="5" pos="4173" userDrawn="1">
          <p15:clr>
            <a:srgbClr val="F26B43"/>
          </p15:clr>
        </p15:guide>
        <p15:guide id="6" pos="4217" userDrawn="1">
          <p15:clr>
            <a:srgbClr val="F26B43"/>
          </p15:clr>
        </p15:guide>
        <p15:guide id="7" pos="5489" userDrawn="1">
          <p15:clr>
            <a:srgbClr val="F26B43"/>
          </p15:clr>
        </p15:guide>
        <p15:guide id="8" pos="1542" userDrawn="1">
          <p15:clr>
            <a:srgbClr val="F26B43"/>
          </p15:clr>
        </p15:guide>
        <p15:guide id="9" pos="1587" userDrawn="1">
          <p15:clr>
            <a:srgbClr val="F26B43"/>
          </p15:clr>
        </p15:guide>
        <p15:guide id="10" pos="272" userDrawn="1">
          <p15:clr>
            <a:srgbClr val="F26B43"/>
          </p15:clr>
        </p15:guide>
        <p15:guide id="11" orient="horz" pos="543" userDrawn="1">
          <p15:clr>
            <a:srgbClr val="F26B43"/>
          </p15:clr>
        </p15:guide>
        <p15:guide id="12" orient="horz" pos="2947" userDrawn="1">
          <p15:clr>
            <a:srgbClr val="F26B43"/>
          </p15:clr>
        </p15:guide>
        <p15:guide id="13" orient="horz" pos="1767" userDrawn="1">
          <p15:clr>
            <a:srgbClr val="F26B43"/>
          </p15:clr>
        </p15:guide>
        <p15:guide id="14" orient="horz" pos="1722" userDrawn="1">
          <p15:clr>
            <a:srgbClr val="F26B43"/>
          </p15:clr>
        </p15:guide>
        <p15:guide id="15" orient="horz" pos="485" userDrawn="1">
          <p15:clr>
            <a:srgbClr val="F26B43"/>
          </p15:clr>
        </p15:guide>
        <p15:guide id="16" orient="horz" pos="149" userDrawn="1">
          <p15:clr>
            <a:srgbClr val="F26B43"/>
          </p15:clr>
        </p15:guide>
        <p15:guide id="17" orient="horz" pos="305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0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png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DB4A530B-3EE4-4998-A998-EBC0EA00952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 dirty="0" err="1"/>
              <a:t>Ultrasonic</a:t>
            </a:r>
            <a:r>
              <a:rPr lang="de-DE" dirty="0"/>
              <a:t> </a:t>
            </a:r>
            <a:r>
              <a:rPr lang="de-DE" dirty="0" err="1"/>
              <a:t>welding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Francois Brouet – sep24_continuous_ds</a:t>
            </a:r>
          </a:p>
        </p:txBody>
      </p:sp>
      <p:pic>
        <p:nvPicPr>
          <p:cNvPr id="6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004048" y="123478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9421210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Training Data Scientist</a:t>
            </a:r>
          </a:p>
          <a:p>
            <a:pPr marL="285750" indent="-285750">
              <a:buFontTx/>
              <a:buChar char="-"/>
            </a:pPr>
            <a:r>
              <a:rPr lang="de-DE" dirty="0"/>
              <a:t>12 </a:t>
            </a:r>
            <a:r>
              <a:rPr lang="de-DE" dirty="0" err="1"/>
              <a:t>months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12 h/</a:t>
            </a:r>
            <a:r>
              <a:rPr lang="de-DE" dirty="0" err="1"/>
              <a:t>week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1 </a:t>
            </a:r>
            <a:r>
              <a:rPr lang="de-DE" dirty="0" err="1"/>
              <a:t>project</a:t>
            </a:r>
            <a:endParaRPr lang="de-DE" dirty="0"/>
          </a:p>
          <a:p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r>
              <a:rPr lang="de-DE" dirty="0"/>
              <a:t>Sonotrode design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longitudinal </a:t>
            </a:r>
            <a:r>
              <a:rPr lang="de-DE" dirty="0" err="1"/>
              <a:t>mode</a:t>
            </a:r>
            <a:r>
              <a:rPr lang="de-DE" dirty="0"/>
              <a:t>: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frequency</a:t>
            </a:r>
            <a:r>
              <a:rPr lang="de-DE" dirty="0"/>
              <a:t> ~ 20 kHz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/>
              <a:t>longitudinal </a:t>
            </a:r>
            <a:r>
              <a:rPr lang="de-DE" dirty="0" err="1"/>
              <a:t>mode</a:t>
            </a:r>
            <a:r>
              <a:rPr lang="de-DE" dirty="0"/>
              <a:t> </a:t>
            </a:r>
            <a:r>
              <a:rPr lang="de-DE" dirty="0" err="1"/>
              <a:t>isolated</a:t>
            </a:r>
            <a:endParaRPr lang="de-DE" dirty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/>
              <a:t>uniform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displacements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Context</a:t>
            </a:r>
            <a:endParaRPr lang="de-DE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112" y="2687867"/>
            <a:ext cx="900000" cy="688841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942" y="3385804"/>
            <a:ext cx="900000" cy="642128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942" y="4093885"/>
            <a:ext cx="900000" cy="674682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24" y="2951295"/>
            <a:ext cx="1800199" cy="1357370"/>
          </a:xfrm>
          <a:prstGeom prst="rect">
            <a:avLst/>
          </a:prstGeom>
        </p:spPr>
      </p:pic>
      <p:cxnSp>
        <p:nvCxnSpPr>
          <p:cNvPr id="19" name="Gerade Verbindung mit Pfeil 18"/>
          <p:cNvCxnSpPr/>
          <p:nvPr/>
        </p:nvCxnSpPr>
        <p:spPr bwMode="gray">
          <a:xfrm>
            <a:off x="5796136" y="3706868"/>
            <a:ext cx="648072" cy="0"/>
          </a:xfrm>
          <a:prstGeom prst="straightConnector1">
            <a:avLst/>
          </a:prstGeom>
          <a:ln w="9525">
            <a:solidFill>
              <a:schemeClr val="bg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1.png"/>
          <p:cNvPicPr/>
          <p:nvPr/>
        </p:nvPicPr>
        <p:blipFill rotWithShape="1">
          <a:blip r:embed="rId7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478" y="3533769"/>
            <a:ext cx="1071046" cy="34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9775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/>
              <a:t>Main </a:t>
            </a:r>
            <a:r>
              <a:rPr lang="de-DE" dirty="0" err="1"/>
              <a:t>goal</a:t>
            </a:r>
            <a:r>
              <a:rPr lang="de-DE" dirty="0"/>
              <a:t>:	</a:t>
            </a:r>
            <a:r>
              <a:rPr lang="de-DE" i="1" dirty="0" err="1"/>
              <a:t>Prediction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FEM</a:t>
            </a:r>
            <a:r>
              <a:rPr lang="de-DE" i="1" dirty="0"/>
              <a:t> </a:t>
            </a:r>
            <a:r>
              <a:rPr lang="de-DE" i="1" dirty="0" err="1"/>
              <a:t>results</a:t>
            </a:r>
            <a:r>
              <a:rPr lang="de-DE" i="1" dirty="0"/>
              <a:t> </a:t>
            </a:r>
            <a:r>
              <a:rPr lang="de-DE" i="1" dirty="0" err="1"/>
              <a:t>from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sonotrode </a:t>
            </a:r>
            <a:r>
              <a:rPr lang="de-DE" i="1" dirty="0" err="1"/>
              <a:t>geometry</a:t>
            </a:r>
            <a:endParaRPr lang="de-DE" i="1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/>
              <a:t>3 </a:t>
            </a:r>
            <a:r>
              <a:rPr lang="de-DE" dirty="0" err="1"/>
              <a:t>predictions</a:t>
            </a:r>
            <a:r>
              <a:rPr lang="de-DE" dirty="0"/>
              <a:t>:</a:t>
            </a:r>
          </a:p>
          <a:p>
            <a:pPr marL="465750" lvl="1" indent="-285750">
              <a:buFontTx/>
              <a:buChar char="-"/>
            </a:pPr>
            <a:r>
              <a:rPr lang="de-DE" dirty="0"/>
              <a:t>longitudinal </a:t>
            </a:r>
            <a:r>
              <a:rPr lang="de-DE" dirty="0" err="1"/>
              <a:t>frequency</a:t>
            </a: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 err="1"/>
              <a:t>frequencies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all </a:t>
            </a:r>
            <a:r>
              <a:rPr lang="de-DE" dirty="0" err="1"/>
              <a:t>modes</a:t>
            </a: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 err="1"/>
              <a:t>uniformity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displacements</a:t>
            </a: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 err="1"/>
              <a:t>Geometry</a:t>
            </a:r>
            <a:r>
              <a:rPr lang="de-DE" dirty="0"/>
              <a:t>: 23 </a:t>
            </a:r>
            <a:r>
              <a:rPr lang="de-DE" dirty="0" err="1"/>
              <a:t>parameters</a:t>
            </a: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sz="1400" dirty="0"/>
              <a:t>(</a:t>
            </a:r>
            <a:r>
              <a:rPr lang="de-DE" sz="1400" dirty="0" err="1"/>
              <a:t>dim_x</a:t>
            </a:r>
            <a:r>
              <a:rPr lang="de-DE" sz="1400" dirty="0"/>
              <a:t>) × (</a:t>
            </a:r>
            <a:r>
              <a:rPr lang="de-DE" sz="1400" dirty="0" err="1"/>
              <a:t>dim_z</a:t>
            </a:r>
            <a:r>
              <a:rPr lang="de-DE" sz="1400" dirty="0"/>
              <a:t>): </a:t>
            </a:r>
            <a:r>
              <a:rPr lang="de-DE" sz="1400" dirty="0" err="1"/>
              <a:t>output</a:t>
            </a:r>
            <a:r>
              <a:rPr lang="de-DE" sz="1400" dirty="0"/>
              <a:t> </a:t>
            </a:r>
            <a:r>
              <a:rPr lang="de-DE" sz="1400" dirty="0" err="1"/>
              <a:t>surface</a:t>
            </a:r>
            <a:endParaRPr lang="de-DE" sz="1400" dirty="0"/>
          </a:p>
          <a:p>
            <a:pPr marL="465750" lvl="1" indent="-285750">
              <a:buFontTx/>
              <a:buChar char="-"/>
            </a:pPr>
            <a:r>
              <a:rPr lang="de-DE" sz="1400" dirty="0"/>
              <a:t>(</a:t>
            </a:r>
            <a:r>
              <a:rPr lang="de-DE" sz="1400" dirty="0" err="1"/>
              <a:t>dim_y</a:t>
            </a:r>
            <a:r>
              <a:rPr lang="de-DE" sz="1400" dirty="0"/>
              <a:t>): </a:t>
            </a:r>
            <a:r>
              <a:rPr lang="de-DE" sz="1400" dirty="0" err="1"/>
              <a:t>length</a:t>
            </a:r>
            <a:endParaRPr lang="de-DE" sz="1400" dirty="0"/>
          </a:p>
          <a:p>
            <a:pPr marL="465750" lvl="1" indent="-285750">
              <a:buFontTx/>
              <a:buChar char="-"/>
            </a:pPr>
            <a:r>
              <a:rPr lang="de-DE" sz="1400" dirty="0"/>
              <a:t>…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</a:t>
            </a:r>
          </a:p>
        </p:txBody>
      </p:sp>
      <p:pic>
        <p:nvPicPr>
          <p:cNvPr id="8" name="Grafik 7"/>
          <p:cNvPicPr/>
          <p:nvPr/>
        </p:nvPicPr>
        <p:blipFill>
          <a:blip r:embed="rId3"/>
          <a:stretch>
            <a:fillRect/>
          </a:stretch>
        </p:blipFill>
        <p:spPr>
          <a:xfrm>
            <a:off x="3904084" y="1491630"/>
            <a:ext cx="4955955" cy="3002535"/>
          </a:xfrm>
          <a:prstGeom prst="rect">
            <a:avLst/>
          </a:prstGeom>
        </p:spPr>
      </p:pic>
      <p:sp>
        <p:nvSpPr>
          <p:cNvPr id="6" name="Abgerundetes Rechteck 5"/>
          <p:cNvSpPr/>
          <p:nvPr/>
        </p:nvSpPr>
        <p:spPr bwMode="gray">
          <a:xfrm>
            <a:off x="4807076" y="2816352"/>
            <a:ext cx="288032" cy="1440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>
              <a:noFill/>
            </a:endParaRPr>
          </a:p>
        </p:txBody>
      </p:sp>
      <p:sp>
        <p:nvSpPr>
          <p:cNvPr id="9" name="Abgerundetes Rechteck 8"/>
          <p:cNvSpPr/>
          <p:nvPr/>
        </p:nvSpPr>
        <p:spPr bwMode="gray">
          <a:xfrm>
            <a:off x="6631654" y="2763959"/>
            <a:ext cx="288032" cy="1440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>
              <a:noFill/>
            </a:endParaRPr>
          </a:p>
        </p:txBody>
      </p:sp>
      <p:sp>
        <p:nvSpPr>
          <p:cNvPr id="10" name="Abgerundetes Rechteck 9"/>
          <p:cNvSpPr/>
          <p:nvPr/>
        </p:nvSpPr>
        <p:spPr bwMode="gray">
          <a:xfrm rot="16200000">
            <a:off x="7692159" y="2225999"/>
            <a:ext cx="288032" cy="1440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>
              <a:noFill/>
            </a:endParaRPr>
          </a:p>
        </p:txBody>
      </p:sp>
      <p:pic>
        <p:nvPicPr>
          <p:cNvPr id="11" name="image1.png"/>
          <p:cNvPicPr/>
          <p:nvPr/>
        </p:nvPicPr>
        <p:blipFill rotWithShape="1">
          <a:blip r:embed="rId4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1683841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65750" lvl="1" indent="-285750">
              <a:buFontTx/>
              <a:buChar char="-"/>
            </a:pPr>
            <a:r>
              <a:rPr lang="de-DE" dirty="0"/>
              <a:t>MAC (Modal Assurance </a:t>
            </a:r>
            <a:r>
              <a:rPr lang="de-DE" dirty="0" err="1"/>
              <a:t>Criterion</a:t>
            </a:r>
            <a:r>
              <a:rPr lang="de-DE" dirty="0"/>
              <a:t>)</a:t>
            </a:r>
          </a:p>
          <a:p>
            <a:pPr lvl="2" indent="0">
              <a:buNone/>
            </a:pPr>
            <a:r>
              <a:rPr lang="de-DE" dirty="0" err="1"/>
              <a:t>comparison</a:t>
            </a:r>
            <a:r>
              <a:rPr lang="de-DE" dirty="0"/>
              <a:t>: </a:t>
            </a:r>
            <a:r>
              <a:rPr lang="de-DE" dirty="0" err="1"/>
              <a:t>mode</a:t>
            </a:r>
            <a:r>
              <a:rPr lang="de-DE" dirty="0"/>
              <a:t> </a:t>
            </a:r>
            <a:r>
              <a:rPr lang="de-DE" dirty="0" err="1"/>
              <a:t>shapes</a:t>
            </a:r>
            <a:r>
              <a:rPr lang="de-DE" dirty="0"/>
              <a:t> </a:t>
            </a:r>
            <a:r>
              <a:rPr lang="de-DE" u="sng" dirty="0" err="1"/>
              <a:t>with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longitudinal </a:t>
            </a:r>
            <a:r>
              <a:rPr lang="de-DE" dirty="0" err="1"/>
              <a:t>mode</a:t>
            </a:r>
            <a:r>
              <a:rPr lang="de-DE" dirty="0"/>
              <a:t> </a:t>
            </a:r>
            <a:r>
              <a:rPr lang="de-DE" dirty="0" err="1"/>
              <a:t>shape</a:t>
            </a:r>
            <a:endParaRPr lang="de-DE" dirty="0"/>
          </a:p>
          <a:p>
            <a:pPr marL="644525" lvl="2" indent="-285750">
              <a:buFont typeface="Courier New" panose="02070309020205020404" pitchFamily="49" charset="0"/>
              <a:buChar char="o"/>
            </a:pPr>
            <a:r>
              <a:rPr lang="de-DE" b="1" dirty="0"/>
              <a:t>0</a:t>
            </a:r>
            <a:r>
              <a:rPr lang="de-DE" dirty="0"/>
              <a:t>  </a:t>
            </a:r>
            <a:r>
              <a:rPr lang="de-DE" i="1" dirty="0" err="1"/>
              <a:t>no</a:t>
            </a:r>
            <a:r>
              <a:rPr lang="de-DE" i="1" dirty="0"/>
              <a:t> </a:t>
            </a:r>
            <a:r>
              <a:rPr lang="de-DE" i="1" dirty="0" err="1"/>
              <a:t>correspondance</a:t>
            </a:r>
            <a:endParaRPr lang="de-DE" i="1" dirty="0"/>
          </a:p>
          <a:p>
            <a:pPr marL="644525" lvl="2" indent="-285750">
              <a:buFont typeface="Courier New" panose="02070309020205020404" pitchFamily="49" charset="0"/>
              <a:buChar char="o"/>
            </a:pPr>
            <a:r>
              <a:rPr lang="de-DE" b="1" dirty="0"/>
              <a:t>1</a:t>
            </a:r>
            <a:r>
              <a:rPr lang="de-DE" dirty="0"/>
              <a:t>  </a:t>
            </a:r>
            <a:r>
              <a:rPr lang="de-DE" i="1" dirty="0" err="1"/>
              <a:t>full</a:t>
            </a:r>
            <a:r>
              <a:rPr lang="de-DE" i="1" dirty="0"/>
              <a:t> </a:t>
            </a:r>
            <a:r>
              <a:rPr lang="de-DE" i="1" dirty="0" err="1"/>
              <a:t>correspondance</a:t>
            </a:r>
            <a:endParaRPr lang="de-DE" i="1" dirty="0"/>
          </a:p>
          <a:p>
            <a:pPr lvl="2" indent="0">
              <a:buNone/>
            </a:pP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 err="1"/>
              <a:t>Identification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longitudinal </a:t>
            </a:r>
            <a:r>
              <a:rPr lang="de-DE" dirty="0" err="1"/>
              <a:t>mode</a:t>
            </a:r>
            <a:endParaRPr lang="de-DE" dirty="0"/>
          </a:p>
          <a:p>
            <a:pPr lvl="1" indent="0">
              <a:buNone/>
            </a:pPr>
            <a:r>
              <a:rPr lang="de-DE" sz="1400" dirty="0"/>
              <a:t>	Long. </a:t>
            </a:r>
            <a:r>
              <a:rPr lang="de-DE" sz="1400" dirty="0" err="1"/>
              <a:t>mode</a:t>
            </a:r>
            <a:r>
              <a:rPr lang="de-DE" sz="1400" dirty="0"/>
              <a:t>: </a:t>
            </a:r>
            <a:r>
              <a:rPr lang="de-DE" sz="1400" dirty="0" err="1"/>
              <a:t>highest</a:t>
            </a:r>
            <a:r>
              <a:rPr lang="de-DE" sz="1400" dirty="0"/>
              <a:t> MAC </a:t>
            </a:r>
            <a:r>
              <a:rPr lang="de-DE" sz="1400" dirty="0" err="1"/>
              <a:t>value</a:t>
            </a:r>
            <a:endParaRPr lang="de-DE" sz="1400" dirty="0"/>
          </a:p>
          <a:p>
            <a:pPr marL="465750" lvl="1" indent="-285750">
              <a:buFontTx/>
              <a:buChar char="-"/>
            </a:pP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/>
              <a:t>8000 design </a:t>
            </a:r>
            <a:r>
              <a:rPr lang="de-DE" dirty="0" err="1"/>
              <a:t>points</a:t>
            </a:r>
            <a:r>
              <a:rPr lang="de-DE" dirty="0"/>
              <a:t> (</a:t>
            </a:r>
            <a:r>
              <a:rPr lang="de-DE" dirty="0" err="1"/>
              <a:t>DP</a:t>
            </a:r>
            <a:r>
              <a:rPr lang="de-DE" dirty="0"/>
              <a:t>) = geometries</a:t>
            </a:r>
          </a:p>
          <a:p>
            <a:pPr lvl="1" indent="0">
              <a:buNone/>
            </a:pPr>
            <a:r>
              <a:rPr lang="de-DE" dirty="0"/>
              <a:t>	CSV </a:t>
            </a:r>
            <a:r>
              <a:rPr lang="de-DE" dirty="0" err="1"/>
              <a:t>files</a:t>
            </a:r>
            <a:endParaRPr lang="de-DE" dirty="0"/>
          </a:p>
          <a:p>
            <a:pPr marL="465750" lvl="1" indent="-285750">
              <a:buFontTx/>
              <a:buChar char="-"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exploration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62" y="3054442"/>
            <a:ext cx="3838748" cy="1139744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4"/>
          <a:srcRect b="37695"/>
          <a:stretch/>
        </p:blipFill>
        <p:spPr>
          <a:xfrm>
            <a:off x="5292080" y="3450643"/>
            <a:ext cx="2817291" cy="9557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 rotWithShape="1">
          <a:blip r:embed="rId5"/>
          <a:srcRect r="31833"/>
          <a:stretch/>
        </p:blipFill>
        <p:spPr>
          <a:xfrm>
            <a:off x="5724128" y="3911129"/>
            <a:ext cx="3024336" cy="834414"/>
          </a:xfrm>
          <a:prstGeom prst="rect">
            <a:avLst/>
          </a:prstGeom>
        </p:spPr>
      </p:pic>
      <p:pic>
        <p:nvPicPr>
          <p:cNvPr id="11" name="image1.png"/>
          <p:cNvPicPr/>
          <p:nvPr/>
        </p:nvPicPr>
        <p:blipFill rotWithShape="1">
          <a:blip r:embed="rId6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6907516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marL="465750" lvl="1" indent="-285750">
              <a:buFontTx/>
              <a:buChar char="-"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visualization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EE1F85DE-17AE-D95E-77A9-DEA712302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9" y="881606"/>
            <a:ext cx="6876256" cy="385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1964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6FDF3-8548-EEFE-1B5B-3CCF470C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B040426-5E62-2EA5-806E-F6AF3CE7D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marL="465750" lvl="1" indent="-285750">
              <a:buFontTx/>
              <a:buChar char="-"/>
            </a:pP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EE2A99-E736-CD5E-EEBC-2A022D84A0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645CED-7FC4-F4B9-0BCD-202251D591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567B3BA-6321-32AA-2FBB-C350D9E510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5E9BD05-431C-7BCE-9C55-2A16C4C1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visualization</a:t>
            </a:r>
            <a:endParaRPr lang="de-DE" dirty="0"/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C118E592-BA62-16BA-E9D3-9841EF4971DD}"/>
              </a:ext>
            </a:extLst>
          </p:cNvPr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33E1E1F-4CE0-A3B2-38C6-1230C4757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72" y="894963"/>
            <a:ext cx="4641284" cy="330699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CB31704-AE59-A9BF-9D7E-4FA50C7C7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877" y="2394462"/>
            <a:ext cx="3152499" cy="1807496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428F725-8CBD-E02A-61BC-4EF6FA79C332}"/>
              </a:ext>
            </a:extLst>
          </p:cNvPr>
          <p:cNvCxnSpPr/>
          <p:nvPr/>
        </p:nvCxnSpPr>
        <p:spPr bwMode="gray">
          <a:xfrm>
            <a:off x="4932040" y="3363838"/>
            <a:ext cx="504056" cy="0"/>
          </a:xfrm>
          <a:prstGeom prst="straightConnector1">
            <a:avLst/>
          </a:prstGeom>
          <a:ln w="9525">
            <a:solidFill>
              <a:schemeClr val="bg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1704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overview</a:t>
            </a:r>
            <a:endParaRPr lang="de-DE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685054"/>
              </p:ext>
            </p:extLst>
          </p:nvPr>
        </p:nvGraphicFramePr>
        <p:xfrm>
          <a:off x="611560" y="952618"/>
          <a:ext cx="763952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976">
                  <a:extLst>
                    <a:ext uri="{9D8B030D-6E8A-4147-A177-3AD203B41FA5}">
                      <a16:colId xmlns:a16="http://schemas.microsoft.com/office/drawing/2014/main" val="405213890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2429258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1925279483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4260458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Target variable(s)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Best </a:t>
                      </a:r>
                      <a:r>
                        <a:rPr lang="de-DE" dirty="0" err="1"/>
                        <a:t>estimator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Final </a:t>
                      </a:r>
                      <a:r>
                        <a:rPr lang="de-DE" dirty="0" err="1"/>
                        <a:t>R²</a:t>
                      </a:r>
                      <a:r>
                        <a:rPr lang="de-DE" dirty="0"/>
                        <a:t>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Mean</a:t>
                      </a:r>
                      <a:r>
                        <a:rPr lang="de-DE" dirty="0"/>
                        <a:t> Absolute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25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Frequency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of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the</a:t>
                      </a:r>
                      <a:r>
                        <a:rPr lang="de-DE" dirty="0"/>
                        <a:t> longitudinal </a:t>
                      </a:r>
                      <a:r>
                        <a:rPr lang="de-DE" dirty="0" err="1"/>
                        <a:t>mode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LightGBM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21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486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All </a:t>
                      </a:r>
                      <a:r>
                        <a:rPr lang="de-DE" dirty="0" err="1"/>
                        <a:t>frequencies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LightGBM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98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856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Displacements</a:t>
                      </a:r>
                      <a:r>
                        <a:rPr lang="de-DE" baseline="0" dirty="0"/>
                        <a:t> (</a:t>
                      </a:r>
                      <a:r>
                        <a:rPr lang="de-DE" baseline="0" dirty="0" err="1"/>
                        <a:t>NRDD</a:t>
                      </a:r>
                      <a:r>
                        <a:rPr lang="de-DE" baseline="0" dirty="0"/>
                        <a:t>)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Keras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Neural</a:t>
                      </a:r>
                      <a:r>
                        <a:rPr lang="de-DE" dirty="0"/>
                        <a:t>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604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2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Displacements</a:t>
                      </a:r>
                      <a:r>
                        <a:rPr lang="de-DE" baseline="0" dirty="0"/>
                        <a:t> (MAC)</a:t>
                      </a:r>
                      <a:endParaRPr lang="de-DE" dirty="0"/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LightGBM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1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Displacements</a:t>
                      </a:r>
                      <a:r>
                        <a:rPr lang="de-DE" dirty="0"/>
                        <a:t> (PCA </a:t>
                      </a:r>
                      <a:r>
                        <a:rPr lang="de-DE" dirty="0" err="1"/>
                        <a:t>1</a:t>
                      </a:r>
                      <a:r>
                        <a:rPr lang="de-DE" baseline="30000" dirty="0" err="1"/>
                        <a:t>st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component</a:t>
                      </a:r>
                      <a:r>
                        <a:rPr lang="de-D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ExtraTrees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663407"/>
                  </a:ext>
                </a:extLst>
              </a:tr>
            </a:tbl>
          </a:graphicData>
        </a:graphic>
      </p:graphicFrame>
      <p:pic>
        <p:nvPicPr>
          <p:cNvPr id="9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140E675-72D5-9859-C3AB-85EBC47F0B56}"/>
              </a:ext>
            </a:extLst>
          </p:cNvPr>
          <p:cNvSpPr/>
          <p:nvPr/>
        </p:nvSpPr>
        <p:spPr bwMode="gray">
          <a:xfrm>
            <a:off x="611560" y="2274307"/>
            <a:ext cx="7639520" cy="297443"/>
          </a:xfrm>
          <a:prstGeom prst="rect">
            <a:avLst/>
          </a:prstGeom>
          <a:solidFill>
            <a:schemeClr val="bg1">
              <a:alpha val="7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4497488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Modelling</a:t>
            </a:r>
            <a:endParaRPr lang="de-DE" dirty="0"/>
          </a:p>
        </p:txBody>
      </p:sp>
      <p:sp>
        <p:nvSpPr>
          <p:cNvPr id="8" name="Textplatzhalter 4"/>
          <p:cNvSpPr txBox="1">
            <a:spLocks/>
          </p:cNvSpPr>
          <p:nvPr/>
        </p:nvSpPr>
        <p:spPr bwMode="gray">
          <a:xfrm>
            <a:off x="453822" y="917228"/>
            <a:ext cx="8278988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Font typeface="Wingdings" pitchFamily="2" charset="2"/>
              <a:buNone/>
            </a:pPr>
            <a:endParaRPr lang="de-DE" sz="4000" i="1" dirty="0"/>
          </a:p>
          <a:p>
            <a:pPr marL="465750" lvl="1" indent="-285750" defTabSz="914400">
              <a:buFontTx/>
              <a:buChar char="-"/>
            </a:pPr>
            <a:endParaRPr lang="de-DE" dirty="0"/>
          </a:p>
        </p:txBody>
      </p:sp>
      <p:pic>
        <p:nvPicPr>
          <p:cNvPr id="9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7E5051D-96B7-02DC-CD77-545C4B91B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50" y="1419622"/>
            <a:ext cx="5786409" cy="301545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FF2F77A-1823-299A-3313-8E9843E6E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22" y="870315"/>
            <a:ext cx="2491978" cy="54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2177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431800" y="864394"/>
            <a:ext cx="8278988" cy="3075508"/>
          </a:xfrm>
        </p:spPr>
        <p:txBody>
          <a:bodyPr/>
          <a:lstStyle/>
          <a:p>
            <a:pPr marL="465750" lvl="1" indent="-285750">
              <a:buFontTx/>
              <a:buChar char="-"/>
            </a:pPr>
            <a:r>
              <a:rPr lang="de-DE" dirty="0" err="1"/>
              <a:t>NRDD</a:t>
            </a:r>
            <a:endParaRPr lang="de-DE" dirty="0"/>
          </a:p>
          <a:p>
            <a:pPr lvl="1" indent="0">
              <a:buNone/>
            </a:pPr>
            <a:r>
              <a:rPr lang="de-DE" i="1" dirty="0"/>
              <a:t>Norm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Relative </a:t>
            </a:r>
            <a:r>
              <a:rPr lang="de-DE" i="1" dirty="0" err="1"/>
              <a:t>Displacement</a:t>
            </a:r>
            <a:r>
              <a:rPr lang="de-DE" i="1" dirty="0"/>
              <a:t> Deviation</a:t>
            </a:r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Pre-processing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hteck 16"/>
              <p:cNvSpPr/>
              <p:nvPr/>
            </p:nvSpPr>
            <p:spPr>
              <a:xfrm>
                <a:off x="434772" y="1493675"/>
                <a:ext cx="2507225" cy="1050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𝑁𝑅𝐷𝐷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de-DE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de-DE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</m:acc>
                                        </m:num>
                                        <m:den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</m:acc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de-DE" sz="1600" dirty="0"/>
              </a:p>
            </p:txBody>
          </p:sp>
        </mc:Choice>
        <mc:Fallback xmlns="">
          <p:sp>
            <p:nvSpPr>
              <p:cNvPr id="17" name="Rechteck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72" y="1493675"/>
                <a:ext cx="2507225" cy="10502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feld 17"/>
          <p:cNvSpPr txBox="1"/>
          <p:nvPr/>
        </p:nvSpPr>
        <p:spPr bwMode="gray">
          <a:xfrm>
            <a:off x="4743976" y="1606591"/>
            <a:ext cx="3767020" cy="83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>
                <a:solidFill>
                  <a:schemeClr val="tx1"/>
                </a:solidFill>
                <a:latin typeface="+mn-lt"/>
              </a:rPr>
              <a:t>displacement</a:t>
            </a:r>
            <a:r>
              <a:rPr lang="de-DE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>
                <a:solidFill>
                  <a:schemeClr val="tx1"/>
                </a:solidFill>
                <a:latin typeface="+mn-lt"/>
              </a:rPr>
              <a:t>of</a:t>
            </a:r>
            <a:r>
              <a:rPr lang="de-DE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>
                <a:solidFill>
                  <a:schemeClr val="tx1"/>
                </a:solidFill>
                <a:latin typeface="+mn-lt"/>
              </a:rPr>
              <a:t>the</a:t>
            </a:r>
            <a:r>
              <a:rPr lang="de-DE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>
                <a:solidFill>
                  <a:schemeClr val="tx1"/>
                </a:solidFill>
                <a:latin typeface="+mn-lt"/>
              </a:rPr>
              <a:t>node</a:t>
            </a:r>
            <a:r>
              <a:rPr lang="de-DE" sz="1400" dirty="0">
                <a:solidFill>
                  <a:schemeClr val="tx1"/>
                </a:solidFill>
                <a:latin typeface="+mn-lt"/>
              </a:rPr>
              <a:t> n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>
                <a:latin typeface="+mn-lt"/>
              </a:rPr>
              <a:t>average</a:t>
            </a:r>
            <a:r>
              <a:rPr lang="de-DE" sz="1400" dirty="0">
                <a:latin typeface="+mn-lt"/>
              </a:rPr>
              <a:t> </a:t>
            </a:r>
            <a:r>
              <a:rPr lang="de-DE" sz="1400" dirty="0" err="1">
                <a:latin typeface="+mn-lt"/>
              </a:rPr>
              <a:t>of</a:t>
            </a:r>
            <a:r>
              <a:rPr lang="de-DE" sz="1400" dirty="0">
                <a:latin typeface="+mn-lt"/>
              </a:rPr>
              <a:t> all </a:t>
            </a:r>
            <a:r>
              <a:rPr lang="de-DE" sz="1400" dirty="0" err="1">
                <a:latin typeface="+mn-lt"/>
              </a:rPr>
              <a:t>displacements</a:t>
            </a:r>
            <a:endParaRPr lang="de-DE" sz="1400" dirty="0">
              <a:latin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>
                <a:solidFill>
                  <a:schemeClr val="tx1"/>
                </a:solidFill>
                <a:latin typeface="+mn-lt"/>
              </a:rPr>
              <a:t>number</a:t>
            </a:r>
            <a:r>
              <a:rPr lang="de-DE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>
                <a:solidFill>
                  <a:schemeClr val="tx1"/>
                </a:solidFill>
                <a:latin typeface="+mn-lt"/>
              </a:rPr>
              <a:t>of</a:t>
            </a:r>
            <a:r>
              <a:rPr lang="de-DE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>
                <a:solidFill>
                  <a:schemeClr val="tx1"/>
                </a:solidFill>
                <a:latin typeface="+mn-lt"/>
              </a:rPr>
              <a:t>nodes</a:t>
            </a:r>
            <a:r>
              <a:rPr lang="de-DE" sz="1400" dirty="0">
                <a:solidFill>
                  <a:schemeClr val="tx1"/>
                </a:solidFill>
                <a:latin typeface="+mn-lt"/>
              </a:rPr>
              <a:t> (</a:t>
            </a:r>
            <a:r>
              <a:rPr lang="de-DE" sz="1400" dirty="0" err="1">
                <a:solidFill>
                  <a:schemeClr val="tx1"/>
                </a:solidFill>
                <a:latin typeface="+mn-lt"/>
              </a:rPr>
              <a:t>output</a:t>
            </a:r>
            <a:r>
              <a:rPr lang="de-DE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>
                <a:solidFill>
                  <a:schemeClr val="tx1"/>
                </a:solidFill>
                <a:latin typeface="+mn-lt"/>
              </a:rPr>
              <a:t>surface</a:t>
            </a:r>
            <a:r>
              <a:rPr lang="de-DE" sz="1400" dirty="0">
                <a:solidFill>
                  <a:schemeClr val="tx1"/>
                </a:solidFill>
                <a:latin typeface="+mn-lt"/>
              </a:rPr>
              <a:t>)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C05072D8-8DD3-D540-7A81-0F7DD6AFB8BD}"/>
              </a:ext>
            </a:extLst>
          </p:cNvPr>
          <p:cNvGrpSpPr/>
          <p:nvPr/>
        </p:nvGrpSpPr>
        <p:grpSpPr>
          <a:xfrm>
            <a:off x="4148972" y="1473060"/>
            <a:ext cx="525528" cy="972331"/>
            <a:chOff x="4438398" y="2018819"/>
            <a:chExt cx="525528" cy="972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hteck 5"/>
                <p:cNvSpPr/>
                <p:nvPr/>
              </p:nvSpPr>
              <p:spPr>
                <a:xfrm>
                  <a:off x="4460648" y="2018819"/>
                  <a:ext cx="50327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de-DE" sz="1800" dirty="0"/>
                </a:p>
              </p:txBody>
            </p:sp>
          </mc:Choice>
          <mc:Fallback xmlns="">
            <p:sp>
              <p:nvSpPr>
                <p:cNvPr id="6" name="Rechteck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0648" y="2018819"/>
                  <a:ext cx="50327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hteck 8"/>
                <p:cNvSpPr/>
                <p:nvPr/>
              </p:nvSpPr>
              <p:spPr>
                <a:xfrm>
                  <a:off x="4460648" y="2333445"/>
                  <a:ext cx="38767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oMath>
                    </m:oMathPara>
                  </a14:m>
                  <a:endParaRPr lang="de-DE" sz="1800" dirty="0"/>
                </a:p>
              </p:txBody>
            </p:sp>
          </mc:Choice>
          <mc:Fallback xmlns="">
            <p:sp>
              <p:nvSpPr>
                <p:cNvPr id="9" name="Rechteck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0648" y="2333445"/>
                  <a:ext cx="38767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hteck 10"/>
                <p:cNvSpPr/>
                <p:nvPr/>
              </p:nvSpPr>
              <p:spPr>
                <a:xfrm>
                  <a:off x="4438398" y="2621818"/>
                  <a:ext cx="4227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de-DE" sz="1800" dirty="0"/>
                </a:p>
              </p:txBody>
            </p:sp>
          </mc:Choice>
          <mc:Fallback xmlns="">
            <p:sp>
              <p:nvSpPr>
                <p:cNvPr id="11" name="Rechteck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8398" y="2621818"/>
                  <a:ext cx="42274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9" name="image1.png"/>
          <p:cNvPicPr/>
          <p:nvPr/>
        </p:nvPicPr>
        <p:blipFill rotWithShape="1">
          <a:blip r:embed="rId7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1F80D878-3CE1-CEAF-FE58-5CA5D07CFFA7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6012160" y="2700046"/>
            <a:ext cx="2016224" cy="205105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9CABDDE2-1D8C-E31B-C9F4-81FB77DBFD52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296971" y="2790070"/>
            <a:ext cx="1811542" cy="190714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BA08489-A292-97EA-E748-5E46BBBE3C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3342" y="2805154"/>
            <a:ext cx="1847548" cy="190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3517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Modelling </a:t>
            </a:r>
            <a:r>
              <a:rPr lang="de-DE" dirty="0" err="1"/>
              <a:t>NRDD</a:t>
            </a:r>
            <a:endParaRPr lang="de-DE" dirty="0"/>
          </a:p>
        </p:txBody>
      </p:sp>
      <p:sp>
        <p:nvSpPr>
          <p:cNvPr id="8" name="Textplatzhalter 4"/>
          <p:cNvSpPr txBox="1">
            <a:spLocks/>
          </p:cNvSpPr>
          <p:nvPr/>
        </p:nvSpPr>
        <p:spPr bwMode="gray">
          <a:xfrm>
            <a:off x="453822" y="917228"/>
            <a:ext cx="8278988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None/>
            </a:pPr>
            <a:r>
              <a:rPr lang="de-DE" dirty="0" err="1"/>
              <a:t>NRDD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variable			</a:t>
            </a:r>
            <a:r>
              <a:rPr lang="de-DE" dirty="0" err="1"/>
              <a:t>Neural</a:t>
            </a:r>
            <a:r>
              <a:rPr lang="de-DE" dirty="0"/>
              <a:t> network</a:t>
            </a:r>
          </a:p>
        </p:txBody>
      </p:sp>
      <p:pic>
        <p:nvPicPr>
          <p:cNvPr id="9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/>
          <p:cNvPicPr/>
          <p:nvPr/>
        </p:nvPicPr>
        <p:blipFill>
          <a:blip r:embed="rId4"/>
          <a:stretch>
            <a:fillRect/>
          </a:stretch>
        </p:blipFill>
        <p:spPr>
          <a:xfrm>
            <a:off x="316927" y="1294474"/>
            <a:ext cx="2578199" cy="1944216"/>
          </a:xfrm>
          <a:prstGeom prst="rect">
            <a:avLst/>
          </a:prstGeom>
        </p:spPr>
      </p:pic>
      <p:pic>
        <p:nvPicPr>
          <p:cNvPr id="12" name="Grafik 11"/>
          <p:cNvPicPr/>
          <p:nvPr/>
        </p:nvPicPr>
        <p:blipFill>
          <a:blip r:embed="rId5"/>
          <a:stretch>
            <a:fillRect/>
          </a:stretch>
        </p:blipFill>
        <p:spPr>
          <a:xfrm>
            <a:off x="1381753" y="3267220"/>
            <a:ext cx="1513373" cy="155496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9111D2EB-3884-6636-7C52-3AD92943C2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7710" y="1248000"/>
            <a:ext cx="3910673" cy="1836075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52976254-35A0-C7C4-C832-191446214183}"/>
              </a:ext>
            </a:extLst>
          </p:cNvPr>
          <p:cNvSpPr/>
          <p:nvPr/>
        </p:nvSpPr>
        <p:spPr bwMode="gray">
          <a:xfrm>
            <a:off x="7164288" y="2629432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/>
          </a:p>
        </p:txBody>
      </p:sp>
    </p:spTree>
    <p:extLst>
      <p:ext uri="{BB962C8B-B14F-4D97-AF65-F5344CB8AC3E}">
        <p14:creationId xmlns:p14="http://schemas.microsoft.com/office/powerpoint/2010/main" val="4048626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Modelling </a:t>
            </a:r>
            <a:r>
              <a:rPr lang="de-DE" dirty="0" err="1"/>
              <a:t>NRDD</a:t>
            </a:r>
            <a:endParaRPr lang="de-DE" dirty="0"/>
          </a:p>
        </p:txBody>
      </p:sp>
      <p:sp>
        <p:nvSpPr>
          <p:cNvPr id="8" name="Textplatzhalter 4"/>
          <p:cNvSpPr txBox="1">
            <a:spLocks/>
          </p:cNvSpPr>
          <p:nvPr/>
        </p:nvSpPr>
        <p:spPr bwMode="gray">
          <a:xfrm>
            <a:off x="453822" y="917228"/>
            <a:ext cx="8278988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None/>
            </a:pPr>
            <a:r>
              <a:rPr lang="de-DE" dirty="0" err="1"/>
              <a:t>Predictions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			(</a:t>
            </a:r>
            <a:r>
              <a:rPr lang="de-DE" dirty="0" err="1"/>
              <a:t>Residuals</a:t>
            </a:r>
            <a:r>
              <a:rPr lang="de-DE" dirty="0"/>
              <a:t>)</a:t>
            </a:r>
          </a:p>
        </p:txBody>
      </p:sp>
      <p:pic>
        <p:nvPicPr>
          <p:cNvPr id="9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/>
          <p:cNvPicPr/>
          <p:nvPr/>
        </p:nvPicPr>
        <p:blipFill>
          <a:blip r:embed="rId4"/>
          <a:stretch>
            <a:fillRect/>
          </a:stretch>
        </p:blipFill>
        <p:spPr>
          <a:xfrm>
            <a:off x="198691" y="1466725"/>
            <a:ext cx="2884180" cy="2895083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5"/>
          <a:srcRect r="50000"/>
          <a:stretch>
            <a:fillRect/>
          </a:stretch>
        </p:blipFill>
        <p:spPr>
          <a:xfrm>
            <a:off x="3301374" y="1556383"/>
            <a:ext cx="2759758" cy="271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9476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1447-0192-7770-8EE2-B96693433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192AE7-EF2A-6CB3-BFF2-49603F49D99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039494-E41B-0ADD-813A-B2A1926E202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DC31C1C-F943-C5B2-35B6-C9AE892AE26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6CE87FA-C218-E685-41B1-A4D37740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Modelling MAC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65999054-7788-7187-FB9B-E3255B632485}"/>
              </a:ext>
            </a:extLst>
          </p:cNvPr>
          <p:cNvSpPr txBox="1">
            <a:spLocks/>
          </p:cNvSpPr>
          <p:nvPr/>
        </p:nvSpPr>
        <p:spPr bwMode="gray">
          <a:xfrm>
            <a:off x="453822" y="917228"/>
            <a:ext cx="8278988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None/>
            </a:pPr>
            <a:r>
              <a:rPr lang="de-DE" dirty="0"/>
              <a:t>MAC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variable</a:t>
            </a: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FA12B97D-FCF6-77E2-9DC6-29F99631B5B9}"/>
              </a:ext>
            </a:extLst>
          </p:cNvPr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840BAAC-E2C8-6429-33B4-098069F5F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1635646"/>
            <a:ext cx="2582913" cy="267718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025C8AE-A1E3-FB85-43CC-12DFD31E2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5762" y="1968664"/>
            <a:ext cx="4211960" cy="992996"/>
          </a:xfrm>
          <a:prstGeom prst="rect">
            <a:avLst/>
          </a:prstGeom>
        </p:spPr>
      </p:pic>
      <p:sp>
        <p:nvSpPr>
          <p:cNvPr id="12" name="Pfeil: nach unten 11">
            <a:extLst>
              <a:ext uri="{FF2B5EF4-FFF2-40B4-BE49-F238E27FC236}">
                <a16:creationId xmlns:a16="http://schemas.microsoft.com/office/drawing/2014/main" id="{4C1A145C-A8F8-B62B-8E87-47FE769D50B6}"/>
              </a:ext>
            </a:extLst>
          </p:cNvPr>
          <p:cNvSpPr/>
          <p:nvPr/>
        </p:nvSpPr>
        <p:spPr bwMode="gray">
          <a:xfrm>
            <a:off x="3131840" y="1347614"/>
            <a:ext cx="199638" cy="216024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D0CB2BE-A138-0043-0942-C521A318C604}"/>
              </a:ext>
            </a:extLst>
          </p:cNvPr>
          <p:cNvSpPr/>
          <p:nvPr/>
        </p:nvSpPr>
        <p:spPr bwMode="gray">
          <a:xfrm>
            <a:off x="6156176" y="2457671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/>
          </a:p>
        </p:txBody>
      </p:sp>
    </p:spTree>
    <p:extLst>
      <p:ext uri="{BB962C8B-B14F-4D97-AF65-F5344CB8AC3E}">
        <p14:creationId xmlns:p14="http://schemas.microsoft.com/office/powerpoint/2010/main" val="36848069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75FBA-8B22-4D8A-C71D-D08206B3B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4B291A-D754-93A1-29A0-87115FAA871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78154-A6C4-18DE-2F03-672F6D9FBCA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38676AB-F0DD-6D21-EF8C-501F7666154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E54DF07-8262-7706-B52C-F67B2094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Modelling PCA </a:t>
            </a:r>
            <a:r>
              <a:rPr lang="de-DE" dirty="0" err="1"/>
              <a:t>components</a:t>
            </a:r>
            <a:endParaRPr lang="de-DE" dirty="0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03759F58-FC87-85BB-AB17-D6633ECB0F9D}"/>
              </a:ext>
            </a:extLst>
          </p:cNvPr>
          <p:cNvSpPr txBox="1">
            <a:spLocks/>
          </p:cNvSpPr>
          <p:nvPr/>
        </p:nvSpPr>
        <p:spPr bwMode="gray">
          <a:xfrm>
            <a:off x="487804" y="918923"/>
            <a:ext cx="8278988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None/>
            </a:pPr>
            <a:r>
              <a:rPr lang="de-DE" dirty="0"/>
              <a:t>First PCA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variable</a:t>
            </a: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CD4B417B-984F-573D-BF9F-97AFD19FBDAA}"/>
              </a:ext>
            </a:extLst>
          </p:cNvPr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478D57F-ED5E-F2E9-B683-C33E08A8B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275606"/>
            <a:ext cx="6556390" cy="201622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C83D364-7212-33C0-6AA8-2BFDA366B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768" y="3593130"/>
            <a:ext cx="5148440" cy="840943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A11061C7-3CD4-E726-55E4-79D63F674832}"/>
              </a:ext>
            </a:extLst>
          </p:cNvPr>
          <p:cNvSpPr/>
          <p:nvPr/>
        </p:nvSpPr>
        <p:spPr bwMode="gray">
          <a:xfrm>
            <a:off x="3711413" y="3867894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/>
          </a:p>
        </p:txBody>
      </p:sp>
    </p:spTree>
    <p:extLst>
      <p:ext uri="{BB962C8B-B14F-4D97-AF65-F5344CB8AC3E}">
        <p14:creationId xmlns:p14="http://schemas.microsoft.com/office/powerpoint/2010/main" val="19219668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530B-3EE4-4998-A998-EBC0EA00952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9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06133C-6716-453B-AA54-8455677CE4F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Themenbereich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18" name="Agenda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grpSp>
        <p:nvGrpSpPr>
          <p:cNvPr id="108" name="Thema 07"/>
          <p:cNvGrpSpPr/>
          <p:nvPr/>
        </p:nvGrpSpPr>
        <p:grpSpPr>
          <a:xfrm>
            <a:off x="434978" y="3196249"/>
            <a:ext cx="8278195" cy="252000"/>
            <a:chOff x="434978" y="3196249"/>
            <a:chExt cx="8278195" cy="252000"/>
          </a:xfrm>
        </p:grpSpPr>
        <p:sp>
          <p:nvSpPr>
            <p:cNvPr id="91" name="Thema 07"/>
            <p:cNvSpPr txBox="1">
              <a:spLocks/>
            </p:cNvSpPr>
            <p:nvPr/>
          </p:nvSpPr>
          <p:spPr bwMode="gray">
            <a:xfrm>
              <a:off x="758754" y="3196249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>
                  <a:latin typeface="Arial Narrow" pitchFamily="34" charset="0"/>
                  <a:cs typeface="Arial" pitchFamily="34" charset="0"/>
                </a:rPr>
                <a:t>Next </a:t>
              </a:r>
              <a:r>
                <a:rPr lang="de-DE" sz="1400" dirty="0" err="1">
                  <a:latin typeface="Arial Narrow" pitchFamily="34" charset="0"/>
                  <a:cs typeface="Arial" pitchFamily="34" charset="0"/>
                </a:rPr>
                <a:t>steps</a:t>
              </a:r>
              <a:r>
                <a:rPr lang="de-DE" sz="1400" dirty="0">
                  <a:latin typeface="Arial Narrow" pitchFamily="34" charset="0"/>
                  <a:cs typeface="Arial" pitchFamily="34" charset="0"/>
                </a:rPr>
                <a:t> / </a:t>
              </a:r>
              <a:r>
                <a:rPr lang="de-DE" sz="1400" dirty="0" err="1">
                  <a:latin typeface="Arial Narrow" pitchFamily="34" charset="0"/>
                  <a:cs typeface="Arial" pitchFamily="34" charset="0"/>
                </a:rPr>
                <a:t>Conclusion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92" name="07"/>
            <p:cNvSpPr txBox="1">
              <a:spLocks/>
            </p:cNvSpPr>
            <p:nvPr/>
          </p:nvSpPr>
          <p:spPr bwMode="gray">
            <a:xfrm>
              <a:off x="434978" y="3196249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07</a:t>
              </a:r>
            </a:p>
          </p:txBody>
        </p:sp>
      </p:grpSp>
      <p:grpSp>
        <p:nvGrpSpPr>
          <p:cNvPr id="107" name="Thema 06"/>
          <p:cNvGrpSpPr/>
          <p:nvPr/>
        </p:nvGrpSpPr>
        <p:grpSpPr>
          <a:xfrm>
            <a:off x="434978" y="2807766"/>
            <a:ext cx="8278195" cy="252000"/>
            <a:chOff x="434978" y="2807766"/>
            <a:chExt cx="8278195" cy="252000"/>
          </a:xfrm>
        </p:grpSpPr>
        <p:sp>
          <p:nvSpPr>
            <p:cNvPr id="89" name="Thema 06"/>
            <p:cNvSpPr txBox="1">
              <a:spLocks/>
            </p:cNvSpPr>
            <p:nvPr/>
          </p:nvSpPr>
          <p:spPr bwMode="gray">
            <a:xfrm>
              <a:off x="758754" y="2807766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>
                  <a:latin typeface="Arial Narrow" pitchFamily="34" charset="0"/>
                  <a:cs typeface="Arial" pitchFamily="34" charset="0"/>
                </a:rPr>
                <a:t>Modelling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90" name="06"/>
            <p:cNvSpPr txBox="1">
              <a:spLocks/>
            </p:cNvSpPr>
            <p:nvPr/>
          </p:nvSpPr>
          <p:spPr bwMode="gray">
            <a:xfrm>
              <a:off x="434978" y="2807766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06</a:t>
              </a:r>
            </a:p>
          </p:txBody>
        </p:sp>
      </p:grpSp>
      <p:grpSp>
        <p:nvGrpSpPr>
          <p:cNvPr id="106" name="Thema 05"/>
          <p:cNvGrpSpPr/>
          <p:nvPr/>
        </p:nvGrpSpPr>
        <p:grpSpPr>
          <a:xfrm>
            <a:off x="434978" y="2419283"/>
            <a:ext cx="8278195" cy="252000"/>
            <a:chOff x="434978" y="2419283"/>
            <a:chExt cx="8278195" cy="252000"/>
          </a:xfrm>
        </p:grpSpPr>
        <p:sp>
          <p:nvSpPr>
            <p:cNvPr id="87" name="Thema 05"/>
            <p:cNvSpPr txBox="1">
              <a:spLocks/>
            </p:cNvSpPr>
            <p:nvPr/>
          </p:nvSpPr>
          <p:spPr bwMode="gray">
            <a:xfrm>
              <a:off x="758754" y="2419283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>
                  <a:latin typeface="Arial Narrow" pitchFamily="34" charset="0"/>
                  <a:cs typeface="Arial" pitchFamily="34" charset="0"/>
                </a:rPr>
                <a:t>Result</a:t>
              </a:r>
              <a:r>
                <a:rPr lang="de-DE" sz="1400" dirty="0">
                  <a:latin typeface="Arial Narrow" pitchFamily="34" charset="0"/>
                  <a:cs typeface="Arial" pitchFamily="34" charset="0"/>
                </a:rPr>
                <a:t> </a:t>
              </a:r>
              <a:r>
                <a:rPr lang="de-DE" sz="1400" dirty="0" err="1">
                  <a:latin typeface="Arial Narrow" pitchFamily="34" charset="0"/>
                  <a:cs typeface="Arial" pitchFamily="34" charset="0"/>
                </a:rPr>
                <a:t>overview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8" name="05"/>
            <p:cNvSpPr txBox="1">
              <a:spLocks/>
            </p:cNvSpPr>
            <p:nvPr/>
          </p:nvSpPr>
          <p:spPr bwMode="gray">
            <a:xfrm>
              <a:off x="434978" y="2419283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05</a:t>
              </a:r>
            </a:p>
          </p:txBody>
        </p:sp>
      </p:grpSp>
      <p:grpSp>
        <p:nvGrpSpPr>
          <p:cNvPr id="104" name="Thema 04"/>
          <p:cNvGrpSpPr/>
          <p:nvPr/>
        </p:nvGrpSpPr>
        <p:grpSpPr>
          <a:xfrm>
            <a:off x="434978" y="2030800"/>
            <a:ext cx="8278195" cy="252000"/>
            <a:chOff x="434978" y="2030800"/>
            <a:chExt cx="8278195" cy="252000"/>
          </a:xfrm>
        </p:grpSpPr>
        <p:sp>
          <p:nvSpPr>
            <p:cNvPr id="85" name="Thema 04"/>
            <p:cNvSpPr txBox="1">
              <a:spLocks/>
            </p:cNvSpPr>
            <p:nvPr/>
          </p:nvSpPr>
          <p:spPr bwMode="gray">
            <a:xfrm>
              <a:off x="758754" y="2030800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>
                  <a:latin typeface="Arial Narrow" pitchFamily="34" charset="0"/>
                  <a:cs typeface="Arial" pitchFamily="34" charset="0"/>
                </a:rPr>
                <a:t>Pre-processing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6" name="04"/>
            <p:cNvSpPr txBox="1">
              <a:spLocks/>
            </p:cNvSpPr>
            <p:nvPr/>
          </p:nvSpPr>
          <p:spPr bwMode="gray">
            <a:xfrm>
              <a:off x="434978" y="2030800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04</a:t>
              </a:r>
            </a:p>
          </p:txBody>
        </p:sp>
      </p:grpSp>
      <p:grpSp>
        <p:nvGrpSpPr>
          <p:cNvPr id="103" name="Thema 03"/>
          <p:cNvGrpSpPr/>
          <p:nvPr/>
        </p:nvGrpSpPr>
        <p:grpSpPr>
          <a:xfrm>
            <a:off x="434978" y="1642317"/>
            <a:ext cx="8278195" cy="252000"/>
            <a:chOff x="434978" y="1642317"/>
            <a:chExt cx="8278195" cy="252000"/>
          </a:xfrm>
        </p:grpSpPr>
        <p:sp>
          <p:nvSpPr>
            <p:cNvPr id="83" name="Thema 03"/>
            <p:cNvSpPr txBox="1">
              <a:spLocks/>
            </p:cNvSpPr>
            <p:nvPr/>
          </p:nvSpPr>
          <p:spPr bwMode="gray">
            <a:xfrm>
              <a:off x="758754" y="1642317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>
                  <a:latin typeface="Arial Narrow" pitchFamily="34" charset="0"/>
                  <a:cs typeface="Arial" pitchFamily="34" charset="0"/>
                </a:rPr>
                <a:t>Data </a:t>
              </a:r>
              <a:r>
                <a:rPr lang="de-DE" sz="1400" dirty="0" err="1">
                  <a:latin typeface="Arial Narrow" pitchFamily="34" charset="0"/>
                  <a:cs typeface="Arial" pitchFamily="34" charset="0"/>
                </a:rPr>
                <a:t>visualization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4" name="03"/>
            <p:cNvSpPr txBox="1">
              <a:spLocks/>
            </p:cNvSpPr>
            <p:nvPr/>
          </p:nvSpPr>
          <p:spPr bwMode="gray">
            <a:xfrm>
              <a:off x="434978" y="1642317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03</a:t>
              </a:r>
            </a:p>
          </p:txBody>
        </p:sp>
      </p:grpSp>
      <p:grpSp>
        <p:nvGrpSpPr>
          <p:cNvPr id="102" name="Thema 02"/>
          <p:cNvGrpSpPr/>
          <p:nvPr/>
        </p:nvGrpSpPr>
        <p:grpSpPr>
          <a:xfrm>
            <a:off x="434978" y="1253834"/>
            <a:ext cx="8278195" cy="252000"/>
            <a:chOff x="434978" y="1253834"/>
            <a:chExt cx="8278195" cy="252000"/>
          </a:xfrm>
        </p:grpSpPr>
        <p:sp>
          <p:nvSpPr>
            <p:cNvPr id="81" name="Thema 02"/>
            <p:cNvSpPr txBox="1">
              <a:spLocks/>
            </p:cNvSpPr>
            <p:nvPr/>
          </p:nvSpPr>
          <p:spPr bwMode="gray">
            <a:xfrm>
              <a:off x="758754" y="1253834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>
                  <a:latin typeface="Arial Narrow" pitchFamily="34" charset="0"/>
                  <a:cs typeface="Arial" pitchFamily="34" charset="0"/>
                </a:rPr>
                <a:t>Data </a:t>
              </a:r>
              <a:r>
                <a:rPr lang="de-DE" sz="1400" dirty="0" err="1">
                  <a:latin typeface="Arial Narrow" pitchFamily="34" charset="0"/>
                  <a:cs typeface="Arial" pitchFamily="34" charset="0"/>
                </a:rPr>
                <a:t>exploration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2" name="02"/>
            <p:cNvSpPr txBox="1">
              <a:spLocks/>
            </p:cNvSpPr>
            <p:nvPr/>
          </p:nvSpPr>
          <p:spPr bwMode="gray">
            <a:xfrm>
              <a:off x="434978" y="1253834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02</a:t>
              </a:r>
            </a:p>
          </p:txBody>
        </p:sp>
      </p:grpSp>
      <p:grpSp>
        <p:nvGrpSpPr>
          <p:cNvPr id="101" name="Thema 01"/>
          <p:cNvGrpSpPr/>
          <p:nvPr/>
        </p:nvGrpSpPr>
        <p:grpSpPr>
          <a:xfrm>
            <a:off x="434978" y="868957"/>
            <a:ext cx="8278195" cy="252000"/>
            <a:chOff x="434978" y="868957"/>
            <a:chExt cx="8278195" cy="252000"/>
          </a:xfrm>
        </p:grpSpPr>
        <p:sp>
          <p:nvSpPr>
            <p:cNvPr id="27" name="Thema 01"/>
            <p:cNvSpPr txBox="1">
              <a:spLocks/>
            </p:cNvSpPr>
            <p:nvPr/>
          </p:nvSpPr>
          <p:spPr bwMode="gray">
            <a:xfrm>
              <a:off x="758754" y="868957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>
                  <a:latin typeface="Arial Narrow" pitchFamily="34" charset="0"/>
                  <a:cs typeface="Arial" pitchFamily="34" charset="0"/>
                </a:rPr>
                <a:t>Context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6" name="01"/>
            <p:cNvSpPr txBox="1">
              <a:spLocks/>
            </p:cNvSpPr>
            <p:nvPr/>
          </p:nvSpPr>
          <p:spPr bwMode="gray">
            <a:xfrm>
              <a:off x="434978" y="868957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01</a:t>
              </a:r>
            </a:p>
          </p:txBody>
        </p:sp>
      </p:grpSp>
      <p:pic>
        <p:nvPicPr>
          <p:cNvPr id="31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5793477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 err="1"/>
              <a:t>Optimizer</a:t>
            </a: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/>
              <a:t>Navigation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de-DE" dirty="0"/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 </a:t>
            </a:r>
            <a:r>
              <a:rPr lang="de-DE" dirty="0" err="1"/>
              <a:t>steps</a:t>
            </a:r>
            <a:r>
              <a:rPr lang="de-DE" dirty="0"/>
              <a:t> &amp; </a:t>
            </a:r>
            <a:r>
              <a:rPr lang="de-DE" dirty="0" err="1"/>
              <a:t>Conclusion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7" name="Gruppieren 16"/>
          <p:cNvGrpSpPr/>
          <p:nvPr/>
        </p:nvGrpSpPr>
        <p:grpSpPr>
          <a:xfrm>
            <a:off x="3855697" y="1188178"/>
            <a:ext cx="4073104" cy="1334766"/>
            <a:chOff x="3855697" y="1188178"/>
            <a:chExt cx="4073104" cy="1334766"/>
          </a:xfrm>
        </p:grpSpPr>
        <p:sp>
          <p:nvSpPr>
            <p:cNvPr id="9" name="Textfeld 8"/>
            <p:cNvSpPr txBox="1"/>
            <p:nvPr/>
          </p:nvSpPr>
          <p:spPr bwMode="gray">
            <a:xfrm>
              <a:off x="3855697" y="1188178"/>
              <a:ext cx="1152128" cy="2935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dirty="0" err="1">
                  <a:solidFill>
                    <a:schemeClr val="tx1"/>
                  </a:solidFill>
                  <a:latin typeface="+mn-lt"/>
                </a:rPr>
                <a:t>cost_long_freq</a:t>
              </a:r>
              <a:endParaRPr lang="de-DE" sz="14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Textfeld 9"/>
            <p:cNvSpPr txBox="1"/>
            <p:nvPr/>
          </p:nvSpPr>
          <p:spPr bwMode="gray">
            <a:xfrm>
              <a:off x="5314958" y="1188178"/>
              <a:ext cx="1152128" cy="2935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dirty="0" err="1">
                  <a:solidFill>
                    <a:schemeClr val="tx1"/>
                  </a:solidFill>
                  <a:latin typeface="+mn-lt"/>
                </a:rPr>
                <a:t>cost_all_freq</a:t>
              </a:r>
              <a:endParaRPr lang="de-DE" sz="14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Textfeld 10"/>
            <p:cNvSpPr txBox="1"/>
            <p:nvPr/>
          </p:nvSpPr>
          <p:spPr bwMode="gray">
            <a:xfrm>
              <a:off x="6776673" y="1193809"/>
              <a:ext cx="1152128" cy="2935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dirty="0" err="1">
                  <a:solidFill>
                    <a:schemeClr val="tx1"/>
                  </a:solidFill>
                  <a:latin typeface="+mn-lt"/>
                </a:rPr>
                <a:t>cost_nrdd</a:t>
              </a:r>
              <a:endParaRPr lang="de-DE" sz="14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Textfeld 11"/>
            <p:cNvSpPr txBox="1"/>
            <p:nvPr/>
          </p:nvSpPr>
          <p:spPr bwMode="gray">
            <a:xfrm>
              <a:off x="5314958" y="2229406"/>
              <a:ext cx="1152128" cy="2935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b="1" dirty="0" err="1">
                  <a:solidFill>
                    <a:schemeClr val="tx1"/>
                  </a:solidFill>
                  <a:latin typeface="+mn-lt"/>
                </a:rPr>
                <a:t>cost_total</a:t>
              </a:r>
              <a:endParaRPr lang="de-DE" sz="1400" b="1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" name="Gerade Verbindung mit Pfeil 13"/>
            <p:cNvCxnSpPr>
              <a:stCxn id="9" idx="2"/>
            </p:cNvCxnSpPr>
            <p:nvPr/>
          </p:nvCxnSpPr>
          <p:spPr bwMode="gray">
            <a:xfrm>
              <a:off x="4431761" y="1481716"/>
              <a:ext cx="1172457" cy="642441"/>
            </a:xfrm>
            <a:prstGeom prst="straightConnector1">
              <a:avLst/>
            </a:prstGeom>
            <a:ln w="9525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/>
            <p:cNvCxnSpPr>
              <a:stCxn id="10" idx="2"/>
            </p:cNvCxnSpPr>
            <p:nvPr/>
          </p:nvCxnSpPr>
          <p:spPr bwMode="gray">
            <a:xfrm>
              <a:off x="5891022" y="1481716"/>
              <a:ext cx="0" cy="642441"/>
            </a:xfrm>
            <a:prstGeom prst="straightConnector1">
              <a:avLst/>
            </a:prstGeom>
            <a:ln w="9525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mit Pfeil 17"/>
            <p:cNvCxnSpPr>
              <a:stCxn id="11" idx="2"/>
            </p:cNvCxnSpPr>
            <p:nvPr/>
          </p:nvCxnSpPr>
          <p:spPr bwMode="gray">
            <a:xfrm flipH="1">
              <a:off x="6177827" y="1487347"/>
              <a:ext cx="1174910" cy="636810"/>
            </a:xfrm>
            <a:prstGeom prst="straightConnector1">
              <a:avLst/>
            </a:prstGeom>
            <a:ln w="9525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uppieren 12"/>
          <p:cNvGrpSpPr/>
          <p:nvPr/>
        </p:nvGrpSpPr>
        <p:grpSpPr>
          <a:xfrm>
            <a:off x="2843808" y="3086221"/>
            <a:ext cx="5298192" cy="355047"/>
            <a:chOff x="2843808" y="3086221"/>
            <a:chExt cx="5298192" cy="355047"/>
          </a:xfrm>
        </p:grpSpPr>
        <p:sp>
          <p:nvSpPr>
            <p:cNvPr id="22" name="Textfeld 21"/>
            <p:cNvSpPr txBox="1"/>
            <p:nvPr/>
          </p:nvSpPr>
          <p:spPr bwMode="gray">
            <a:xfrm>
              <a:off x="2843808" y="3102970"/>
              <a:ext cx="2271510" cy="338298"/>
            </a:xfrm>
            <a:prstGeom prst="rect">
              <a:avLst/>
            </a:prstGeom>
            <a:solidFill>
              <a:srgbClr val="00FFCC"/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dirty="0" err="1">
                  <a:solidFill>
                    <a:schemeClr val="tx1"/>
                  </a:solidFill>
                  <a:latin typeface="+mn-lt"/>
                </a:rPr>
                <a:t>scipy.differential_evolution</a:t>
              </a:r>
              <a:endParaRPr lang="de-DE" sz="14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3" name="Textfeld 22"/>
            <p:cNvSpPr txBox="1"/>
            <p:nvPr/>
          </p:nvSpPr>
          <p:spPr bwMode="gray">
            <a:xfrm>
              <a:off x="5870490" y="3086221"/>
              <a:ext cx="2271510" cy="338298"/>
            </a:xfrm>
            <a:prstGeom prst="rect">
              <a:avLst/>
            </a:prstGeom>
            <a:solidFill>
              <a:srgbClr val="00FFCC"/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accent2"/>
                </a:buClr>
                <a:buSzPct val="90000"/>
              </a:pPr>
              <a:r>
                <a:rPr lang="de-DE" sz="1400" dirty="0" err="1">
                  <a:solidFill>
                    <a:schemeClr val="tx1"/>
                  </a:solidFill>
                  <a:latin typeface="+mn-lt"/>
                </a:rPr>
                <a:t>scipy.minimize</a:t>
              </a:r>
              <a:endParaRPr lang="de-DE" sz="1400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4" name="Gerade Verbindung mit Pfeil 23"/>
            <p:cNvCxnSpPr>
              <a:stCxn id="22" idx="3"/>
            </p:cNvCxnSpPr>
            <p:nvPr/>
          </p:nvCxnSpPr>
          <p:spPr bwMode="gray">
            <a:xfrm>
              <a:off x="5115318" y="3272119"/>
              <a:ext cx="620768" cy="4096"/>
            </a:xfrm>
            <a:prstGeom prst="straightConnector1">
              <a:avLst/>
            </a:prstGeom>
            <a:ln w="9525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2769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/>
              <a:t>Lösung 1</a:t>
            </a:r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/>
              <a:t>Vergleich Vorhersage / Reale Werte</a:t>
            </a:r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Optimizer</a:t>
            </a:r>
            <a:endParaRPr lang="de-DE" dirty="0"/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110" y="899590"/>
            <a:ext cx="7070050" cy="1833464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8343" y="2893599"/>
            <a:ext cx="2753949" cy="198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8852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/>
              <a:t>Variationsbereich mit konstanter Schlitzverteilung:</a:t>
            </a:r>
          </a:p>
          <a:p>
            <a:pPr lvl="1" indent="0">
              <a:buNone/>
            </a:pPr>
            <a:r>
              <a:rPr lang="de-DE" dirty="0" err="1"/>
              <a:t>dim_X</a:t>
            </a:r>
            <a:r>
              <a:rPr lang="de-DE" dirty="0"/>
              <a:t>: 100 – (175) – 195	2 Schlitze</a:t>
            </a:r>
          </a:p>
          <a:p>
            <a:pPr lvl="1" indent="0">
              <a:buNone/>
            </a:pPr>
            <a:r>
              <a:rPr lang="de-DE" dirty="0" err="1"/>
              <a:t>dim_Z</a:t>
            </a:r>
            <a:r>
              <a:rPr lang="de-DE" dirty="0"/>
              <a:t>: 200 – (240) – 280	4 Schlitze</a:t>
            </a:r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Breiterer Bereich</a:t>
            </a:r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/>
          <p:cNvPicPr/>
          <p:nvPr/>
        </p:nvPicPr>
        <p:blipFill>
          <a:blip r:embed="rId4"/>
          <a:stretch>
            <a:fillRect/>
          </a:stretch>
        </p:blipFill>
        <p:spPr>
          <a:xfrm>
            <a:off x="1660255" y="1770294"/>
            <a:ext cx="4855961" cy="2873860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 bwMode="gray">
          <a:xfrm>
            <a:off x="1835696" y="2480824"/>
            <a:ext cx="216024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/>
          </a:p>
        </p:txBody>
      </p:sp>
      <p:sp>
        <p:nvSpPr>
          <p:cNvPr id="10" name="Rechteck 9"/>
          <p:cNvSpPr/>
          <p:nvPr/>
        </p:nvSpPr>
        <p:spPr bwMode="gray">
          <a:xfrm>
            <a:off x="2267744" y="1826446"/>
            <a:ext cx="216024" cy="78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/>
          </a:p>
        </p:txBody>
      </p:sp>
    </p:spTree>
    <p:extLst>
      <p:ext uri="{BB962C8B-B14F-4D97-AF65-F5344CB8AC3E}">
        <p14:creationId xmlns:p14="http://schemas.microsoft.com/office/powerpoint/2010/main" val="241434944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/>
              <a:t>Verteilung der Längsmoden</a:t>
            </a:r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/>
              <a:t>Long. Frequenzen</a:t>
            </a:r>
          </a:p>
          <a:p>
            <a:pPr lvl="1" indent="0">
              <a:buNone/>
            </a:pPr>
            <a:r>
              <a:rPr lang="de-DE" dirty="0"/>
              <a:t>+ MAC-Werte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Breiterer Bereich</a:t>
            </a:r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/>
          <p:cNvPicPr/>
          <p:nvPr/>
        </p:nvPicPr>
        <p:blipFill>
          <a:blip r:embed="rId4"/>
          <a:stretch>
            <a:fillRect/>
          </a:stretch>
        </p:blipFill>
        <p:spPr>
          <a:xfrm>
            <a:off x="3131839" y="888435"/>
            <a:ext cx="4479865" cy="1323275"/>
          </a:xfrm>
          <a:prstGeom prst="rect">
            <a:avLst/>
          </a:prstGeom>
        </p:spPr>
      </p:pic>
      <p:pic>
        <p:nvPicPr>
          <p:cNvPr id="12" name="Grafik 11"/>
          <p:cNvPicPr/>
          <p:nvPr/>
        </p:nvPicPr>
        <p:blipFill>
          <a:blip r:embed="rId5"/>
          <a:stretch>
            <a:fillRect/>
          </a:stretch>
        </p:blipFill>
        <p:spPr>
          <a:xfrm>
            <a:off x="2771800" y="2383264"/>
            <a:ext cx="2867452" cy="218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9869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/>
              <a:t>Alle Frequenzen</a:t>
            </a:r>
          </a:p>
          <a:p>
            <a:pPr lvl="1" indent="0">
              <a:buNone/>
            </a:pPr>
            <a:r>
              <a:rPr lang="de-DE" dirty="0"/>
              <a:t>	</a:t>
            </a:r>
            <a:r>
              <a:rPr lang="de-DE" dirty="0" err="1"/>
              <a:t>Schmaller</a:t>
            </a:r>
            <a:r>
              <a:rPr lang="de-DE" dirty="0"/>
              <a:t> Bereich				Breiter Bereich</a:t>
            </a:r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 err="1"/>
              <a:t>NRDD</a:t>
            </a:r>
            <a:endParaRPr lang="de-DE" dirty="0"/>
          </a:p>
          <a:p>
            <a:pPr lvl="1" indent="0">
              <a:buNone/>
            </a:pPr>
            <a:r>
              <a:rPr lang="de-DE" dirty="0"/>
              <a:t>	</a:t>
            </a:r>
            <a:r>
              <a:rPr lang="de-DE" dirty="0" err="1"/>
              <a:t>Schmaller</a:t>
            </a:r>
            <a:r>
              <a:rPr lang="de-DE" dirty="0"/>
              <a:t> Bereich				Breiter Bereich</a:t>
            </a:r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dirty="0"/>
              <a:t>Themenbereich, über Datum zu ändern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 der Performances</a:t>
            </a:r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/>
          <p:cNvPicPr/>
          <p:nvPr/>
        </p:nvPicPr>
        <p:blipFill>
          <a:blip r:embed="rId4"/>
          <a:stretch>
            <a:fillRect/>
          </a:stretch>
        </p:blipFill>
        <p:spPr>
          <a:xfrm>
            <a:off x="1079663" y="1551839"/>
            <a:ext cx="4032448" cy="1199689"/>
          </a:xfrm>
          <a:prstGeom prst="rect">
            <a:avLst/>
          </a:prstGeom>
        </p:spPr>
      </p:pic>
      <p:pic>
        <p:nvPicPr>
          <p:cNvPr id="10" name="Grafik 9"/>
          <p:cNvPicPr/>
          <p:nvPr/>
        </p:nvPicPr>
        <p:blipFill>
          <a:blip r:embed="rId5"/>
          <a:stretch>
            <a:fillRect/>
          </a:stretch>
        </p:blipFill>
        <p:spPr>
          <a:xfrm>
            <a:off x="5302049" y="1601540"/>
            <a:ext cx="2850068" cy="1100286"/>
          </a:xfrm>
          <a:prstGeom prst="rect">
            <a:avLst/>
          </a:prstGeom>
        </p:spPr>
      </p:pic>
      <p:pic>
        <p:nvPicPr>
          <p:cNvPr id="11" name="Grafik 10"/>
          <p:cNvPicPr/>
          <p:nvPr/>
        </p:nvPicPr>
        <p:blipFill>
          <a:blip r:embed="rId6"/>
          <a:stretch>
            <a:fillRect/>
          </a:stretch>
        </p:blipFill>
        <p:spPr>
          <a:xfrm>
            <a:off x="827584" y="4147165"/>
            <a:ext cx="3614420" cy="270510"/>
          </a:xfrm>
          <a:prstGeom prst="rect">
            <a:avLst/>
          </a:prstGeom>
        </p:spPr>
      </p:pic>
      <p:pic>
        <p:nvPicPr>
          <p:cNvPr id="12" name="Grafik 11"/>
          <p:cNvPicPr/>
          <p:nvPr/>
        </p:nvPicPr>
        <p:blipFill>
          <a:blip r:embed="rId7"/>
          <a:stretch>
            <a:fillRect/>
          </a:stretch>
        </p:blipFill>
        <p:spPr>
          <a:xfrm>
            <a:off x="4949718" y="4147165"/>
            <a:ext cx="3554730" cy="3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56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 err="1"/>
              <a:t>PCA</a:t>
            </a:r>
            <a:r>
              <a:rPr lang="de-DE" dirty="0"/>
              <a:t> (</a:t>
            </a:r>
            <a:r>
              <a:rPr lang="de-DE" dirty="0" err="1"/>
              <a:t>Principal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Analysis)</a:t>
            </a:r>
          </a:p>
          <a:p>
            <a:pPr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transformiert korrelierte Variablen in neue, </a:t>
            </a:r>
            <a:r>
              <a:rPr lang="de-DE" dirty="0" err="1"/>
              <a:t>unkorrelierte</a:t>
            </a:r>
            <a:r>
              <a:rPr lang="de-DE" dirty="0"/>
              <a:t> Variablen</a:t>
            </a:r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/>
              <a:t>Verschiebungen der 400 Knoten </a:t>
            </a:r>
            <a:r>
              <a:rPr lang="de-DE" dirty="0">
                <a:sym typeface="Wingdings" panose="05000000000000000000" pitchFamily="2" charset="2"/>
              </a:rPr>
              <a:t> 10 Komponenten</a:t>
            </a: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Dimensionsreduktion</a:t>
            </a:r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2283718"/>
            <a:ext cx="3168851" cy="232343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787" y="3003798"/>
            <a:ext cx="4029637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7346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431800" y="864394"/>
            <a:ext cx="4428232" cy="3814762"/>
          </a:xfrm>
        </p:spPr>
        <p:txBody>
          <a:bodyPr/>
          <a:lstStyle/>
          <a:p>
            <a:pPr lvl="1" indent="0">
              <a:buNone/>
            </a:pPr>
            <a:r>
              <a:rPr lang="de-DE" dirty="0"/>
              <a:t>Nutzen aus der Weiterbildung</a:t>
            </a:r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r>
              <a:rPr lang="de-DE" dirty="0"/>
              <a:t>1) Materialparameterermittlung</a:t>
            </a:r>
          </a:p>
          <a:p>
            <a:pPr lvl="1" indent="0">
              <a:buNone/>
            </a:pP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/>
              <a:t>Skalierung / Transformation der Variablen</a:t>
            </a:r>
          </a:p>
          <a:p>
            <a:pPr marL="465750" lvl="1" indent="-285750">
              <a:buFontTx/>
              <a:buChar char="-"/>
            </a:pPr>
            <a:r>
              <a:rPr lang="de-DE" dirty="0"/>
              <a:t>Globaler + Lokaler </a:t>
            </a:r>
            <a:r>
              <a:rPr lang="de-DE" dirty="0" err="1"/>
              <a:t>Optimizer</a:t>
            </a: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/>
              <a:t>Clustering </a:t>
            </a:r>
            <a:r>
              <a:rPr lang="de-DE" dirty="0" err="1"/>
              <a:t>Method</a:t>
            </a:r>
            <a:r>
              <a:rPr lang="de-DE" dirty="0"/>
              <a:t> für die Modenzuordnung</a:t>
            </a:r>
          </a:p>
          <a:p>
            <a:pPr marL="465750" lvl="1" indent="-285750">
              <a:buFontTx/>
              <a:buChar char="-"/>
            </a:pPr>
            <a:r>
              <a:rPr lang="de-DE" dirty="0"/>
              <a:t>Idee: Expl. und Target Variablen tauschen</a:t>
            </a:r>
          </a:p>
          <a:p>
            <a:pPr marL="644525" lvl="2" indent="-285750">
              <a:buFontTx/>
              <a:buChar char="-"/>
            </a:pPr>
            <a:r>
              <a:rPr lang="de-DE" dirty="0"/>
              <a:t>Eigenfrequenzen sind die Eingaben</a:t>
            </a:r>
          </a:p>
          <a:p>
            <a:pPr marL="644525" lvl="2" indent="-285750">
              <a:buFontTx/>
              <a:buChar char="-"/>
            </a:pPr>
            <a:r>
              <a:rPr lang="de-DE" dirty="0"/>
              <a:t>Gesucht werden die Materialkonstanten</a:t>
            </a:r>
          </a:p>
          <a:p>
            <a:pPr marL="644525" lvl="2" indent="-285750">
              <a:buFontTx/>
              <a:buChar char="-"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Dimensionsreduktion</a:t>
            </a:r>
          </a:p>
        </p:txBody>
      </p:sp>
      <p:pic>
        <p:nvPicPr>
          <p:cNvPr id="8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115318" y="68512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platzhalter 4"/>
          <p:cNvSpPr txBox="1">
            <a:spLocks/>
          </p:cNvSpPr>
          <p:nvPr/>
        </p:nvSpPr>
        <p:spPr bwMode="gray">
          <a:xfrm>
            <a:off x="4572000" y="862644"/>
            <a:ext cx="4428232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Font typeface="Wingdings" pitchFamily="2" charset="2"/>
              <a:buNone/>
            </a:pPr>
            <a:endParaRPr lang="de-DE" dirty="0"/>
          </a:p>
          <a:p>
            <a:pPr lvl="1" indent="0" defTabSz="914400">
              <a:buFont typeface="Wingdings" pitchFamily="2" charset="2"/>
              <a:buNone/>
            </a:pPr>
            <a:endParaRPr lang="de-DE" dirty="0"/>
          </a:p>
          <a:p>
            <a:pPr lvl="1" indent="0" defTabSz="914400">
              <a:buFont typeface="Wingdings" pitchFamily="2" charset="2"/>
              <a:buNone/>
            </a:pPr>
            <a:r>
              <a:rPr lang="de-DE" dirty="0"/>
              <a:t>2) </a:t>
            </a:r>
            <a:r>
              <a:rPr lang="de-DE" dirty="0" err="1"/>
              <a:t>Streamlit</a:t>
            </a:r>
            <a:r>
              <a:rPr lang="de-DE" dirty="0"/>
              <a:t> – Einfache </a:t>
            </a:r>
            <a:r>
              <a:rPr lang="de-DE" dirty="0" err="1"/>
              <a:t>GUI</a:t>
            </a:r>
            <a:endParaRPr lang="de-DE" dirty="0"/>
          </a:p>
          <a:p>
            <a:pPr lvl="1" indent="0" defTabSz="914400">
              <a:buFont typeface="Wingdings" pitchFamily="2" charset="2"/>
              <a:buNone/>
            </a:pPr>
            <a:endParaRPr lang="de-DE" dirty="0"/>
          </a:p>
          <a:p>
            <a:pPr marL="465750" lvl="1" indent="-285750" defTabSz="914400">
              <a:buFontTx/>
              <a:buChar char="-"/>
            </a:pPr>
            <a:r>
              <a:rPr lang="de-DE" dirty="0"/>
              <a:t>Eingabeparameter</a:t>
            </a:r>
          </a:p>
          <a:p>
            <a:pPr marL="465750" lvl="1" indent="-285750" defTabSz="914400">
              <a:buFontTx/>
              <a:buChar char="-"/>
            </a:pPr>
            <a:r>
              <a:rPr lang="de-DE" dirty="0"/>
              <a:t>Datenvisualisierung</a:t>
            </a:r>
          </a:p>
          <a:p>
            <a:pPr marL="644525" lvl="2" indent="-285750" defTabSz="914400">
              <a:buFontTx/>
              <a:buChar char="-"/>
            </a:pPr>
            <a:endParaRPr lang="de-DE" dirty="0"/>
          </a:p>
          <a:p>
            <a:pPr lvl="1" indent="0" defTabSz="914400">
              <a:buFont typeface="Wingdings" pitchFamily="2" charset="2"/>
              <a:buNone/>
            </a:pPr>
            <a:endParaRPr lang="de-DE" dirty="0"/>
          </a:p>
          <a:p>
            <a:pPr lvl="1" indent="0" defTabSz="914400">
              <a:buFont typeface="Wingdings" pitchFamily="2" charset="2"/>
              <a:buNone/>
            </a:pPr>
            <a:endParaRPr lang="de-DE" dirty="0"/>
          </a:p>
          <a:p>
            <a:pPr lvl="1" indent="0" defTabSz="914400">
              <a:buFont typeface="Wingdings" pitchFamily="2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328510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ISPRING_RESOURCE_PATHS_HASH_2" val="8e5293b899b407db44c384a3ca52afbd91fed16"/>
  <p:tag name="FINNOVA_CATEGORY" val="None"/>
  <p:tag name="ISPRING_RESOURCE_PATHS_HASH_PRESENTER" val="9873763661c552a285dbeabd15893f184a3bf72"/>
</p:tagLst>
</file>

<file path=ppt/theme/theme1.xml><?xml version="1.0" encoding="utf-8"?>
<a:theme xmlns:a="http://schemas.openxmlformats.org/drawingml/2006/main" name="Herrmann_Ultraschall_Template_01_EXP">
  <a:themeElements>
    <a:clrScheme name="HerrmannUltraschall">
      <a:dk1>
        <a:srgbClr val="333333"/>
      </a:dk1>
      <a:lt1>
        <a:sysClr val="window" lastClr="FFFFFF"/>
      </a:lt1>
      <a:dk2>
        <a:srgbClr val="C8C8C8"/>
      </a:dk2>
      <a:lt2>
        <a:srgbClr val="595959"/>
      </a:lt2>
      <a:accent1>
        <a:srgbClr val="007BBD"/>
      </a:accent1>
      <a:accent2>
        <a:srgbClr val="FF0000"/>
      </a:accent2>
      <a:accent3>
        <a:srgbClr val="D9D9D9"/>
      </a:accent3>
      <a:accent4>
        <a:srgbClr val="595959"/>
      </a:accent4>
      <a:accent5>
        <a:srgbClr val="008080"/>
      </a:accent5>
      <a:accent6>
        <a:srgbClr val="948A54"/>
      </a:accent6>
      <a:hlink>
        <a:srgbClr val="007BBD"/>
      </a:hlink>
      <a:folHlink>
        <a:srgbClr val="007BBD"/>
      </a:folHlink>
    </a:clrScheme>
    <a:fontScheme name="Hermann Ultraschall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>
          <a:noFill/>
        </a:ln>
      </a:spPr>
      <a:bodyPr lIns="72000" tIns="72000" rIns="72000" bIns="72000" rtlCol="0" anchor="ctr"/>
      <a:lstStyle>
        <a:defPPr algn="ctr">
          <a:spcBef>
            <a:spcPts val="300"/>
          </a:spcBef>
          <a:spcAft>
            <a:spcPts val="300"/>
          </a:spcAft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bg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>
          <a:spcBef>
            <a:spcPts val="300"/>
          </a:spcBef>
          <a:spcAft>
            <a:spcPts val="300"/>
          </a:spcAft>
          <a:buClr>
            <a:schemeClr val="accent2"/>
          </a:buClr>
          <a:buSzPct val="90000"/>
          <a:buFont typeface="Wingdings" panose="05000000000000000000" pitchFamily="2" charset="2"/>
          <a:buChar char="§"/>
          <a:defRPr sz="140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UG_PPT-Vorlage_DEU_220524(SUl)" id="{5F8270AA-FF72-4F5B-8154-785FC7475741}" vid="{92324E19-A43C-4383-857C-DC3889C1272F}"/>
    </a:ext>
  </a:extLst>
</a:theme>
</file>

<file path=ppt/theme/theme2.xml><?xml version="1.0" encoding="utf-8"?>
<a:theme xmlns:a="http://schemas.openxmlformats.org/drawingml/2006/main" name="Office-Design">
  <a:themeElements>
    <a:clrScheme name="Benutzerdefiniert 1">
      <a:dk1>
        <a:srgbClr val="333333"/>
      </a:dk1>
      <a:lt1>
        <a:sysClr val="window" lastClr="FFFFFF"/>
      </a:lt1>
      <a:dk2>
        <a:srgbClr val="D6D6D6"/>
      </a:dk2>
      <a:lt2>
        <a:srgbClr val="595959"/>
      </a:lt2>
      <a:accent1>
        <a:srgbClr val="FF0000"/>
      </a:accent1>
      <a:accent2>
        <a:srgbClr val="FF0000"/>
      </a:accent2>
      <a:accent3>
        <a:srgbClr val="007CD6"/>
      </a:accent3>
      <a:accent4>
        <a:srgbClr val="B800B8"/>
      </a:accent4>
      <a:accent5>
        <a:srgbClr val="007C7C"/>
      </a:accent5>
      <a:accent6>
        <a:srgbClr val="D67C54"/>
      </a:accent6>
      <a:hlink>
        <a:srgbClr val="007CD6"/>
      </a:hlink>
      <a:folHlink>
        <a:srgbClr val="007CD6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>
          <a:noFill/>
        </a:ln>
      </a:spPr>
      <a:bodyPr lIns="72000" tIns="72000" rIns="72000" bIns="72000" rtlCol="0" anchor="ctr"/>
      <a:lstStyle>
        <a:defPPr algn="ctr">
          <a:spcBef>
            <a:spcPts val="300"/>
          </a:spcBef>
          <a:spcAft>
            <a:spcPts val="300"/>
          </a:spcAft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bg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>
          <a:spcBef>
            <a:spcPts val="200"/>
          </a:spcBef>
          <a:spcAft>
            <a:spcPts val="200"/>
          </a:spcAft>
          <a:buClr>
            <a:schemeClr val="accent2"/>
          </a:buClr>
          <a:buSzPct val="90000"/>
          <a:buFont typeface="Wingdings" panose="05000000000000000000" pitchFamily="2" charset="2"/>
          <a:buChar char="§"/>
          <a:defRPr sz="120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Larissa">
  <a:themeElements>
    <a:clrScheme name="Herrmann Ultraschall">
      <a:dk1>
        <a:srgbClr val="333333"/>
      </a:dk1>
      <a:lt1>
        <a:sysClr val="window" lastClr="FFFFFF"/>
      </a:lt1>
      <a:dk2>
        <a:srgbClr val="C8C8C8"/>
      </a:dk2>
      <a:lt2>
        <a:srgbClr val="595959"/>
      </a:lt2>
      <a:accent1>
        <a:srgbClr val="900000"/>
      </a:accent1>
      <a:accent2>
        <a:srgbClr val="FF0000"/>
      </a:accent2>
      <a:accent3>
        <a:srgbClr val="2773BE"/>
      </a:accent3>
      <a:accent4>
        <a:srgbClr val="63A1DF"/>
      </a:accent4>
      <a:accent5>
        <a:srgbClr val="366735"/>
      </a:accent5>
      <a:accent6>
        <a:srgbClr val="5CAA5A"/>
      </a:accent6>
      <a:hlink>
        <a:srgbClr val="3F3F3F"/>
      </a:hlink>
      <a:folHlink>
        <a:srgbClr val="3F3F3F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>
          <a:noFill/>
        </a:ln>
      </a:spPr>
      <a:bodyPr lIns="72000" tIns="72000" rIns="72000" bIns="72000" rtlCol="0" anchor="ctr"/>
      <a:lstStyle>
        <a:defPPr algn="ctr">
          <a:spcBef>
            <a:spcPts val="300"/>
          </a:spcBef>
          <a:spcAft>
            <a:spcPts val="300"/>
          </a:spcAft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bg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>
          <a:spcBef>
            <a:spcPts val="200"/>
          </a:spcBef>
          <a:spcAft>
            <a:spcPts val="200"/>
          </a:spcAft>
          <a:buClr>
            <a:schemeClr val="accent2"/>
          </a:buClr>
          <a:buSzPct val="90000"/>
          <a:buFont typeface="Wingdings" panose="05000000000000000000" pitchFamily="2" charset="2"/>
          <a:buChar char="§"/>
          <a:defRPr sz="120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HUG_PPT-Vorlage_DEU_220524(SUl)</Template>
  <TotalTime>0</TotalTime>
  <Words>2016</Words>
  <Application>Microsoft Office PowerPoint</Application>
  <PresentationFormat>Bildschirmpräsentation (16:9)</PresentationFormat>
  <Paragraphs>372</Paragraphs>
  <Slides>22</Slides>
  <Notes>22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9" baseType="lpstr">
      <vt:lpstr>Arial</vt:lpstr>
      <vt:lpstr>Arial Narrow</vt:lpstr>
      <vt:lpstr>Calibri</vt:lpstr>
      <vt:lpstr>Cambria Math</vt:lpstr>
      <vt:lpstr>Courier New</vt:lpstr>
      <vt:lpstr>Wingdings</vt:lpstr>
      <vt:lpstr>Herrmann_Ultraschall_Template_01_EXP</vt:lpstr>
      <vt:lpstr>Francois Brouet – sep24_continuous_ds</vt:lpstr>
      <vt:lpstr>Context</vt:lpstr>
      <vt:lpstr>Goal</vt:lpstr>
      <vt:lpstr>Data exploration</vt:lpstr>
      <vt:lpstr>Data visualization</vt:lpstr>
      <vt:lpstr>Data visualization</vt:lpstr>
      <vt:lpstr>Result overview</vt:lpstr>
      <vt:lpstr>Modelling</vt:lpstr>
      <vt:lpstr>Pre-processing</vt:lpstr>
      <vt:lpstr>Modelling NRDD</vt:lpstr>
      <vt:lpstr>Modelling NRDD</vt:lpstr>
      <vt:lpstr>Modelling MAC</vt:lpstr>
      <vt:lpstr>Modelling PCA components</vt:lpstr>
      <vt:lpstr>PowerPoint-Präsentation</vt:lpstr>
      <vt:lpstr>PowerPoint-Präsentation</vt:lpstr>
      <vt:lpstr>Next steps &amp; Conclusion</vt:lpstr>
      <vt:lpstr>Optimizer</vt:lpstr>
      <vt:lpstr>Breiterer Bereich</vt:lpstr>
      <vt:lpstr>Breiterer Bereich</vt:lpstr>
      <vt:lpstr>Vergleich der Performances</vt:lpstr>
      <vt:lpstr>Dimensionsreduktion</vt:lpstr>
      <vt:lpstr>Dimensionsreduktion</vt:lpstr>
    </vt:vector>
  </TitlesOfParts>
  <Company>Herrmann Ultraschalltechnik GmbH &amp; Co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Brouet, Francois</dc:creator>
  <cp:lastModifiedBy>Brouet, Francois</cp:lastModifiedBy>
  <cp:revision>196</cp:revision>
  <cp:lastPrinted>2024-10-28T09:15:24Z</cp:lastPrinted>
  <dcterms:created xsi:type="dcterms:W3CDTF">2024-10-21T06:24:53Z</dcterms:created>
  <dcterms:modified xsi:type="dcterms:W3CDTF">2025-11-04T06:16:08Z</dcterms:modified>
</cp:coreProperties>
</file>