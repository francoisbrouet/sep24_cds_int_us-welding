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20"/>
  </p:notesMasterIdLst>
  <p:handoutMasterIdLst>
    <p:handoutMasterId r:id="rId21"/>
  </p:handoutMasterIdLst>
  <p:sldIdLst>
    <p:sldId id="383" r:id="rId2"/>
    <p:sldId id="397" r:id="rId3"/>
    <p:sldId id="370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7" r:id="rId12"/>
    <p:sldId id="403" r:id="rId13"/>
    <p:sldId id="406" r:id="rId14"/>
    <p:sldId id="404" r:id="rId15"/>
    <p:sldId id="396" r:id="rId16"/>
    <p:sldId id="381" r:id="rId17"/>
    <p:sldId id="378" r:id="rId18"/>
    <p:sldId id="384" r:id="rId19"/>
  </p:sldIdLst>
  <p:sldSz cx="9144000" cy="5143500" type="screen16x9"/>
  <p:notesSz cx="6645275" cy="9775825"/>
  <p:custDataLst>
    <p:tags r:id="rId22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97"/>
            <p14:sldId id="370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406"/>
            <p14:sldId id="404"/>
            <p14:sldId id="396"/>
            <p14:sldId id="381"/>
            <p14:sldId id="378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66738" autoAdjust="0"/>
  </p:normalViewPr>
  <p:slideViewPr>
    <p:cSldViewPr snapToObjects="1">
      <p:cViewPr varScale="1">
        <p:scale>
          <a:sx n="99" d="100"/>
          <a:sy n="99" d="100"/>
        </p:scale>
        <p:origin x="936" y="90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13.08.2025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We</a:t>
            </a:r>
            <a:r>
              <a:rPr lang="de-DE" dirty="0" smtClean="0"/>
              <a:t> will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different </a:t>
            </a:r>
            <a:r>
              <a:rPr lang="de-DE" dirty="0" err="1" smtClean="0"/>
              <a:t>modelling</a:t>
            </a:r>
            <a:r>
              <a:rPr lang="de-DE" dirty="0" smtClean="0"/>
              <a:t> </a:t>
            </a:r>
            <a:r>
              <a:rPr lang="de-DE" dirty="0" err="1" smtClean="0"/>
              <a:t>approaches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in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Simulation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 (or “long. frequency”)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Focus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endParaRPr lang="de-DE" baseline="0" dirty="0" smtClean="0"/>
          </a:p>
          <a:p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subgoal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visualization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influences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modeling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result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parameters</a:t>
            </a:r>
            <a:r>
              <a:rPr lang="de-DE" dirty="0" smtClean="0"/>
              <a:t> (3 </a:t>
            </a:r>
            <a:r>
              <a:rPr lang="de-DE" dirty="0" err="1" smtClean="0"/>
              <a:t>parts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lst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1000, all </a:t>
            </a:r>
            <a:r>
              <a:rPr lang="de-DE" dirty="0" err="1" smtClean="0"/>
              <a:t>modes</a:t>
            </a:r>
            <a:r>
              <a:rPr lang="de-DE" dirty="0" smtClean="0"/>
              <a:t> at </a:t>
            </a:r>
            <a:r>
              <a:rPr lang="de-DE" dirty="0" err="1" smtClean="0"/>
              <a:t>positions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, but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dirty="0" err="1" smtClean="0"/>
              <a:t>defs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neighboring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dirty="0" smtClean="0"/>
              <a:t>- Distribution of the geometric variables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.</a:t>
            </a:r>
            <a:endParaRPr lang="de-DE" dirty="0" smtClean="0"/>
          </a:p>
          <a:p>
            <a:pPr marL="0" indent="0">
              <a:buFontTx/>
              <a:buNone/>
            </a:pPr>
            <a:endParaRPr lang="en-US" dirty="0" smtClean="0"/>
          </a:p>
          <a:p>
            <a:pPr marL="0" indent="0">
              <a:buFontTx/>
              <a:buNone/>
            </a:pPr>
            <a:r>
              <a:rPr lang="en-US" dirty="0" smtClean="0"/>
              <a:t>- Let's go back to DP 1001</a:t>
            </a:r>
          </a:p>
          <a:p>
            <a:pPr marL="0" indent="0">
              <a:buFontTx/>
              <a:buNone/>
            </a:pPr>
            <a:r>
              <a:rPr lang="en-US" dirty="0" smtClean="0"/>
              <a:t>Mode</a:t>
            </a:r>
            <a:r>
              <a:rPr lang="en-US" baseline="0" dirty="0" smtClean="0"/>
              <a:t> 77 (long): all displacements have the same sign</a:t>
            </a:r>
          </a:p>
          <a:p>
            <a:pPr marL="0" indent="0">
              <a:buFontTx/>
              <a:buNone/>
            </a:pPr>
            <a:r>
              <a:rPr lang="de-DE" dirty="0" smtClean="0"/>
              <a:t>Mode 76+78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neighboring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: </a:t>
            </a:r>
            <a:r>
              <a:rPr lang="de-DE" dirty="0" err="1" smtClean="0"/>
              <a:t>delta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forming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was not </a:t>
            </a:r>
            <a:r>
              <a:rPr lang="de-DE" baseline="0" dirty="0" err="1" smtClean="0"/>
              <a:t>successful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score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+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quick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r>
              <a:rPr lang="de-DE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</a:t>
            </a:r>
            <a:r>
              <a:rPr lang="de-DE" baseline="0" dirty="0" err="1" smtClean="0"/>
              <a:t>scores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smtClean="0"/>
              <a:t># LGBM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:                                  	</a:t>
            </a:r>
            <a:r>
              <a:rPr lang="de-DE" dirty="0" err="1" smtClean="0"/>
              <a:t>y_true</a:t>
            </a:r>
            <a:r>
              <a:rPr lang="de-DE" dirty="0" smtClean="0"/>
              <a:t> </a:t>
            </a:r>
            <a:r>
              <a:rPr lang="de-DE" dirty="0" err="1" smtClean="0"/>
              <a:t>y_pred</a:t>
            </a:r>
            <a:r>
              <a:rPr lang="de-DE" dirty="0" smtClean="0"/>
              <a:t> 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</a:t>
            </a:r>
            <a:r>
              <a:rPr lang="de-DE" baseline="0" dirty="0" err="1" smtClean="0"/>
              <a:t>true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True)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has</a:t>
            </a:r>
            <a:r>
              <a:rPr lang="de-DE" baseline="0" dirty="0" smtClean="0"/>
              <a:t> a </a:t>
            </a:r>
            <a:r>
              <a:rPr lang="de-DE" baseline="0" dirty="0" smtClean="0"/>
              <a:t>MAE </a:t>
            </a:r>
            <a:r>
              <a:rPr lang="de-DE" baseline="0" dirty="0" smtClean="0"/>
              <a:t>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radio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have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observe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may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overlapping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As a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scatterplot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dirty="0" smtClean="0"/>
              <a:t> = f(MAC </a:t>
            </a:r>
            <a:r>
              <a:rPr lang="de-DE" dirty="0" err="1" smtClean="0"/>
              <a:t>value</a:t>
            </a:r>
            <a:r>
              <a:rPr lang="de-DE" dirty="0" smtClean="0"/>
              <a:t>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limit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at 0.75)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 LGBM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+ </a:t>
            </a:r>
            <a:r>
              <a:rPr lang="de-DE" dirty="0" err="1" smtClean="0"/>
              <a:t>filtered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helped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MAE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am </a:t>
            </a:r>
            <a:r>
              <a:rPr lang="de-DE" baseline="0" dirty="0" err="1" smtClean="0"/>
              <a:t>done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 </a:t>
            </a:r>
            <a:r>
              <a:rPr lang="de-DE" baseline="0" dirty="0" err="1" smtClean="0"/>
              <a:t>mask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different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an </a:t>
            </a:r>
            <a:r>
              <a:rPr lang="de-DE" baseline="0" dirty="0" err="1" smtClean="0"/>
              <a:t>interface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CAD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thus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engineer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gets</a:t>
            </a:r>
            <a:r>
              <a:rPr lang="de-DE" baseline="0" dirty="0" smtClean="0"/>
              <a:t> a quick </a:t>
            </a:r>
            <a:r>
              <a:rPr lang="de-DE" baseline="0" dirty="0" err="1" smtClean="0"/>
              <a:t>estimation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required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much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faster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optimas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automatically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proposed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optimizer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0275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7320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27952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17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Textplatzhalter 4"/>
          <p:cNvSpPr>
            <a:spLocks noGrp="1"/>
          </p:cNvSpPr>
          <p:nvPr/>
        </p:nvSpPr>
        <p:spPr bwMode="gray">
          <a:xfrm>
            <a:off x="380451" y="953444"/>
            <a:ext cx="6135765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(volume, architecture)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identification </a:t>
            </a:r>
            <a:r>
              <a:rPr lang="en-US" sz="1000" dirty="0" err="1" smtClean="0"/>
              <a:t>long.mode</a:t>
            </a:r>
            <a:r>
              <a:rPr lang="en-US" sz="1000" dirty="0" smtClean="0"/>
              <a:t>, MAC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</a:t>
            </a:r>
            <a:r>
              <a:rPr lang="en-US" sz="1000" dirty="0" err="1" smtClean="0"/>
              <a:t>dataframes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distribution of the </a:t>
            </a:r>
            <a:r>
              <a:rPr lang="en-US" sz="1000" dirty="0" err="1" smtClean="0"/>
              <a:t>expl</a:t>
            </a:r>
            <a:r>
              <a:rPr lang="en-US" sz="1000" dirty="0" smtClean="0"/>
              <a:t>. variables + correlation </a:t>
            </a:r>
            <a:r>
              <a:rPr lang="en-US" sz="1000" dirty="0" err="1" smtClean="0"/>
              <a:t>heatmap</a:t>
            </a: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/>
              <a:t>) identified long. </a:t>
            </a:r>
            <a:r>
              <a:rPr lang="en-US" sz="1000" dirty="0" smtClean="0"/>
              <a:t>mode + neighboring modes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Pre-processing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slot classes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 smtClean="0"/>
              <a:t>NRDD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Result overview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Long .frequencies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Trained models and results, tuned model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Best &amp; worst predictions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Filtered data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Link results with the business issue, Next Steps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Conclusion &amp; Outlook</a:t>
            </a:r>
          </a:p>
        </p:txBody>
      </p:sp>
      <p:sp>
        <p:nvSpPr>
          <p:cNvPr id="5" name="Textfeld 4"/>
          <p:cNvSpPr txBox="1"/>
          <p:nvPr/>
        </p:nvSpPr>
        <p:spPr bwMode="gray">
          <a:xfrm>
            <a:off x="5076056" y="987574"/>
            <a:ext cx="2952328" cy="25202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20 min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presentation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latin typeface="+mn-lt"/>
              </a:rPr>
              <a:t>10 min </a:t>
            </a:r>
            <a:r>
              <a:rPr lang="de-DE" sz="1400" dirty="0" err="1" smtClean="0">
                <a:latin typeface="+mn-lt"/>
              </a:rPr>
              <a:t>questions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smtClean="0"/>
              <a:t>must </a:t>
            </a:r>
            <a:r>
              <a:rPr lang="de-DE" dirty="0" err="1" smtClean="0"/>
              <a:t>meet</a:t>
            </a:r>
            <a:r>
              <a:rPr lang="de-DE" dirty="0" smtClean="0"/>
              <a:t> </a:t>
            </a: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sonotrode </a:t>
            </a:r>
            <a:r>
              <a:rPr lang="de-DE" dirty="0" err="1" smtClean="0"/>
              <a:t>geometry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dim_x</a:t>
            </a:r>
            <a:r>
              <a:rPr lang="de-DE" dirty="0" smtClean="0"/>
              <a:t>) × (</a:t>
            </a:r>
            <a:r>
              <a:rPr lang="de-DE" dirty="0" err="1" smtClean="0"/>
              <a:t>dim_z</a:t>
            </a:r>
            <a:r>
              <a:rPr lang="de-DE" dirty="0" smtClean="0"/>
              <a:t>):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dim_y</a:t>
            </a:r>
            <a:r>
              <a:rPr lang="de-DE" dirty="0" smtClean="0"/>
              <a:t>): </a:t>
            </a:r>
            <a:r>
              <a:rPr lang="de-DE" dirty="0" err="1" smtClean="0"/>
              <a:t>length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0 = </a:t>
            </a: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1 = </a:t>
            </a:r>
            <a:r>
              <a:rPr lang="de-DE" dirty="0" err="1" smtClean="0"/>
              <a:t>full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err="1" smtClean="0"/>
              <a:t>mode</a:t>
            </a:r>
            <a:r>
              <a:rPr lang="de-DE" sz="1400" dirty="0" smtClean="0"/>
              <a:t> </a:t>
            </a:r>
            <a:r>
              <a:rPr lang="de-DE" sz="1400" dirty="0" err="1" smtClean="0"/>
              <a:t>with</a:t>
            </a:r>
            <a:r>
              <a:rPr lang="de-DE" sz="1400" dirty="0" smtClean="0"/>
              <a:t> </a:t>
            </a:r>
            <a:r>
              <a:rPr lang="de-DE" sz="1400" dirty="0" err="1" smtClean="0"/>
              <a:t>the</a:t>
            </a:r>
            <a:r>
              <a:rPr lang="de-DE" sz="1400" dirty="0" smtClean="0"/>
              <a:t> </a:t>
            </a:r>
            <a:r>
              <a:rPr lang="de-DE" sz="1400" dirty="0" err="1" smtClean="0"/>
              <a:t>lowest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Data </a:t>
            </a:r>
            <a:r>
              <a:rPr lang="de-DE" dirty="0" err="1" smtClean="0"/>
              <a:t>set</a:t>
            </a:r>
            <a:r>
              <a:rPr lang="de-DE" dirty="0" smtClean="0"/>
              <a:t> 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lvl="1" indent="0">
              <a:buNone/>
            </a:pPr>
            <a:r>
              <a:rPr lang="de-DE" dirty="0" err="1" smtClean="0"/>
              <a:t>DataFrames</a:t>
            </a:r>
            <a:r>
              <a:rPr lang="de-DE" dirty="0" smtClean="0"/>
              <a:t>: </a:t>
            </a:r>
            <a:r>
              <a:rPr lang="de-DE" dirty="0" err="1" smtClean="0"/>
              <a:t>parameters</a:t>
            </a:r>
            <a:r>
              <a:rPr lang="de-DE" dirty="0" smtClean="0"/>
              <a:t> / </a:t>
            </a:r>
            <a:r>
              <a:rPr lang="de-DE" dirty="0" err="1" smtClean="0"/>
              <a:t>modes</a:t>
            </a:r>
            <a:r>
              <a:rPr lang="de-DE" dirty="0" smtClean="0"/>
              <a:t> / </a:t>
            </a:r>
            <a:r>
              <a:rPr lang="de-DE" dirty="0" err="1" smtClean="0"/>
              <a:t>nodes</a:t>
            </a:r>
            <a:r>
              <a:rPr lang="de-DE" dirty="0" smtClean="0"/>
              <a:t> / </a:t>
            </a:r>
            <a:r>
              <a:rPr lang="de-DE" dirty="0" err="1" smtClean="0"/>
              <a:t>defs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smtClean="0"/>
              <a:t>)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2323710" y="1131590"/>
            <a:ext cx="1350645" cy="861060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379465" y="4011910"/>
            <a:ext cx="4080967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un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latin typeface="+mn-lt"/>
              </a:rPr>
              <a:t>u: </a:t>
            </a: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N: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0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>
                <a:sym typeface="Wingdings" panose="05000000000000000000" pitchFamily="2" charset="2"/>
              </a:rPr>
              <a:t>perfect</a:t>
            </a:r>
            <a:r>
              <a:rPr lang="de-DE" dirty="0" smtClean="0">
                <a:sym typeface="Wingdings" panose="05000000000000000000" pitchFamily="2" charset="2"/>
              </a:rPr>
              <a:t> uniform </a:t>
            </a:r>
            <a:r>
              <a:rPr lang="de-DE" dirty="0" err="1" smtClean="0">
                <a:sym typeface="Wingdings" panose="05000000000000000000" pitchFamily="2" charset="2"/>
              </a:rPr>
              <a:t>displacements</a:t>
            </a:r>
            <a:endParaRPr lang="de-DE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10  </a:t>
            </a:r>
            <a:r>
              <a:rPr lang="de-DE" dirty="0" err="1" smtClean="0">
                <a:sym typeface="Wingdings" panose="05000000000000000000" pitchFamily="2" charset="2"/>
              </a:rPr>
              <a:t>poor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uniformity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93382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Dense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0912" y="2571750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err="1" smtClean="0"/>
              <a:t>Deploy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production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Prediction</a:t>
            </a:r>
            <a:r>
              <a:rPr lang="de-DE" dirty="0" smtClean="0"/>
              <a:t>: </a:t>
            </a:r>
            <a:r>
              <a:rPr lang="de-DE" dirty="0" err="1" smtClean="0"/>
              <a:t>input</a:t>
            </a:r>
            <a:r>
              <a:rPr lang="de-DE" dirty="0" smtClean="0"/>
              <a:t> </a:t>
            </a:r>
            <a:r>
              <a:rPr lang="de-DE" dirty="0" err="1" smtClean="0"/>
              <a:t>table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Optimization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88697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077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Project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smtClean="0"/>
              <a:t>03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110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grpSp>
        <p:nvGrpSpPr>
          <p:cNvPr id="111" name="Thema 10"/>
          <p:cNvGrpSpPr/>
          <p:nvPr/>
        </p:nvGrpSpPr>
        <p:grpSpPr>
          <a:xfrm>
            <a:off x="434978" y="4383470"/>
            <a:ext cx="8278195" cy="252000"/>
            <a:chOff x="434978" y="4383470"/>
            <a:chExt cx="8278195" cy="252000"/>
          </a:xfrm>
        </p:grpSpPr>
        <p:sp>
          <p:nvSpPr>
            <p:cNvPr id="99" name="Thema 10"/>
            <p:cNvSpPr txBox="1">
              <a:spLocks/>
            </p:cNvSpPr>
            <p:nvPr/>
          </p:nvSpPr>
          <p:spPr bwMode="gray">
            <a:xfrm>
              <a:off x="758754" y="438347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10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100" name="10"/>
            <p:cNvSpPr txBox="1">
              <a:spLocks/>
            </p:cNvSpPr>
            <p:nvPr/>
          </p:nvSpPr>
          <p:spPr bwMode="gray">
            <a:xfrm>
              <a:off x="434978" y="438347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10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10" name="Thema 09"/>
          <p:cNvGrpSpPr/>
          <p:nvPr/>
        </p:nvGrpSpPr>
        <p:grpSpPr>
          <a:xfrm>
            <a:off x="434978" y="3994987"/>
            <a:ext cx="8278195" cy="252000"/>
            <a:chOff x="434978" y="3994987"/>
            <a:chExt cx="8278195" cy="252000"/>
          </a:xfrm>
        </p:grpSpPr>
        <p:sp>
          <p:nvSpPr>
            <p:cNvPr id="95" name="Thema 09"/>
            <p:cNvSpPr txBox="1">
              <a:spLocks/>
            </p:cNvSpPr>
            <p:nvPr/>
          </p:nvSpPr>
          <p:spPr bwMode="gray">
            <a:xfrm>
              <a:off x="758754" y="399498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09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6" name="09"/>
            <p:cNvSpPr txBox="1">
              <a:spLocks/>
            </p:cNvSpPr>
            <p:nvPr/>
          </p:nvSpPr>
          <p:spPr bwMode="gray">
            <a:xfrm>
              <a:off x="434978" y="399498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09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9" name="Thema 08"/>
          <p:cNvGrpSpPr/>
          <p:nvPr/>
        </p:nvGrpSpPr>
        <p:grpSpPr>
          <a:xfrm>
            <a:off x="434978" y="3606504"/>
            <a:ext cx="8278195" cy="252000"/>
            <a:chOff x="434978" y="3606504"/>
            <a:chExt cx="8278195" cy="252000"/>
          </a:xfrm>
        </p:grpSpPr>
        <p:sp>
          <p:nvSpPr>
            <p:cNvPr id="93" name="Thema 08"/>
            <p:cNvSpPr txBox="1">
              <a:spLocks/>
            </p:cNvSpPr>
            <p:nvPr/>
          </p:nvSpPr>
          <p:spPr bwMode="gray">
            <a:xfrm>
              <a:off x="758754" y="360650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08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4" name="08"/>
            <p:cNvSpPr txBox="1">
              <a:spLocks/>
            </p:cNvSpPr>
            <p:nvPr/>
          </p:nvSpPr>
          <p:spPr bwMode="gray">
            <a:xfrm>
              <a:off x="434978" y="360650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08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07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06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05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04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03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02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01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pic>
        <p:nvPicPr>
          <p:cNvPr id="35" name="Grafik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0376" y="2030800"/>
            <a:ext cx="740470" cy="70929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  <p:sp>
        <p:nvSpPr>
          <p:cNvPr id="36" name="Rechteck 35"/>
          <p:cNvSpPr/>
          <p:nvPr/>
        </p:nvSpPr>
        <p:spPr>
          <a:xfrm>
            <a:off x="9490376" y="291954"/>
            <a:ext cx="4111234" cy="1600438"/>
          </a:xfrm>
          <a:prstGeom prst="rect">
            <a:avLst/>
          </a:prstGeom>
          <a:solidFill>
            <a:schemeClr val="bg1"/>
          </a:solidFill>
        </p:spPr>
        <p:txBody>
          <a:bodyPr wrap="square" lIns="0">
            <a:spAutoFit/>
          </a:bodyPr>
          <a:lstStyle/>
          <a:p>
            <a:r>
              <a:rPr lang="de-DE" sz="1400" b="1" dirty="0" smtClean="0">
                <a:latin typeface="+mj-lt"/>
              </a:rPr>
              <a:t>Ein- / Ausblenden von Agenda Themen</a:t>
            </a:r>
          </a:p>
          <a:p>
            <a:endParaRPr lang="de-DE" sz="1400" dirty="0" smtClean="0">
              <a:latin typeface="+mj-lt"/>
            </a:endParaRPr>
          </a:p>
          <a:p>
            <a:r>
              <a:rPr lang="de-DE" sz="1400" dirty="0" smtClean="0">
                <a:latin typeface="+mj-lt"/>
              </a:rPr>
              <a:t>Entfernen bzw. hinzufügen weiterer Themen:</a:t>
            </a:r>
          </a:p>
          <a:p>
            <a:r>
              <a:rPr lang="de-DE" sz="1400" dirty="0" smtClean="0">
                <a:latin typeface="+mj-lt"/>
              </a:rPr>
              <a:t>Start &gt; Abschnitt „Bearbeiten“ &gt; Markieren &gt; Auswahlbereich</a:t>
            </a:r>
          </a:p>
          <a:p>
            <a:r>
              <a:rPr lang="de-DE" sz="1400" dirty="0" smtClean="0">
                <a:latin typeface="+mj-lt"/>
              </a:rPr>
              <a:t>Dann erscheint rechts das Fenster Auswahl. Hier lassen sich einzelne Objekte aus- bzw. einblenden (klicken auf das „Augen-Symbol).</a:t>
            </a:r>
            <a:endParaRPr lang="de-DE" sz="1400" dirty="0">
              <a:latin typeface="+mj-lt"/>
            </a:endParaRPr>
          </a:p>
        </p:txBody>
      </p:sp>
      <p:pic>
        <p:nvPicPr>
          <p:cNvPr id="37" name="Grafik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4648" y="2030800"/>
            <a:ext cx="2018685" cy="26698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2150</Words>
  <Application>Microsoft Office PowerPoint</Application>
  <PresentationFormat>Bildschirmpräsentation (16:9)</PresentationFormat>
  <Paragraphs>357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5" baseType="lpstr">
      <vt:lpstr>ＭＳ Ｐゴシック</vt:lpstr>
      <vt:lpstr>Arial</vt:lpstr>
      <vt:lpstr>Arial Narrow</vt:lpstr>
      <vt:lpstr>Calibri</vt:lpstr>
      <vt:lpstr>Cambria Math</vt:lpstr>
      <vt:lpstr>Wingdings</vt:lpstr>
      <vt:lpstr>Herrmann_Ultraschall_Template_01_EXP</vt:lpstr>
      <vt:lpstr>Francois Brouet – sep24_continuous_ds</vt:lpstr>
      <vt:lpstr>PowerPoint-Präsentation</vt:lpstr>
      <vt:lpstr>Introduction</vt:lpstr>
      <vt:lpstr>Context</vt:lpstr>
      <vt:lpstr>Goal</vt:lpstr>
      <vt:lpstr>Data</vt:lpstr>
      <vt:lpstr>PowerPoint-Präsentation</vt:lpstr>
      <vt:lpstr>Pre-processing</vt:lpstr>
      <vt:lpstr>Pre-processing</vt:lpstr>
      <vt:lpstr>Result overview</vt:lpstr>
      <vt:lpstr>PowerPoint-Präsentation</vt:lpstr>
      <vt:lpstr>Next steps</vt:lpstr>
      <vt:lpstr>PowerPoint-Präsentation</vt:lpstr>
      <vt:lpstr>PowerPoint-Präsentation</vt:lpstr>
      <vt:lpstr>Project</vt:lpstr>
      <vt:lpstr>PowerPoint-Präsentation</vt:lpstr>
      <vt:lpstr>PowerPoint-Präsentation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92</cp:revision>
  <cp:lastPrinted>2024-10-28T09:15:24Z</cp:lastPrinted>
  <dcterms:created xsi:type="dcterms:W3CDTF">2024-10-21T06:24:53Z</dcterms:created>
  <dcterms:modified xsi:type="dcterms:W3CDTF">2025-08-13T15:14:55Z</dcterms:modified>
</cp:coreProperties>
</file>