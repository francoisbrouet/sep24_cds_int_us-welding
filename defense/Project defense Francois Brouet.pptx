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24"/>
  </p:notesMasterIdLst>
  <p:handoutMasterIdLst>
    <p:handoutMasterId r:id="rId25"/>
  </p:handoutMasterIdLst>
  <p:sldIdLst>
    <p:sldId id="383" r:id="rId2"/>
    <p:sldId id="397" r:id="rId3"/>
    <p:sldId id="370" r:id="rId4"/>
    <p:sldId id="394" r:id="rId5"/>
    <p:sldId id="398" r:id="rId6"/>
    <p:sldId id="399" r:id="rId7"/>
    <p:sldId id="405" r:id="rId8"/>
    <p:sldId id="400" r:id="rId9"/>
    <p:sldId id="401" r:id="rId10"/>
    <p:sldId id="402" r:id="rId11"/>
    <p:sldId id="407" r:id="rId12"/>
    <p:sldId id="403" r:id="rId13"/>
    <p:sldId id="406" r:id="rId14"/>
    <p:sldId id="404" r:id="rId15"/>
    <p:sldId id="388" r:id="rId16"/>
    <p:sldId id="396" r:id="rId17"/>
    <p:sldId id="389" r:id="rId18"/>
    <p:sldId id="391" r:id="rId19"/>
    <p:sldId id="392" r:id="rId20"/>
    <p:sldId id="381" r:id="rId21"/>
    <p:sldId id="378" r:id="rId22"/>
    <p:sldId id="384" r:id="rId23"/>
  </p:sldIdLst>
  <p:sldSz cx="9144000" cy="5143500" type="screen16x9"/>
  <p:notesSz cx="6645275" cy="9775825"/>
  <p:custDataLst>
    <p:tags r:id="rId26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83"/>
            <p14:sldId id="397"/>
            <p14:sldId id="370"/>
            <p14:sldId id="394"/>
            <p14:sldId id="398"/>
            <p14:sldId id="399"/>
            <p14:sldId id="405"/>
            <p14:sldId id="400"/>
            <p14:sldId id="401"/>
            <p14:sldId id="402"/>
            <p14:sldId id="407"/>
            <p14:sldId id="403"/>
            <p14:sldId id="406"/>
            <p14:sldId id="404"/>
            <p14:sldId id="388"/>
            <p14:sldId id="396"/>
            <p14:sldId id="389"/>
            <p14:sldId id="391"/>
            <p14:sldId id="392"/>
            <p14:sldId id="381"/>
            <p14:sldId id="378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FFFF"/>
    <a:srgbClr val="D9D9D9"/>
    <a:srgbClr val="333333"/>
    <a:srgbClr val="FF0000"/>
    <a:srgbClr val="CC00FF"/>
    <a:srgbClr val="007B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05" autoAdjust="0"/>
    <p:restoredTop sz="66738" autoAdjust="0"/>
  </p:normalViewPr>
  <p:slideViewPr>
    <p:cSldViewPr snapToObjects="1">
      <p:cViewPr varScale="1">
        <p:scale>
          <a:sx n="115" d="100"/>
          <a:sy n="115" d="100"/>
        </p:scale>
        <p:origin x="1116" y="96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gs" Target="tags/tag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12.08.2025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We</a:t>
            </a:r>
            <a:r>
              <a:rPr lang="de-DE" dirty="0" smtClean="0"/>
              <a:t> will </a:t>
            </a:r>
            <a:r>
              <a:rPr lang="de-DE" dirty="0" err="1" smtClean="0"/>
              <a:t>see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different </a:t>
            </a:r>
            <a:r>
              <a:rPr lang="de-DE" dirty="0" err="1" smtClean="0"/>
              <a:t>modelling</a:t>
            </a:r>
            <a:r>
              <a:rPr lang="de-DE" dirty="0" smtClean="0"/>
              <a:t> </a:t>
            </a:r>
            <a:r>
              <a:rPr lang="de-DE" dirty="0" err="1" smtClean="0"/>
              <a:t>approaches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7408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957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This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transformed</a:t>
            </a:r>
            <a:r>
              <a:rPr lang="de-DE" dirty="0" smtClean="0"/>
              <a:t> in </a:t>
            </a:r>
            <a:r>
              <a:rPr lang="de-DE" dirty="0" err="1" smtClean="0"/>
              <a:t>heat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starts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compressed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(parallel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a </a:t>
            </a:r>
            <a:r>
              <a:rPr lang="de-DE" dirty="0" err="1" smtClean="0"/>
              <a:t>eigenfrequency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 </a:t>
            </a:r>
            <a:r>
              <a:rPr lang="de-DE" dirty="0" err="1" smtClean="0"/>
              <a:t>eigenshape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Simulation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(modal properties) without running 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 (or “long. frequency”)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frequency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Focus 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uniformity of the displacements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instead of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endParaRPr lang="de-DE" baseline="0" dirty="0" smtClean="0"/>
          </a:p>
          <a:p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subgoal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visualization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influences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modeling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result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interpretation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away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comparing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bounded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every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unique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picked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inside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keep</a:t>
            </a:r>
            <a:r>
              <a:rPr lang="de-DE" baseline="0" dirty="0" smtClean="0"/>
              <a:t> a valid sonotrode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smtClean="0"/>
              <a:t>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parameters</a:t>
            </a:r>
            <a:r>
              <a:rPr lang="de-DE" dirty="0" smtClean="0"/>
              <a:t> (3 </a:t>
            </a:r>
            <a:r>
              <a:rPr lang="de-DE" dirty="0" err="1" smtClean="0"/>
              <a:t>parts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err="1" smtClean="0"/>
              <a:t>1st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 </a:t>
            </a:r>
            <a:r>
              <a:rPr lang="de-DE" dirty="0" err="1" smtClean="0"/>
              <a:t>contain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lst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1000, all </a:t>
            </a:r>
            <a:r>
              <a:rPr lang="de-DE" dirty="0" err="1" smtClean="0"/>
              <a:t>modes</a:t>
            </a:r>
            <a:r>
              <a:rPr lang="de-DE" dirty="0" smtClean="0"/>
              <a:t> at </a:t>
            </a:r>
            <a:r>
              <a:rPr lang="de-DE" dirty="0" err="1" smtClean="0"/>
              <a:t>positions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already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determine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, but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</a:t>
            </a:r>
            <a:r>
              <a:rPr lang="de-DE" dirty="0" err="1" smtClean="0"/>
              <a:t>XYZ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dirty="0" err="1" smtClean="0"/>
              <a:t>defs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the</a:t>
            </a:r>
            <a:r>
              <a:rPr lang="de-DE" dirty="0" smtClean="0"/>
              <a:t> same </a:t>
            </a: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1001:</a:t>
            </a:r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neighboring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dirty="0" smtClean="0"/>
              <a:t>- Distribution of the geometric variables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explains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.</a:t>
            </a:r>
            <a:endParaRPr lang="de-DE" dirty="0" smtClean="0"/>
          </a:p>
          <a:p>
            <a:pPr marL="0" indent="0">
              <a:buFontTx/>
              <a:buNone/>
            </a:pPr>
            <a:endParaRPr lang="en-US" dirty="0" smtClean="0"/>
          </a:p>
          <a:p>
            <a:pPr marL="0" indent="0">
              <a:buFontTx/>
              <a:buNone/>
            </a:pPr>
            <a:r>
              <a:rPr lang="en-US" dirty="0" smtClean="0"/>
              <a:t>- Let's go back to DP 1001</a:t>
            </a:r>
          </a:p>
          <a:p>
            <a:pPr marL="0" indent="0">
              <a:buFontTx/>
              <a:buNone/>
            </a:pPr>
            <a:r>
              <a:rPr lang="en-US" dirty="0" smtClean="0"/>
              <a:t>Mode</a:t>
            </a:r>
            <a:r>
              <a:rPr lang="en-US" baseline="0" dirty="0" smtClean="0"/>
              <a:t> 77 (long): all displacements have the same sign</a:t>
            </a:r>
          </a:p>
          <a:p>
            <a:pPr marL="0" indent="0">
              <a:buFontTx/>
              <a:buNone/>
            </a:pPr>
            <a:r>
              <a:rPr lang="de-DE" dirty="0" smtClean="0"/>
              <a:t>Mode 76+78 </a:t>
            </a:r>
            <a:r>
              <a:rPr lang="de-DE" dirty="0" err="1" smtClean="0"/>
              <a:t>are</a:t>
            </a:r>
            <a:r>
              <a:rPr lang="de-DE" dirty="0" smtClean="0"/>
              <a:t> </a:t>
            </a:r>
            <a:r>
              <a:rPr lang="de-DE" dirty="0" err="1" smtClean="0"/>
              <a:t>neighboring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: </a:t>
            </a:r>
            <a:r>
              <a:rPr lang="de-DE" dirty="0" err="1" smtClean="0"/>
              <a:t>delta</a:t>
            </a:r>
            <a:r>
              <a:rPr lang="de-DE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61 Hz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acoustical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generation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design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forming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was not </a:t>
            </a:r>
            <a:r>
              <a:rPr lang="de-DE" baseline="0" dirty="0" err="1" smtClean="0"/>
              <a:t>successful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nodes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gives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NRDD</a:t>
            </a:r>
            <a:r>
              <a:rPr lang="de-DE" dirty="0" smtClean="0"/>
              <a:t>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probably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ask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variable. The </a:t>
            </a:r>
            <a:r>
              <a:rPr lang="de-DE" baseline="0" dirty="0" err="1" smtClean="0"/>
              <a:t>reason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</a:t>
            </a:r>
            <a:r>
              <a:rPr lang="de-DE" baseline="0" dirty="0" smtClean="0"/>
              <a:t> on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won‘t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overview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presentation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f</a:t>
            </a:r>
            <a:r>
              <a:rPr lang="de-DE" dirty="0" err="1" smtClean="0"/>
              <a:t>ocus</a:t>
            </a:r>
            <a:r>
              <a:rPr lang="de-DE" dirty="0" smtClean="0"/>
              <a:t> in </a:t>
            </a:r>
            <a:r>
              <a:rPr lang="de-DE" dirty="0" err="1" smtClean="0"/>
              <a:t>Streamlit</a:t>
            </a:r>
            <a:r>
              <a:rPr lang="de-DE" baseline="0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single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contrary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easy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# Long </a:t>
            </a:r>
            <a:r>
              <a:rPr lang="de-DE" dirty="0" err="1" smtClean="0"/>
              <a:t>frequencies</a:t>
            </a:r>
            <a:r>
              <a:rPr lang="de-DE" dirty="0" smtClean="0"/>
              <a:t>:</a:t>
            </a:r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smtClean="0"/>
              <a:t># </a:t>
            </a:r>
            <a:r>
              <a:rPr lang="de-DE" dirty="0" err="1" smtClean="0"/>
              <a:t>LGBM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:                                  </a:t>
            </a:r>
            <a:r>
              <a:rPr lang="de-DE" dirty="0" err="1" smtClean="0"/>
              <a:t>y_true</a:t>
            </a:r>
            <a:r>
              <a:rPr lang="de-DE" dirty="0" smtClean="0"/>
              <a:t> </a:t>
            </a:r>
            <a:r>
              <a:rPr lang="de-DE" dirty="0" err="1" smtClean="0"/>
              <a:t>y_pred</a:t>
            </a:r>
            <a:r>
              <a:rPr lang="de-DE" dirty="0" smtClean="0"/>
              <a:t> 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LGBM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+ </a:t>
            </a:r>
            <a:r>
              <a:rPr lang="de-DE" dirty="0" err="1" smtClean="0"/>
              <a:t>tuned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                          </a:t>
            </a:r>
            <a:r>
              <a:rPr lang="de-DE" dirty="0" err="1" smtClean="0"/>
              <a:t>y_true</a:t>
            </a:r>
            <a:r>
              <a:rPr lang="de-DE" dirty="0" smtClean="0"/>
              <a:t>  </a:t>
            </a:r>
            <a:r>
              <a:rPr lang="de-DE" dirty="0" err="1" smtClean="0"/>
              <a:t>y_pred</a:t>
            </a:r>
            <a:r>
              <a:rPr lang="de-DE" dirty="0" smtClean="0"/>
              <a:t>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LGBM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+ </a:t>
            </a:r>
            <a:r>
              <a:rPr lang="de-DE" dirty="0" err="1" smtClean="0"/>
              <a:t>tuned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+ </a:t>
            </a:r>
            <a:r>
              <a:rPr lang="de-DE" dirty="0" err="1" smtClean="0"/>
              <a:t>filtered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          </a:t>
            </a:r>
            <a:r>
              <a:rPr lang="de-DE" dirty="0" err="1" smtClean="0"/>
              <a:t>y_true</a:t>
            </a:r>
            <a:r>
              <a:rPr lang="de-DE" dirty="0" smtClean="0"/>
              <a:t>  </a:t>
            </a:r>
            <a:r>
              <a:rPr lang="de-DE" dirty="0" err="1" smtClean="0"/>
              <a:t>y_pred</a:t>
            </a:r>
            <a:r>
              <a:rPr lang="de-DE" dirty="0" smtClean="0"/>
              <a:t>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dirty="0" smtClean="0"/>
              <a:t> = f(MAC </a:t>
            </a:r>
            <a:r>
              <a:rPr lang="de-DE" dirty="0" err="1" smtClean="0"/>
              <a:t>value</a:t>
            </a:r>
            <a:r>
              <a:rPr lang="de-DE" dirty="0" smtClean="0"/>
              <a:t>)</a:t>
            </a:r>
          </a:p>
          <a:p>
            <a:endParaRPr lang="de-DE" dirty="0" smtClean="0"/>
          </a:p>
          <a:p>
            <a:r>
              <a:rPr lang="de-DE" dirty="0" smtClean="0"/>
              <a:t># Points Best &amp;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radio</a:t>
            </a:r>
            <a:r>
              <a:rPr lang="de-DE" dirty="0" smtClean="0"/>
              <a:t>) </a:t>
            </a:r>
            <a:r>
              <a:rPr lang="de-DE" dirty="0" err="1" smtClean="0"/>
              <a:t>best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,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Frequency</a:t>
            </a:r>
            <a:r>
              <a:rPr lang="de-DE" dirty="0" smtClean="0"/>
              <a:t>, MAC </a:t>
            </a:r>
            <a:r>
              <a:rPr lang="de-DE" dirty="0" err="1" smtClean="0"/>
              <a:t>values</a:t>
            </a:r>
            <a:r>
              <a:rPr lang="de-DE" dirty="0" smtClean="0"/>
              <a:t>, </a:t>
            </a:r>
            <a:r>
              <a:rPr lang="de-DE" dirty="0" err="1" smtClean="0"/>
              <a:t>displacements</a:t>
            </a:r>
            <a:r>
              <a:rPr lang="de-DE" dirty="0" smtClean="0"/>
              <a:t>, </a:t>
            </a: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neighbor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endParaRPr lang="de-DE" dirty="0" smtClean="0"/>
          </a:p>
          <a:p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improved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661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02759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7320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023399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27952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6458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15160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77082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21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13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Präsentationstitel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5.png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Herrmann Ultraschall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Foliennummernplatzhalter 1"/>
          <p:cNvSpPr>
            <a:spLocks noGrp="1"/>
          </p:cNvSpPr>
          <p:nvPr/>
        </p:nvSpPr>
        <p:spPr bwMode="gray">
          <a:xfrm>
            <a:off x="8199992" y="4811827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r" defTabSz="457130" rtl="0" fontAlgn="base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800" b="1" kern="1200">
                <a:solidFill>
                  <a:schemeClr val="tx1"/>
                </a:solidFill>
                <a:latin typeface="Arial Narrow" pitchFamily="34" charset="0"/>
                <a:ea typeface="ＭＳ Ｐゴシック" pitchFamily="34" charset="-128"/>
                <a:cs typeface="+mn-cs"/>
              </a:defRPr>
            </a:lvl1pPr>
            <a:lvl2pPr marL="45713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26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39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52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565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278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19991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04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fld id="{718AD556-952E-4F08-88B8-CD5F85BF2638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0" name="Textplatzhalter 4"/>
          <p:cNvSpPr>
            <a:spLocks noGrp="1"/>
          </p:cNvSpPr>
          <p:nvPr/>
        </p:nvSpPr>
        <p:spPr bwMode="gray">
          <a:xfrm>
            <a:off x="380451" y="953444"/>
            <a:ext cx="6135765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Subject, problem, issues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Data (volume, architecture)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identification </a:t>
            </a:r>
            <a:r>
              <a:rPr lang="en-US" sz="1000" dirty="0" err="1" smtClean="0"/>
              <a:t>long.mode</a:t>
            </a:r>
            <a:r>
              <a:rPr lang="en-US" sz="1000" dirty="0" smtClean="0"/>
              <a:t>, MAC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</a:t>
            </a:r>
            <a:r>
              <a:rPr lang="en-US" sz="1000" dirty="0" err="1" smtClean="0"/>
              <a:t>dataframes</a:t>
            </a:r>
            <a:endParaRPr lang="en-US" sz="1000" dirty="0" smtClean="0"/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Data visualization</a:t>
            </a:r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distribution of the </a:t>
            </a:r>
            <a:r>
              <a:rPr lang="en-US" sz="1000" dirty="0" err="1" smtClean="0"/>
              <a:t>expl</a:t>
            </a:r>
            <a:r>
              <a:rPr lang="en-US" sz="1000" dirty="0" smtClean="0"/>
              <a:t>. variables + correlation </a:t>
            </a:r>
            <a:r>
              <a:rPr lang="en-US" sz="1000" dirty="0" err="1" smtClean="0"/>
              <a:t>heatmap</a:t>
            </a:r>
            <a:endParaRPr lang="en-US" sz="1000" dirty="0" smtClean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(</a:t>
            </a:r>
            <a:r>
              <a:rPr lang="en-US" sz="1000" dirty="0" err="1" smtClean="0"/>
              <a:t>streamlit</a:t>
            </a:r>
            <a:r>
              <a:rPr lang="en-US" sz="1000" dirty="0"/>
              <a:t>) identified long. </a:t>
            </a:r>
            <a:r>
              <a:rPr lang="en-US" sz="1000" dirty="0" smtClean="0"/>
              <a:t>mode + neighboring modes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Pre-processing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slot classes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err="1" smtClean="0"/>
              <a:t>NRDD</a:t>
            </a:r>
            <a:endParaRPr lang="en-US" sz="1000" dirty="0" smtClean="0"/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Result overview</a:t>
            </a: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Long .frequencies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Trained models and results, tuned model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Best &amp; worst predictions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Filtered data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Link results with the business issue, Next Steps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Conclusion &amp; Outlook</a:t>
            </a:r>
          </a:p>
        </p:txBody>
      </p:sp>
      <p:sp>
        <p:nvSpPr>
          <p:cNvPr id="5" name="Textfeld 4"/>
          <p:cNvSpPr txBox="1"/>
          <p:nvPr/>
        </p:nvSpPr>
        <p:spPr bwMode="gray">
          <a:xfrm>
            <a:off x="5076056" y="987574"/>
            <a:ext cx="2952328" cy="252028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20 min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presentation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r>
              <a:rPr lang="de-DE" sz="1400" dirty="0" smtClean="0">
                <a:latin typeface="+mn-lt"/>
              </a:rPr>
              <a:t>10 min </a:t>
            </a:r>
            <a:r>
              <a:rPr lang="de-DE" sz="1400" dirty="0" err="1" smtClean="0">
                <a:latin typeface="+mn-lt"/>
              </a:rPr>
              <a:t>questions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4613784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Introduction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smtClean="0"/>
              <a:t>01</a:t>
            </a:r>
            <a:endParaRPr lang="de-DE" dirty="0" smtClean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49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smtClean="0"/>
              <a:t>must </a:t>
            </a:r>
            <a:r>
              <a:rPr lang="de-DE" dirty="0" err="1" smtClean="0"/>
              <a:t>meet</a:t>
            </a:r>
            <a:r>
              <a:rPr lang="de-DE" dirty="0" smtClean="0"/>
              <a:t> </a:t>
            </a: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sonotrode </a:t>
            </a:r>
            <a:r>
              <a:rPr lang="de-DE" dirty="0" err="1" smtClean="0"/>
              <a:t>geometry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dim_x</a:t>
            </a:r>
            <a:r>
              <a:rPr lang="de-DE" dirty="0" smtClean="0"/>
              <a:t>) × (</a:t>
            </a:r>
            <a:r>
              <a:rPr lang="de-DE" dirty="0" err="1" smtClean="0"/>
              <a:t>dim_z</a:t>
            </a:r>
            <a:r>
              <a:rPr lang="de-DE" dirty="0" smtClean="0"/>
              <a:t>):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dim_y</a:t>
            </a:r>
            <a:r>
              <a:rPr lang="de-DE" dirty="0" smtClean="0"/>
              <a:t>): </a:t>
            </a:r>
            <a:r>
              <a:rPr lang="de-DE" dirty="0" err="1" smtClean="0"/>
              <a:t>length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…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lvl="2" indent="0">
              <a:buNone/>
            </a:pPr>
            <a:r>
              <a:rPr lang="de-DE" dirty="0" smtClean="0"/>
              <a:t>0 = </a:t>
            </a:r>
            <a:r>
              <a:rPr lang="de-DE" dirty="0" err="1" smtClean="0"/>
              <a:t>no</a:t>
            </a:r>
            <a:r>
              <a:rPr lang="de-DE" dirty="0" smtClean="0"/>
              <a:t> </a:t>
            </a:r>
            <a:r>
              <a:rPr lang="de-DE" dirty="0" err="1" smtClean="0"/>
              <a:t>correspondance</a:t>
            </a:r>
            <a:endParaRPr lang="de-DE" dirty="0" smtClean="0"/>
          </a:p>
          <a:p>
            <a:pPr lvl="2" indent="0">
              <a:buNone/>
            </a:pPr>
            <a:r>
              <a:rPr lang="de-DE" dirty="0" smtClean="0"/>
              <a:t>1 = </a:t>
            </a:r>
            <a:r>
              <a:rPr lang="de-DE" dirty="0" err="1" smtClean="0"/>
              <a:t>full</a:t>
            </a:r>
            <a:r>
              <a:rPr lang="de-DE" dirty="0" smtClean="0"/>
              <a:t> </a:t>
            </a:r>
            <a:r>
              <a:rPr lang="de-DE" dirty="0" err="1" smtClean="0"/>
              <a:t>correspondance</a:t>
            </a:r>
            <a:endParaRPr lang="de-DE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err="1" smtClean="0"/>
              <a:t>mode</a:t>
            </a:r>
            <a:r>
              <a:rPr lang="de-DE" sz="1400" dirty="0" smtClean="0"/>
              <a:t> </a:t>
            </a:r>
            <a:r>
              <a:rPr lang="de-DE" sz="1400" dirty="0" err="1" smtClean="0"/>
              <a:t>with</a:t>
            </a:r>
            <a:r>
              <a:rPr lang="de-DE" sz="1400" dirty="0" smtClean="0"/>
              <a:t> </a:t>
            </a:r>
            <a:r>
              <a:rPr lang="de-DE" sz="1400" dirty="0" err="1" smtClean="0"/>
              <a:t>the</a:t>
            </a:r>
            <a:r>
              <a:rPr lang="de-DE" sz="1400" dirty="0" smtClean="0"/>
              <a:t> </a:t>
            </a:r>
            <a:r>
              <a:rPr lang="de-DE" sz="1400" dirty="0" err="1" smtClean="0"/>
              <a:t>lowest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smtClean="0"/>
              <a:t>Data </a:t>
            </a:r>
            <a:r>
              <a:rPr lang="de-DE" dirty="0" err="1" smtClean="0"/>
              <a:t>set</a:t>
            </a:r>
            <a:r>
              <a:rPr lang="de-DE" dirty="0" smtClean="0"/>
              <a:t> (</a:t>
            </a:r>
            <a:r>
              <a:rPr lang="de-DE" dirty="0" err="1" smtClean="0"/>
              <a:t>Streamlit</a:t>
            </a:r>
            <a:r>
              <a:rPr lang="de-DE" dirty="0" smtClean="0"/>
              <a:t>)</a:t>
            </a:r>
          </a:p>
          <a:p>
            <a:pPr lvl="1" indent="0">
              <a:buNone/>
            </a:pPr>
            <a:r>
              <a:rPr lang="de-DE" dirty="0" err="1" smtClean="0"/>
              <a:t>DataFrames</a:t>
            </a:r>
            <a:r>
              <a:rPr lang="de-DE" dirty="0" smtClean="0"/>
              <a:t>: </a:t>
            </a:r>
            <a:r>
              <a:rPr lang="de-DE" dirty="0" err="1" smtClean="0"/>
              <a:t>parameters</a:t>
            </a:r>
            <a:r>
              <a:rPr lang="de-DE" dirty="0" smtClean="0"/>
              <a:t> / </a:t>
            </a:r>
            <a:r>
              <a:rPr lang="de-DE" dirty="0" err="1" smtClean="0"/>
              <a:t>modes</a:t>
            </a:r>
            <a:r>
              <a:rPr lang="de-DE" dirty="0" smtClean="0"/>
              <a:t> / </a:t>
            </a:r>
            <a:r>
              <a:rPr lang="de-DE" dirty="0" err="1" smtClean="0"/>
              <a:t>nodes</a:t>
            </a:r>
            <a:r>
              <a:rPr lang="de-DE" dirty="0" smtClean="0"/>
              <a:t> / </a:t>
            </a:r>
            <a:r>
              <a:rPr lang="de-DE" dirty="0" err="1" smtClean="0"/>
              <a:t>defs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Streamlit</a:t>
            </a:r>
            <a:r>
              <a:rPr lang="de-DE" smtClean="0"/>
              <a:t>)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2323710" y="1131590"/>
            <a:ext cx="1350645" cy="861060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379465" y="4011910"/>
            <a:ext cx="4080967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un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latin typeface="+mn-lt"/>
              </a:rPr>
              <a:t>u: </a:t>
            </a: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N: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0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>
                <a:sym typeface="Wingdings" panose="05000000000000000000" pitchFamily="2" charset="2"/>
              </a:rPr>
              <a:t>perfect</a:t>
            </a:r>
            <a:r>
              <a:rPr lang="de-DE" dirty="0" smtClean="0">
                <a:sym typeface="Wingdings" panose="05000000000000000000" pitchFamily="2" charset="2"/>
              </a:rPr>
              <a:t> uniform </a:t>
            </a:r>
            <a:r>
              <a:rPr lang="de-DE" dirty="0" err="1" smtClean="0">
                <a:sym typeface="Wingdings" panose="05000000000000000000" pitchFamily="2" charset="2"/>
              </a:rPr>
              <a:t>displacements</a:t>
            </a:r>
            <a:endParaRPr lang="de-DE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10  </a:t>
            </a:r>
            <a:r>
              <a:rPr lang="de-DE" dirty="0" err="1" smtClean="0">
                <a:sym typeface="Wingdings" panose="05000000000000000000" pitchFamily="2" charset="2"/>
              </a:rPr>
              <a:t>poor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uniformity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endParaRPr lang="de-DE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489644"/>
              </p:ext>
            </p:extLst>
          </p:nvPr>
        </p:nvGraphicFramePr>
        <p:xfrm>
          <a:off x="820912" y="1275606"/>
          <a:ext cx="7639520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2976">
                  <a:extLst>
                    <a:ext uri="{9D8B030D-6E8A-4147-A177-3AD203B41FA5}">
                      <a16:colId xmlns:a16="http://schemas.microsoft.com/office/drawing/2014/main" val="405213890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2429258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1925279483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426045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Target variable(s)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Best </a:t>
                      </a:r>
                      <a:r>
                        <a:rPr lang="de-DE" dirty="0" err="1" smtClean="0"/>
                        <a:t>estimator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Final </a:t>
                      </a:r>
                      <a:r>
                        <a:rPr lang="de-DE" dirty="0" err="1" smtClean="0"/>
                        <a:t>R²</a:t>
                      </a:r>
                      <a:r>
                        <a:rPr lang="de-DE" dirty="0" smtClean="0"/>
                        <a:t> score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Mean</a:t>
                      </a:r>
                      <a:r>
                        <a:rPr lang="de-DE" dirty="0" smtClean="0"/>
                        <a:t> Absolute Error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25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Frequency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of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the</a:t>
                      </a:r>
                      <a:r>
                        <a:rPr lang="de-DE" dirty="0" smtClean="0"/>
                        <a:t> longitudinal </a:t>
                      </a:r>
                      <a:r>
                        <a:rPr lang="de-DE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21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486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All </a:t>
                      </a:r>
                      <a:r>
                        <a:rPr lang="de-DE" dirty="0" err="1" smtClean="0"/>
                        <a:t>frequencies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98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856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Displacements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of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the</a:t>
                      </a:r>
                      <a:r>
                        <a:rPr lang="de-DE" baseline="0" dirty="0" smtClean="0"/>
                        <a:t> longitudinal </a:t>
                      </a:r>
                      <a:r>
                        <a:rPr lang="de-DE" baseline="0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Dense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Neural</a:t>
                      </a:r>
                      <a:r>
                        <a:rPr lang="de-DE" dirty="0" smtClean="0"/>
                        <a:t> Network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0.855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604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Streamlit</a:t>
            </a:r>
            <a:r>
              <a:rPr lang="de-DE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98217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err="1" smtClean="0"/>
              <a:t>Deploy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production</a:t>
            </a:r>
            <a:endParaRPr lang="de-DE" dirty="0" smtClean="0"/>
          </a:p>
          <a:p>
            <a:pPr marL="644525" lvl="2" indent="-285750">
              <a:buFontTx/>
              <a:buChar char="-"/>
            </a:pPr>
            <a:r>
              <a:rPr lang="de-DE" dirty="0" err="1" smtClean="0"/>
              <a:t>Prediction</a:t>
            </a:r>
            <a:r>
              <a:rPr lang="de-DE" dirty="0" smtClean="0"/>
              <a:t>: </a:t>
            </a:r>
            <a:r>
              <a:rPr lang="de-DE" dirty="0" err="1" smtClean="0"/>
              <a:t>input</a:t>
            </a:r>
            <a:r>
              <a:rPr lang="de-DE" dirty="0" smtClean="0"/>
              <a:t> </a:t>
            </a:r>
            <a:r>
              <a:rPr lang="de-DE" dirty="0" err="1" smtClean="0"/>
              <a:t>table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644525" lvl="2" indent="-285750">
              <a:buFontTx/>
              <a:buChar char="-"/>
            </a:pPr>
            <a:r>
              <a:rPr lang="de-DE" dirty="0" err="1" smtClean="0"/>
              <a:t>Optimization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88697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43077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Tuning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sonotrode</a:t>
            </a:r>
            <a:r>
              <a:rPr lang="de-DE" dirty="0"/>
              <a:t> </a:t>
            </a:r>
            <a:r>
              <a:rPr lang="de-DE" dirty="0" err="1"/>
              <a:t>geometry</a:t>
            </a:r>
            <a:endParaRPr lang="de-DE" dirty="0"/>
          </a:p>
          <a:p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/>
              <a:t>The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surface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mostly</a:t>
            </a:r>
            <a:r>
              <a:rPr lang="de-DE" dirty="0"/>
              <a:t> </a:t>
            </a:r>
            <a:r>
              <a:rPr lang="de-DE" dirty="0" err="1"/>
              <a:t>defined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welding</a:t>
            </a:r>
            <a:r>
              <a:rPr lang="de-DE" dirty="0"/>
              <a:t> </a:t>
            </a:r>
            <a:r>
              <a:rPr lang="de-DE" dirty="0" err="1"/>
              <a:t>part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not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changed</a:t>
            </a: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/>
              <a:t>The </a:t>
            </a:r>
            <a:r>
              <a:rPr lang="de-DE" dirty="0" err="1"/>
              <a:t>rest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optimize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modal </a:t>
            </a:r>
            <a:r>
              <a:rPr lang="de-DE" dirty="0" err="1"/>
              <a:t>properties</a:t>
            </a:r>
            <a:r>
              <a:rPr lang="de-DE" dirty="0"/>
              <a:t> (</a:t>
            </a:r>
            <a:r>
              <a:rPr lang="de-DE" dirty="0" err="1"/>
              <a:t>tuning</a:t>
            </a:r>
            <a:r>
              <a:rPr lang="de-DE" dirty="0"/>
              <a:t>)</a:t>
            </a:r>
          </a:p>
          <a:p>
            <a:pPr marL="465750" lvl="1" indent="-285750">
              <a:buFontTx/>
              <a:buChar char="-"/>
            </a:pP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</a:t>
            </a:r>
            <a:r>
              <a:rPr lang="de-DE" dirty="0" err="1"/>
              <a:t>tunes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Other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644525" lvl="2" indent="-285750">
              <a:buFontTx/>
              <a:buChar char="-"/>
            </a:pPr>
            <a:r>
              <a:rPr lang="de-DE" dirty="0" smtClean="0"/>
              <a:t>a (</a:t>
            </a:r>
            <a:r>
              <a:rPr lang="de-DE" dirty="0" err="1" smtClean="0"/>
              <a:t>slot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)</a:t>
            </a:r>
          </a:p>
          <a:p>
            <a:pPr marL="644525" lvl="2" indent="-285750">
              <a:buFontTx/>
              <a:buChar char="-"/>
            </a:pPr>
            <a:r>
              <a:rPr lang="de-DE" dirty="0" smtClean="0"/>
              <a:t>b (</a:t>
            </a:r>
            <a:r>
              <a:rPr lang="de-DE" dirty="0" err="1" smtClean="0"/>
              <a:t>slot</a:t>
            </a:r>
            <a:r>
              <a:rPr lang="de-DE" dirty="0" smtClean="0"/>
              <a:t> </a:t>
            </a:r>
            <a:r>
              <a:rPr lang="de-DE" dirty="0" err="1" smtClean="0"/>
              <a:t>length</a:t>
            </a:r>
            <a:r>
              <a:rPr lang="de-DE" dirty="0" smtClean="0"/>
              <a:t>)</a:t>
            </a:r>
          </a:p>
          <a:p>
            <a:pPr marL="644525" lvl="2" indent="-285750">
              <a:buFontTx/>
              <a:buChar char="-"/>
            </a:pPr>
            <a:r>
              <a:rPr lang="de-DE" dirty="0" smtClean="0"/>
              <a:t>…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960" y="2377014"/>
            <a:ext cx="3404263" cy="239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5003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Project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smtClean="0"/>
              <a:t>03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110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smtClean="0"/>
              <a:t>Goal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project</a:t>
            </a:r>
            <a:r>
              <a:rPr lang="de-DE" dirty="0" smtClean="0"/>
              <a:t>: Create a </a:t>
            </a:r>
            <a:r>
              <a:rPr lang="de-DE" dirty="0" err="1" smtClean="0"/>
              <a:t>model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predict</a:t>
            </a:r>
            <a:r>
              <a:rPr lang="de-DE" dirty="0" smtClean="0"/>
              <a:t> FEM </a:t>
            </a:r>
            <a:r>
              <a:rPr lang="de-DE" dirty="0" err="1" smtClean="0"/>
              <a:t>results</a:t>
            </a:r>
            <a:endParaRPr lang="de-DE" dirty="0" smtClean="0"/>
          </a:p>
          <a:p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Model </a:t>
            </a:r>
            <a:r>
              <a:rPr lang="de-DE" dirty="0" err="1" smtClean="0"/>
              <a:t>can</a:t>
            </a:r>
            <a:r>
              <a:rPr lang="de-DE" dirty="0" smtClean="0"/>
              <a:t>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trained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FEM </a:t>
            </a:r>
            <a:r>
              <a:rPr lang="de-DE" dirty="0" err="1" smtClean="0"/>
              <a:t>calculations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can</a:t>
            </a:r>
            <a:r>
              <a:rPr lang="de-DE" dirty="0" smtClean="0"/>
              <a:t>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chosen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err="1" smtClean="0"/>
              <a:t>One</a:t>
            </a:r>
            <a:r>
              <a:rPr lang="de-DE" dirty="0" smtClean="0"/>
              <a:t> design </a:t>
            </a:r>
            <a:r>
              <a:rPr lang="de-DE" dirty="0" err="1" smtClean="0"/>
              <a:t>point</a:t>
            </a:r>
            <a:r>
              <a:rPr lang="de-DE" dirty="0" smtClean="0"/>
              <a:t> ~ 1 </a:t>
            </a:r>
            <a:r>
              <a:rPr lang="de-DE" dirty="0" err="1" smtClean="0"/>
              <a:t>minute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err="1" smtClean="0"/>
              <a:t>Predict</a:t>
            </a:r>
            <a:r>
              <a:rPr lang="de-DE" dirty="0" smtClean="0"/>
              <a:t> FEM </a:t>
            </a:r>
            <a:r>
              <a:rPr lang="de-DE" dirty="0" err="1" smtClean="0"/>
              <a:t>results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calculation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smtClean="0"/>
              <a:t>Combine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optimization</a:t>
            </a:r>
            <a:r>
              <a:rPr lang="de-DE" dirty="0" smtClean="0"/>
              <a:t> (</a:t>
            </a:r>
            <a:r>
              <a:rPr lang="de-DE" i="1" dirty="0" smtClean="0"/>
              <a:t>optional </a:t>
            </a:r>
            <a:r>
              <a:rPr lang="de-DE" i="1" dirty="0" err="1" smtClean="0"/>
              <a:t>goal</a:t>
            </a:r>
            <a:r>
              <a:rPr lang="de-DE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92799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Post-</a:t>
            </a:r>
            <a:r>
              <a:rPr lang="de-DE" dirty="0" err="1"/>
              <a:t>processing</a:t>
            </a:r>
            <a:r>
              <a:rPr lang="de-DE" dirty="0"/>
              <a:t> </a:t>
            </a:r>
            <a:r>
              <a:rPr lang="de-DE" dirty="0" err="1"/>
              <a:t>script</a:t>
            </a:r>
            <a:r>
              <a:rPr lang="de-DE" dirty="0"/>
              <a:t> in ANSYS:</a:t>
            </a:r>
          </a:p>
          <a:p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Identifies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its</a:t>
            </a:r>
            <a:r>
              <a:rPr lang="de-DE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(Global </a:t>
            </a:r>
            <a:r>
              <a:rPr lang="de-DE" dirty="0" err="1" smtClean="0"/>
              <a:t>file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b="1" dirty="0" smtClean="0"/>
              <a:t>all</a:t>
            </a:r>
            <a:r>
              <a:rPr lang="de-DE" dirty="0" smtClean="0"/>
              <a:t> design </a:t>
            </a:r>
            <a:r>
              <a:rPr lang="de-DE" dirty="0" err="1" smtClean="0"/>
              <a:t>points</a:t>
            </a:r>
            <a:r>
              <a:rPr lang="de-DE" dirty="0" smtClean="0"/>
              <a:t>)</a:t>
            </a:r>
          </a:p>
          <a:p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Exports </a:t>
            </a:r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r>
              <a:rPr lang="de-DE" dirty="0" smtClean="0"/>
              <a:t> (</a:t>
            </a:r>
            <a:r>
              <a:rPr lang="de-DE" dirty="0" err="1" smtClean="0"/>
              <a:t>One</a:t>
            </a:r>
            <a:r>
              <a:rPr lang="de-DE" dirty="0" smtClean="0"/>
              <a:t> </a:t>
            </a:r>
            <a:r>
              <a:rPr lang="de-DE" dirty="0" err="1" smtClean="0"/>
              <a:t>file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b="1" dirty="0" err="1" smtClean="0"/>
              <a:t>each</a:t>
            </a:r>
            <a:r>
              <a:rPr lang="de-DE" dirty="0" smtClean="0"/>
              <a:t> design </a:t>
            </a:r>
            <a:r>
              <a:rPr lang="de-DE" dirty="0" err="1" smtClean="0"/>
              <a:t>point</a:t>
            </a:r>
            <a:r>
              <a:rPr lang="de-DE" dirty="0" smtClean="0"/>
              <a:t>):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List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frequencies</a:t>
            </a: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smtClean="0"/>
              <a:t>List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List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851670"/>
            <a:ext cx="4065843" cy="792582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1862" y="3054442"/>
            <a:ext cx="3838748" cy="1139744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 rotWithShape="1">
          <a:blip r:embed="rId5"/>
          <a:srcRect b="37695"/>
          <a:stretch/>
        </p:blipFill>
        <p:spPr>
          <a:xfrm>
            <a:off x="5292080" y="3450643"/>
            <a:ext cx="2817291" cy="955739"/>
          </a:xfrm>
          <a:prstGeom prst="rect">
            <a:avLst/>
          </a:prstGeom>
        </p:spPr>
      </p:pic>
      <p:pic>
        <p:nvPicPr>
          <p:cNvPr id="11" name="Grafik 10"/>
          <p:cNvPicPr>
            <a:picLocks noChangeAspect="1"/>
          </p:cNvPicPr>
          <p:nvPr/>
        </p:nvPicPr>
        <p:blipFill rotWithShape="1">
          <a:blip r:embed="rId6"/>
          <a:srcRect r="31833"/>
          <a:stretch/>
        </p:blipFill>
        <p:spPr>
          <a:xfrm>
            <a:off x="5724128" y="3911129"/>
            <a:ext cx="3024336" cy="83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4247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Example</a:t>
            </a:r>
            <a:r>
              <a:rPr lang="de-DE" dirty="0" smtClean="0"/>
              <a:t>: Impact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on modal </a:t>
            </a:r>
            <a:r>
              <a:rPr lang="de-DE" dirty="0" err="1" smtClean="0"/>
              <a:t>frequencies</a:t>
            </a:r>
            <a:endParaRPr lang="de-DE" dirty="0" smtClean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5776" y="1657180"/>
            <a:ext cx="2796351" cy="2450526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6054" y="1635646"/>
            <a:ext cx="2804734" cy="2457872"/>
          </a:xfrm>
          <a:prstGeom prst="rect">
            <a:avLst/>
          </a:prstGeom>
        </p:spPr>
      </p:pic>
      <p:sp>
        <p:nvSpPr>
          <p:cNvPr id="10" name="Textfeld 9"/>
          <p:cNvSpPr txBox="1"/>
          <p:nvPr/>
        </p:nvSpPr>
        <p:spPr bwMode="gray">
          <a:xfrm>
            <a:off x="3491880" y="4312376"/>
            <a:ext cx="1800200" cy="21602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a: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slot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position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1" name="Textfeld 10"/>
          <p:cNvSpPr txBox="1"/>
          <p:nvPr/>
        </p:nvSpPr>
        <p:spPr bwMode="gray">
          <a:xfrm>
            <a:off x="6774802" y="4310562"/>
            <a:ext cx="1800200" cy="21602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>
                <a:latin typeface="+mn-lt"/>
              </a:rPr>
              <a:t>b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slot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length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2" name="Grafik 11"/>
          <p:cNvPicPr>
            <a:picLocks noChangeAspect="1"/>
          </p:cNvPicPr>
          <p:nvPr/>
        </p:nvPicPr>
        <p:blipFill rotWithShape="1">
          <a:blip r:embed="rId5"/>
          <a:srcRect l="21852" t="2977" r="4115" b="3816"/>
          <a:stretch/>
        </p:blipFill>
        <p:spPr>
          <a:xfrm>
            <a:off x="179512" y="1923678"/>
            <a:ext cx="2210147" cy="1957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74663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2" name="Themenbereich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grpSp>
        <p:nvGrpSpPr>
          <p:cNvPr id="111" name="Thema 10"/>
          <p:cNvGrpSpPr/>
          <p:nvPr/>
        </p:nvGrpSpPr>
        <p:grpSpPr>
          <a:xfrm>
            <a:off x="434978" y="4383470"/>
            <a:ext cx="8278195" cy="252000"/>
            <a:chOff x="434978" y="4383470"/>
            <a:chExt cx="8278195" cy="252000"/>
          </a:xfrm>
        </p:grpSpPr>
        <p:sp>
          <p:nvSpPr>
            <p:cNvPr id="99" name="Thema 10"/>
            <p:cNvSpPr txBox="1">
              <a:spLocks/>
            </p:cNvSpPr>
            <p:nvPr/>
          </p:nvSpPr>
          <p:spPr bwMode="gray">
            <a:xfrm>
              <a:off x="758754" y="438347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10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100" name="10"/>
            <p:cNvSpPr txBox="1">
              <a:spLocks/>
            </p:cNvSpPr>
            <p:nvPr/>
          </p:nvSpPr>
          <p:spPr bwMode="gray">
            <a:xfrm>
              <a:off x="434978" y="438347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10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10" name="Thema 09"/>
          <p:cNvGrpSpPr/>
          <p:nvPr/>
        </p:nvGrpSpPr>
        <p:grpSpPr>
          <a:xfrm>
            <a:off x="434978" y="3994987"/>
            <a:ext cx="8278195" cy="252000"/>
            <a:chOff x="434978" y="3994987"/>
            <a:chExt cx="8278195" cy="252000"/>
          </a:xfrm>
        </p:grpSpPr>
        <p:sp>
          <p:nvSpPr>
            <p:cNvPr id="95" name="Thema 09"/>
            <p:cNvSpPr txBox="1">
              <a:spLocks/>
            </p:cNvSpPr>
            <p:nvPr/>
          </p:nvSpPr>
          <p:spPr bwMode="gray">
            <a:xfrm>
              <a:off x="758754" y="399498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09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6" name="09"/>
            <p:cNvSpPr txBox="1">
              <a:spLocks/>
            </p:cNvSpPr>
            <p:nvPr/>
          </p:nvSpPr>
          <p:spPr bwMode="gray">
            <a:xfrm>
              <a:off x="434978" y="399498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09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9" name="Thema 08"/>
          <p:cNvGrpSpPr/>
          <p:nvPr/>
        </p:nvGrpSpPr>
        <p:grpSpPr>
          <a:xfrm>
            <a:off x="434978" y="3606504"/>
            <a:ext cx="8278195" cy="252000"/>
            <a:chOff x="434978" y="3606504"/>
            <a:chExt cx="8278195" cy="252000"/>
          </a:xfrm>
        </p:grpSpPr>
        <p:sp>
          <p:nvSpPr>
            <p:cNvPr id="93" name="Thema 08"/>
            <p:cNvSpPr txBox="1">
              <a:spLocks/>
            </p:cNvSpPr>
            <p:nvPr/>
          </p:nvSpPr>
          <p:spPr bwMode="gray">
            <a:xfrm>
              <a:off x="758754" y="360650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08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4" name="08"/>
            <p:cNvSpPr txBox="1">
              <a:spLocks/>
            </p:cNvSpPr>
            <p:nvPr/>
          </p:nvSpPr>
          <p:spPr bwMode="gray">
            <a:xfrm>
              <a:off x="434978" y="360650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08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07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06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05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04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03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02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01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pic>
        <p:nvPicPr>
          <p:cNvPr id="35" name="Grafik 3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0376" y="2030800"/>
            <a:ext cx="740470" cy="70929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</p:spPr>
      </p:pic>
      <p:sp>
        <p:nvSpPr>
          <p:cNvPr id="36" name="Rechteck 35"/>
          <p:cNvSpPr/>
          <p:nvPr/>
        </p:nvSpPr>
        <p:spPr>
          <a:xfrm>
            <a:off x="9490376" y="291954"/>
            <a:ext cx="4111234" cy="1600438"/>
          </a:xfrm>
          <a:prstGeom prst="rect">
            <a:avLst/>
          </a:prstGeom>
          <a:solidFill>
            <a:schemeClr val="bg1"/>
          </a:solidFill>
        </p:spPr>
        <p:txBody>
          <a:bodyPr wrap="square" lIns="0">
            <a:spAutoFit/>
          </a:bodyPr>
          <a:lstStyle/>
          <a:p>
            <a:r>
              <a:rPr lang="de-DE" sz="1400" b="1" dirty="0" smtClean="0">
                <a:latin typeface="+mj-lt"/>
              </a:rPr>
              <a:t>Ein- / Ausblenden von Agenda Themen</a:t>
            </a:r>
          </a:p>
          <a:p>
            <a:endParaRPr lang="de-DE" sz="1400" dirty="0" smtClean="0">
              <a:latin typeface="+mj-lt"/>
            </a:endParaRPr>
          </a:p>
          <a:p>
            <a:r>
              <a:rPr lang="de-DE" sz="1400" dirty="0" smtClean="0">
                <a:latin typeface="+mj-lt"/>
              </a:rPr>
              <a:t>Entfernen bzw. hinzufügen weiterer Themen:</a:t>
            </a:r>
          </a:p>
          <a:p>
            <a:r>
              <a:rPr lang="de-DE" sz="1400" dirty="0" smtClean="0">
                <a:latin typeface="+mj-lt"/>
              </a:rPr>
              <a:t>Start &gt; Abschnitt „Bearbeiten“ &gt; Markieren &gt; Auswahlbereich</a:t>
            </a:r>
          </a:p>
          <a:p>
            <a:r>
              <a:rPr lang="de-DE" sz="1400" dirty="0" smtClean="0">
                <a:latin typeface="+mj-lt"/>
              </a:rPr>
              <a:t>Dann erscheint rechts das Fenster Auswahl. Hier lassen sich einzelne Objekte aus- bzw. einblenden (klicken auf das „Augen-Symbol).</a:t>
            </a:r>
            <a:endParaRPr lang="de-DE" sz="1400" dirty="0">
              <a:latin typeface="+mj-lt"/>
            </a:endParaRPr>
          </a:p>
        </p:txBody>
      </p:sp>
      <p:pic>
        <p:nvPicPr>
          <p:cNvPr id="37" name="Grafik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4648" y="2030800"/>
            <a:ext cx="2018685" cy="266987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/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96444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2027</Words>
  <Application>Microsoft Office PowerPoint</Application>
  <PresentationFormat>Bildschirmpräsentation (16:9)</PresentationFormat>
  <Paragraphs>376</Paragraphs>
  <Slides>22</Slides>
  <Notes>22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9" baseType="lpstr">
      <vt:lpstr>ＭＳ Ｐゴシック</vt:lpstr>
      <vt:lpstr>Arial</vt:lpstr>
      <vt:lpstr>Arial Narrow</vt:lpstr>
      <vt:lpstr>Calibri</vt:lpstr>
      <vt:lpstr>Cambria Math</vt:lpstr>
      <vt:lpstr>Wingdings</vt:lpstr>
      <vt:lpstr>Herrmann_Ultraschall_Template_01_EXP</vt:lpstr>
      <vt:lpstr>Francois Brouet – sep24_continuous_ds</vt:lpstr>
      <vt:lpstr>PowerPoint-Präsentation</vt:lpstr>
      <vt:lpstr>Introduction</vt:lpstr>
      <vt:lpstr>Context</vt:lpstr>
      <vt:lpstr>Goal</vt:lpstr>
      <vt:lpstr>Data</vt:lpstr>
      <vt:lpstr>PowerPoint-Präsentation</vt:lpstr>
      <vt:lpstr>Pre-processing</vt:lpstr>
      <vt:lpstr>Pre-processing</vt:lpstr>
      <vt:lpstr>Result overview</vt:lpstr>
      <vt:lpstr>PowerPoint-Präsentation</vt:lpstr>
      <vt:lpstr>Next steps</vt:lpstr>
      <vt:lpstr>PowerPoint-Präsentation</vt:lpstr>
      <vt:lpstr>PowerPoint-Präsentation</vt:lpstr>
      <vt:lpstr>PowerPoint-Präsentation</vt:lpstr>
      <vt:lpstr>Project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83</cp:revision>
  <cp:lastPrinted>2024-10-28T09:15:24Z</cp:lastPrinted>
  <dcterms:created xsi:type="dcterms:W3CDTF">2024-10-21T06:24:53Z</dcterms:created>
  <dcterms:modified xsi:type="dcterms:W3CDTF">2025-08-12T09:31:46Z</dcterms:modified>
</cp:coreProperties>
</file>