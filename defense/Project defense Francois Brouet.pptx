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83" r:id="rId2"/>
    <p:sldId id="378" r:id="rId3"/>
    <p:sldId id="394" r:id="rId4"/>
    <p:sldId id="398" r:id="rId5"/>
    <p:sldId id="399" r:id="rId6"/>
    <p:sldId id="405" r:id="rId7"/>
    <p:sldId id="400" r:id="rId8"/>
    <p:sldId id="401" r:id="rId9"/>
    <p:sldId id="402" r:id="rId10"/>
    <p:sldId id="407" r:id="rId11"/>
    <p:sldId id="403" r:id="rId12"/>
    <p:sldId id="381" r:id="rId13"/>
    <p:sldId id="397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97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66"/>
    <a:srgbClr val="007BBD"/>
    <a:srgbClr val="000000"/>
    <a:srgbClr val="05FFFF"/>
    <a:srgbClr val="D9D9D9"/>
    <a:srgbClr val="333333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31161" autoAdjust="0"/>
  </p:normalViewPr>
  <p:slideViewPr>
    <p:cSldViewPr snapToObjects="1">
      <p:cViewPr varScale="1">
        <p:scale>
          <a:sx n="46" d="100"/>
          <a:sy n="46" d="100"/>
        </p:scale>
        <p:origin x="2466" y="42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29.08.2025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smtClean="0"/>
              <a:t>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baseline="0" dirty="0" smtClean="0"/>
              <a:t>After a </a:t>
            </a:r>
            <a:r>
              <a:rPr lang="de-DE" baseline="0" dirty="0" err="1" smtClean="0"/>
              <a:t>short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and</a:t>
            </a:r>
            <a:r>
              <a:rPr lang="de-DE" baseline="0" dirty="0" smtClean="0"/>
              <a:t> finish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outlook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err="1" smtClean="0"/>
              <a:t>Principle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r>
              <a:rPr lang="de-DE" dirty="0" smtClean="0"/>
              <a:t> </a:t>
            </a:r>
            <a:r>
              <a:rPr lang="de-DE" dirty="0" err="1" smtClean="0"/>
              <a:t>transforms</a:t>
            </a:r>
            <a:r>
              <a:rPr lang="de-DE" dirty="0" smtClean="0"/>
              <a:t> </a:t>
            </a:r>
            <a:r>
              <a:rPr lang="de-DE" dirty="0" err="1" smtClean="0"/>
              <a:t>this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begins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</a:t>
            </a:r>
            <a:r>
              <a:rPr lang="de-DE" dirty="0" err="1" smtClean="0"/>
              <a:t>compresses</a:t>
            </a:r>
            <a:r>
              <a:rPr lang="de-DE" dirty="0" smtClean="0"/>
              <a:t> </a:t>
            </a:r>
            <a:r>
              <a:rPr lang="de-DE" dirty="0" err="1" smtClean="0"/>
              <a:t>it</a:t>
            </a:r>
            <a:r>
              <a:rPr lang="de-DE" dirty="0" smtClean="0"/>
              <a:t>, 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</a:t>
            </a:r>
            <a:r>
              <a:rPr lang="de-DE" baseline="0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deformed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</a:t>
            </a:r>
            <a:r>
              <a:rPr lang="de-DE" dirty="0" err="1" smtClean="0"/>
              <a:t>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having run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very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so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iteration can take up to an hour</a:t>
            </a:r>
          </a:p>
          <a:p>
            <a:endParaRPr lang="de-DE" dirty="0" smtClean="0"/>
          </a:p>
          <a:p>
            <a:r>
              <a:rPr lang="de-DE" dirty="0" smtClean="0"/>
              <a:t>FEM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</a:t>
            </a:r>
            <a:r>
              <a:rPr lang="de-DE" baseline="0" dirty="0" smtClean="0"/>
              <a:t>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frequencies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particularly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rather than all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introduce</a:t>
            </a:r>
            <a:r>
              <a:rPr lang="de-DE" baseline="0" dirty="0" smtClean="0"/>
              <a:t> </a:t>
            </a:r>
            <a:r>
              <a:rPr lang="de-DE" baseline="0" dirty="0" smtClean="0"/>
              <a:t>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smtClean="0"/>
              <a:t>in a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0 </a:t>
            </a:r>
            <a:r>
              <a:rPr lang="de-DE" baseline="0" dirty="0" smtClean="0"/>
              <a:t>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alll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smtClean="0"/>
              <a:t>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perfect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smtClean="0"/>
              <a:t>FEM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distinct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smtClean="0"/>
              <a:t>I </a:t>
            </a:r>
            <a:r>
              <a:rPr lang="de-DE" baseline="0" dirty="0" err="1" smtClean="0"/>
              <a:t>generated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DPs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within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ensure</a:t>
            </a:r>
            <a:r>
              <a:rPr lang="de-DE" baseline="0" dirty="0" smtClean="0"/>
              <a:t> valid </a:t>
            </a:r>
            <a:r>
              <a:rPr lang="de-DE" baseline="0" dirty="0" smtClean="0"/>
              <a:t>sonotrode </a:t>
            </a:r>
            <a:r>
              <a:rPr lang="de-DE" baseline="0" dirty="0" smtClean="0"/>
              <a:t>geometries.</a:t>
            </a:r>
            <a:endParaRPr lang="de-DE" baseline="0" dirty="0" smtClean="0"/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smtClean="0"/>
              <a:t>DPs. </a:t>
            </a:r>
            <a:r>
              <a:rPr lang="de-DE" baseline="0" dirty="0" smtClean="0"/>
              <a:t>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, </a:t>
            </a:r>
            <a:r>
              <a:rPr lang="de-DE" baseline="0" dirty="0" smtClean="0"/>
              <a:t>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</a:t>
            </a:r>
            <a:r>
              <a:rPr lang="de-DE" baseline="0" dirty="0" smtClean="0"/>
              <a:t>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err="1" smtClean="0"/>
              <a:t>There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1st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smtClean="0"/>
              <a:t>final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XYZ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DP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smtClean="0"/>
              <a:t>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move</a:t>
            </a:r>
            <a:r>
              <a:rPr lang="de-DE" dirty="0" smtClean="0"/>
              <a:t> on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We start with the distribution of t</a:t>
            </a:r>
            <a:r>
              <a:rPr lang="en-US" dirty="0" smtClean="0"/>
              <a:t>he explanatory variables: the geometric parameters have been randomly generated</a:t>
            </a:r>
            <a:r>
              <a:rPr lang="en-US" baseline="0" dirty="0" smtClean="0"/>
              <a:t> according 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</a:t>
            </a:r>
            <a:r>
              <a:rPr lang="en-US" baseline="0" dirty="0" smtClean="0">
                <a:sym typeface="Wingdings" panose="05000000000000000000" pitchFamily="2" charset="2"/>
              </a:rPr>
              <a:t>boxplots are symmetrical</a:t>
            </a:r>
            <a:r>
              <a:rPr lang="en-US" baseline="0" dirty="0" smtClean="0">
                <a:sym typeface="Wingdings" panose="05000000000000000000" pitchFamily="2" charset="2"/>
              </a:rPr>
              <a:t>, median in the </a:t>
            </a:r>
            <a:r>
              <a:rPr lang="en-US" baseline="0" dirty="0" smtClean="0">
                <a:sym typeface="Wingdings" panose="05000000000000000000" pitchFamily="2" charset="2"/>
              </a:rPr>
              <a:t>center and equal-length </a:t>
            </a:r>
            <a:r>
              <a:rPr lang="en-US" baseline="0" dirty="0" smtClean="0">
                <a:sym typeface="Wingdings" panose="05000000000000000000" pitchFamily="2" charset="2"/>
              </a:rPr>
              <a:t>whiskers </a:t>
            </a:r>
            <a:r>
              <a:rPr lang="en-US" baseline="0" dirty="0" smtClean="0">
                <a:sym typeface="Wingdings" panose="05000000000000000000" pitchFamily="2" charset="2"/>
              </a:rPr>
              <a:t>on </a:t>
            </a:r>
            <a:r>
              <a:rPr lang="en-US" baseline="0" dirty="0" smtClean="0">
                <a:sym typeface="Wingdings" panose="05000000000000000000" pitchFamily="2" charset="2"/>
              </a:rPr>
              <a:t>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variable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Now</a:t>
            </a:r>
            <a:r>
              <a:rPr lang="de-DE" dirty="0" smtClean="0"/>
              <a:t> </a:t>
            </a: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</a:t>
            </a:r>
            <a:r>
              <a:rPr lang="de-DE" baseline="0" dirty="0" smtClean="0"/>
              <a:t>(</a:t>
            </a:r>
            <a:r>
              <a:rPr lang="de-DE" baseline="0" dirty="0" err="1" smtClean="0"/>
              <a:t>although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smtClean="0"/>
              <a:t>DP generation, </a:t>
            </a:r>
            <a:r>
              <a:rPr lang="de-DE" baseline="0" dirty="0" smtClean="0"/>
              <a:t>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</a:t>
            </a:r>
            <a:r>
              <a:rPr lang="de-DE" baseline="0" dirty="0" smtClean="0"/>
              <a:t>(</a:t>
            </a:r>
            <a:r>
              <a:rPr lang="de-DE" baseline="0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smtClean="0"/>
              <a:t>turn </a:t>
            </a:r>
            <a:r>
              <a:rPr lang="de-DE" baseline="0" dirty="0" smtClean="0"/>
              <a:t>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squarring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NRDD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while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indicate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</a:t>
            </a:r>
            <a:r>
              <a:rPr lang="de-DE" baseline="0" dirty="0" smtClean="0"/>
              <a:t>)</a:t>
            </a:r>
            <a:endParaRPr lang="de-DE" baseline="0" dirty="0" smtClean="0"/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wonder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smtClean="0"/>
              <a:t>variable, </a:t>
            </a:r>
            <a:r>
              <a:rPr lang="de-DE" baseline="0" dirty="0" err="1" smtClean="0"/>
              <a:t>rather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MAC. The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smtClean="0"/>
              <a:t>NRDD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smtClean="0"/>
              <a:t>MAC.</a:t>
            </a:r>
            <a:endParaRPr lang="de-DE" baseline="0" dirty="0" smtClean="0"/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continue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Light Gradient-</a:t>
            </a:r>
            <a:r>
              <a:rPr lang="de-DE" baseline="0" dirty="0" err="1" smtClean="0"/>
              <a:t>Boosting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Machine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algorithm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Keras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Neural</a:t>
            </a:r>
            <a:r>
              <a:rPr lang="de-DE" baseline="0" dirty="0" smtClean="0"/>
              <a:t> Network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Dense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layers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</a:t>
            </a:r>
            <a:r>
              <a:rPr lang="de-DE" dirty="0" smtClean="0"/>
              <a:t>on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selected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coefficient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determination</a:t>
            </a:r>
            <a:r>
              <a:rPr lang="de-DE" baseline="0" dirty="0" smtClean="0"/>
              <a:t> R²,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smtClean="0"/>
              <a:t>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err="1" smtClean="0"/>
              <a:t>If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had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time,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</a:t>
            </a:r>
            <a:r>
              <a:rPr lang="de-DE" dirty="0" smtClean="0"/>
              <a:t>fast</a:t>
            </a:r>
            <a:r>
              <a:rPr lang="de-DE" baseline="0" dirty="0" smtClean="0"/>
              <a:t> </a:t>
            </a:r>
            <a:r>
              <a:rPr lang="de-DE" baseline="0" dirty="0" smtClean="0"/>
              <a:t>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high 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using</a:t>
            </a:r>
            <a:r>
              <a:rPr lang="de-DE" baseline="0" dirty="0" smtClean="0"/>
              <a:t> </a:t>
            </a:r>
            <a:r>
              <a:rPr lang="de-DE" baseline="0" dirty="0" smtClean="0"/>
              <a:t>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take</a:t>
            </a:r>
            <a:r>
              <a:rPr lang="de-DE" dirty="0" smtClean="0"/>
              <a:t> </a:t>
            </a:r>
            <a:r>
              <a:rPr lang="de-DE" dirty="0" smtClean="0"/>
              <a:t>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can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see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(high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low</a:t>
            </a:r>
            <a:r>
              <a:rPr lang="de-DE" baseline="0" dirty="0" smtClean="0"/>
              <a:t> </a:t>
            </a:r>
            <a:r>
              <a:rPr lang="de-DE" baseline="0" dirty="0" smtClean="0"/>
              <a:t>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smtClean="0"/>
              <a:t>(</a:t>
            </a:r>
            <a:r>
              <a:rPr lang="de-DE" baseline="0" dirty="0" err="1" smtClean="0"/>
              <a:t>below</a:t>
            </a:r>
            <a:r>
              <a:rPr lang="de-DE" baseline="0" dirty="0" smtClean="0"/>
              <a:t> </a:t>
            </a:r>
            <a:r>
              <a:rPr lang="de-DE" baseline="0" dirty="0" smtClean="0"/>
              <a:t>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maintain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 </a:t>
            </a:r>
            <a:r>
              <a:rPr lang="de-DE" dirty="0" err="1" smtClean="0"/>
              <a:t>dataset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enhanced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performance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leading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improvement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Mean</a:t>
            </a:r>
            <a:r>
              <a:rPr lang="de-DE" baseline="0" dirty="0" smtClean="0">
                <a:sym typeface="Wingdings" panose="05000000000000000000" pitchFamily="2" charset="2"/>
              </a:rPr>
              <a:t> Absolute Error MAE was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</a:t>
            </a:r>
            <a:r>
              <a:rPr lang="de-DE" baseline="0" dirty="0" smtClean="0">
                <a:sym typeface="Wingdings" panose="05000000000000000000" pitchFamily="2" charset="2"/>
              </a:rPr>
              <a:t>an </a:t>
            </a:r>
            <a:r>
              <a:rPr lang="de-DE" baseline="0" dirty="0" err="1" smtClean="0">
                <a:sym typeface="Wingdings" panose="05000000000000000000" pitchFamily="2" charset="2"/>
              </a:rPr>
              <a:t>excellent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result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smtClean="0">
                <a:sym typeface="Wingdings" panose="05000000000000000000" pitchFamily="2" charset="2"/>
              </a:rPr>
              <a:t>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driving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business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view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efficiently</a:t>
            </a:r>
            <a:r>
              <a:rPr lang="de-DE" baseline="0" dirty="0" smtClean="0"/>
              <a:t> </a:t>
            </a:r>
            <a:r>
              <a:rPr lang="de-DE" baseline="0" dirty="0" smtClean="0"/>
              <a:t>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FEM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define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three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functions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combine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</a:t>
            </a:r>
            <a:r>
              <a:rPr lang="de-DE" baseline="0" dirty="0" smtClean="0"/>
              <a:t> a total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explore</a:t>
            </a:r>
            <a:r>
              <a:rPr lang="de-DE" baseline="0" dirty="0" smtClean="0"/>
              <a:t> </a:t>
            </a:r>
            <a:r>
              <a:rPr lang="de-DE" baseline="0" dirty="0" smtClean="0"/>
              <a:t>a large </a:t>
            </a:r>
            <a:r>
              <a:rPr lang="de-DE" baseline="0" dirty="0" err="1" smtClean="0"/>
              <a:t>area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candidate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</a:t>
            </a:r>
            <a:r>
              <a:rPr lang="de-DE" baseline="0" dirty="0" smtClean="0"/>
              <a:t> </a:t>
            </a:r>
            <a:r>
              <a:rPr lang="de-DE" baseline="0" dirty="0" smtClean="0"/>
              <a:t>a </a:t>
            </a:r>
            <a:r>
              <a:rPr lang="de-DE" baseline="0" dirty="0" err="1" smtClean="0"/>
              <a:t>gradient-based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fine</a:t>
            </a:r>
            <a:r>
              <a:rPr lang="de-DE" baseline="0" dirty="0" smtClean="0"/>
              <a:t>-tuning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5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8" name="Richtungspfeil 7"/>
          <p:cNvSpPr/>
          <p:nvPr/>
        </p:nvSpPr>
        <p:spPr bwMode="gray">
          <a:xfrm rot="5400000">
            <a:off x="4423823" y="1207759"/>
            <a:ext cx="54670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9" name="Textfeld 8"/>
          <p:cNvSpPr txBox="1"/>
          <p:nvPr/>
        </p:nvSpPr>
        <p:spPr bwMode="gray">
          <a:xfrm>
            <a:off x="4447931" y="1515379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sp>
        <p:nvSpPr>
          <p:cNvPr id="32" name="Richtungspfeil 31"/>
          <p:cNvSpPr/>
          <p:nvPr/>
        </p:nvSpPr>
        <p:spPr bwMode="gray">
          <a:xfrm rot="5400000">
            <a:off x="4565632" y="2515017"/>
            <a:ext cx="26308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33" name="Textfeld 32"/>
          <p:cNvSpPr txBox="1"/>
          <p:nvPr/>
        </p:nvSpPr>
        <p:spPr bwMode="gray">
          <a:xfrm>
            <a:off x="4447931" y="2812976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pic>
        <p:nvPicPr>
          <p:cNvPr id="31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1.png"/>
          <p:cNvPicPr/>
          <p:nvPr/>
        </p:nvPicPr>
        <p:blipFill rotWithShape="1">
          <a:blip r:embed="rId8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478" y="3533769"/>
            <a:ext cx="1071046" cy="34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11" name="image1.png"/>
          <p:cNvPicPr/>
          <p:nvPr/>
        </p:nvPicPr>
        <p:blipFill rotWithShape="1">
          <a:blip r:embed="rId4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  <p:pic>
        <p:nvPicPr>
          <p:cNvPr id="11" name="image1.png"/>
          <p:cNvPicPr/>
          <p:nvPr/>
        </p:nvPicPr>
        <p:blipFill rotWithShape="1">
          <a:blip r:embed="rId6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image1.png"/>
          <p:cNvPicPr/>
          <p:nvPr/>
        </p:nvPicPr>
        <p:blipFill rotWithShape="1">
          <a:blip r:embed="rId9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  <p:pic>
        <p:nvPicPr>
          <p:cNvPr id="10" name="image1.png"/>
          <p:cNvPicPr/>
          <p:nvPr/>
        </p:nvPicPr>
        <p:blipFill rotWithShape="1">
          <a:blip r:embed="rId5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968276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Keras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9940" y="2556869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Navigation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Cost</a:t>
            </a:r>
            <a:r>
              <a:rPr lang="de-DE" dirty="0" smtClean="0"/>
              <a:t> </a:t>
            </a:r>
            <a:r>
              <a:rPr lang="de-DE" dirty="0" err="1" smtClean="0"/>
              <a:t>functions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2207694" y="3745195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Thank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for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attention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!</a:t>
            </a:r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27" name="Gruppieren 26"/>
          <p:cNvGrpSpPr/>
          <p:nvPr/>
        </p:nvGrpSpPr>
        <p:grpSpPr>
          <a:xfrm>
            <a:off x="3835165" y="1193759"/>
            <a:ext cx="4073104" cy="1334766"/>
            <a:chOff x="3835165" y="1193759"/>
            <a:chExt cx="4073104" cy="1334766"/>
          </a:xfrm>
        </p:grpSpPr>
        <p:sp>
          <p:nvSpPr>
            <p:cNvPr id="9" name="Textfeld 8"/>
            <p:cNvSpPr txBox="1"/>
            <p:nvPr/>
          </p:nvSpPr>
          <p:spPr bwMode="gray">
            <a:xfrm>
              <a:off x="3835165" y="119375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cost_long_freq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Textfeld 9"/>
            <p:cNvSpPr txBox="1"/>
            <p:nvPr/>
          </p:nvSpPr>
          <p:spPr bwMode="gray">
            <a:xfrm>
              <a:off x="5294426" y="119375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cost_all_freq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Textfeld 10"/>
            <p:cNvSpPr txBox="1"/>
            <p:nvPr/>
          </p:nvSpPr>
          <p:spPr bwMode="gray">
            <a:xfrm>
              <a:off x="6756141" y="1199390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cost_nrdd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Textfeld 11"/>
            <p:cNvSpPr txBox="1"/>
            <p:nvPr/>
          </p:nvSpPr>
          <p:spPr bwMode="gray">
            <a:xfrm>
              <a:off x="5294426" y="2234987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b="1" dirty="0" err="1" smtClean="0">
                  <a:solidFill>
                    <a:schemeClr val="tx1"/>
                  </a:solidFill>
                  <a:latin typeface="+mn-lt"/>
                </a:rPr>
                <a:t>cost_total</a:t>
              </a:r>
              <a:endParaRPr lang="de-DE" sz="1400" b="1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" name="Gerade Verbindung mit Pfeil 13"/>
            <p:cNvCxnSpPr>
              <a:stCxn id="9" idx="2"/>
            </p:cNvCxnSpPr>
            <p:nvPr/>
          </p:nvCxnSpPr>
          <p:spPr bwMode="gray">
            <a:xfrm>
              <a:off x="4411229" y="1487297"/>
              <a:ext cx="1172457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/>
            <p:cNvCxnSpPr>
              <a:stCxn id="10" idx="2"/>
            </p:cNvCxnSpPr>
            <p:nvPr/>
          </p:nvCxnSpPr>
          <p:spPr bwMode="gray">
            <a:xfrm>
              <a:off x="5870490" y="1487297"/>
              <a:ext cx="0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mit Pfeil 17"/>
            <p:cNvCxnSpPr>
              <a:stCxn id="11" idx="2"/>
            </p:cNvCxnSpPr>
            <p:nvPr/>
          </p:nvCxnSpPr>
          <p:spPr bwMode="gray">
            <a:xfrm flipH="1">
              <a:off x="6157295" y="1492928"/>
              <a:ext cx="1174910" cy="636810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uppieren 27"/>
          <p:cNvGrpSpPr/>
          <p:nvPr/>
        </p:nvGrpSpPr>
        <p:grpSpPr>
          <a:xfrm>
            <a:off x="2843808" y="3086221"/>
            <a:ext cx="5298192" cy="355047"/>
            <a:chOff x="2843808" y="3086221"/>
            <a:chExt cx="5298192" cy="355047"/>
          </a:xfrm>
        </p:grpSpPr>
        <p:sp>
          <p:nvSpPr>
            <p:cNvPr id="22" name="Textfeld 21"/>
            <p:cNvSpPr txBox="1"/>
            <p:nvPr/>
          </p:nvSpPr>
          <p:spPr bwMode="gray">
            <a:xfrm>
              <a:off x="2843808" y="3102970"/>
              <a:ext cx="2271510" cy="338298"/>
            </a:xfrm>
            <a:prstGeom prst="rect">
              <a:avLst/>
            </a:prstGeom>
            <a:solidFill>
              <a:srgbClr val="99FF66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scipy.differential_evolution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Textfeld 22"/>
            <p:cNvSpPr txBox="1"/>
            <p:nvPr/>
          </p:nvSpPr>
          <p:spPr bwMode="gray">
            <a:xfrm>
              <a:off x="5870490" y="3086221"/>
              <a:ext cx="2271510" cy="338298"/>
            </a:xfrm>
            <a:prstGeom prst="rect">
              <a:avLst/>
            </a:prstGeom>
            <a:solidFill>
              <a:srgbClr val="99FF66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scipy.minimize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4" name="Gerade Verbindung mit Pfeil 23"/>
            <p:cNvCxnSpPr>
              <a:stCxn id="22" idx="3"/>
            </p:cNvCxnSpPr>
            <p:nvPr/>
          </p:nvCxnSpPr>
          <p:spPr bwMode="gray">
            <a:xfrm>
              <a:off x="5115318" y="3272119"/>
              <a:ext cx="620768" cy="4096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2248</Words>
  <Application>Microsoft Office PowerPoint</Application>
  <PresentationFormat>Bildschirmpräsentation (16:9)</PresentationFormat>
  <Paragraphs>363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159</cp:revision>
  <cp:lastPrinted>2024-10-28T09:15:24Z</cp:lastPrinted>
  <dcterms:created xsi:type="dcterms:W3CDTF">2024-10-21T06:24:53Z</dcterms:created>
  <dcterms:modified xsi:type="dcterms:W3CDTF">2025-08-29T09:34:45Z</dcterms:modified>
</cp:coreProperties>
</file>