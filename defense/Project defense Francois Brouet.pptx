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94" r:id="rId1"/>
  </p:sldMasterIdLst>
  <p:notesMasterIdLst>
    <p:notesMasterId r:id="rId24"/>
  </p:notesMasterIdLst>
  <p:handoutMasterIdLst>
    <p:handoutMasterId r:id="rId25"/>
  </p:handoutMasterIdLst>
  <p:sldIdLst>
    <p:sldId id="383" r:id="rId2"/>
    <p:sldId id="397" r:id="rId3"/>
    <p:sldId id="370" r:id="rId4"/>
    <p:sldId id="394" r:id="rId5"/>
    <p:sldId id="398" r:id="rId6"/>
    <p:sldId id="399" r:id="rId7"/>
    <p:sldId id="405" r:id="rId8"/>
    <p:sldId id="400" r:id="rId9"/>
    <p:sldId id="401" r:id="rId10"/>
    <p:sldId id="402" r:id="rId11"/>
    <p:sldId id="407" r:id="rId12"/>
    <p:sldId id="403" r:id="rId13"/>
    <p:sldId id="406" r:id="rId14"/>
    <p:sldId id="404" r:id="rId15"/>
    <p:sldId id="388" r:id="rId16"/>
    <p:sldId id="396" r:id="rId17"/>
    <p:sldId id="389" r:id="rId18"/>
    <p:sldId id="391" r:id="rId19"/>
    <p:sldId id="392" r:id="rId20"/>
    <p:sldId id="381" r:id="rId21"/>
    <p:sldId id="378" r:id="rId22"/>
    <p:sldId id="384" r:id="rId23"/>
  </p:sldIdLst>
  <p:sldSz cx="9144000" cy="5143500" type="screen16x9"/>
  <p:notesSz cx="6645275" cy="9775825"/>
  <p:custDataLst>
    <p:tags r:id="rId26"/>
  </p:custDataLst>
  <p:defaultTextStyle>
    <a:defPPr>
      <a:defRPr lang="de-DE"/>
    </a:defPPr>
    <a:lvl1pPr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13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26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39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52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565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278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19991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04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ermann Ultraschall Template" id="{E288A15B-C61F-46F5-9AF1-9B20770DE8A5}">
          <p14:sldIdLst>
            <p14:sldId id="383"/>
            <p14:sldId id="397"/>
            <p14:sldId id="370"/>
            <p14:sldId id="394"/>
            <p14:sldId id="398"/>
            <p14:sldId id="399"/>
            <p14:sldId id="405"/>
            <p14:sldId id="400"/>
            <p14:sldId id="401"/>
            <p14:sldId id="402"/>
            <p14:sldId id="407"/>
            <p14:sldId id="403"/>
            <p14:sldId id="406"/>
            <p14:sldId id="404"/>
            <p14:sldId id="388"/>
            <p14:sldId id="396"/>
            <p14:sldId id="389"/>
            <p14:sldId id="391"/>
            <p14:sldId id="392"/>
            <p14:sldId id="381"/>
            <p14:sldId id="378"/>
            <p14:sldId id="384"/>
          </p14:sldIdLst>
        </p14:section>
      </p14:sectionLst>
    </p:ext>
    <p:ext uri="{EFAFB233-063F-42B5-8137-9DF3F51BA10A}">
      <p15:sldGuideLst xmlns:p15="http://schemas.microsoft.com/office/powerpoint/2012/main">
        <p15:guide id="7" pos="2880">
          <p15:clr>
            <a:srgbClr val="A4A3A4"/>
          </p15:clr>
        </p15:guide>
        <p15:guide id="8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544" userDrawn="1">
          <p15:clr>
            <a:srgbClr val="A4A3A4"/>
          </p15:clr>
        </p15:guide>
        <p15:guide id="2" orient="horz" pos="2410" userDrawn="1">
          <p15:clr>
            <a:srgbClr val="A4A3A4"/>
          </p15:clr>
        </p15:guide>
        <p15:guide id="3" pos="542" userDrawn="1">
          <p15:clr>
            <a:srgbClr val="A4A3A4"/>
          </p15:clr>
        </p15:guide>
        <p15:guide id="4" pos="3919" userDrawn="1">
          <p15:clr>
            <a:srgbClr val="A4A3A4"/>
          </p15:clr>
        </p15:guide>
        <p15:guide id="5" orient="horz" pos="199" userDrawn="1">
          <p15:clr>
            <a:srgbClr val="A4A3A4"/>
          </p15:clr>
        </p15:guide>
        <p15:guide id="6" orient="horz" pos="5721" userDrawn="1">
          <p15:clr>
            <a:srgbClr val="A4A3A4"/>
          </p15:clr>
        </p15:guide>
        <p15:guide id="7" orient="horz" pos="5851" userDrawn="1">
          <p15:clr>
            <a:srgbClr val="A4A3A4"/>
          </p15:clr>
        </p15:guide>
        <p15:guide id="8" orient="horz" pos="6004" userDrawn="1">
          <p15:clr>
            <a:srgbClr val="A4A3A4"/>
          </p15:clr>
        </p15:guide>
        <p15:guide id="9" pos="438" userDrawn="1">
          <p15:clr>
            <a:srgbClr val="A4A3A4"/>
          </p15:clr>
        </p15:guide>
        <p15:guide id="10" pos="3960" userDrawn="1">
          <p15:clr>
            <a:srgbClr val="A4A3A4"/>
          </p15:clr>
        </p15:guide>
        <p15:guide id="11" pos="2687" userDrawn="1">
          <p15:clr>
            <a:srgbClr val="A4A3A4"/>
          </p15:clr>
        </p15:guide>
        <p15:guide id="12" pos="277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FFFF"/>
    <a:srgbClr val="D9D9D9"/>
    <a:srgbClr val="333333"/>
    <a:srgbClr val="FF0000"/>
    <a:srgbClr val="CC00FF"/>
    <a:srgbClr val="007B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ittlere Formatvorlage 3 - 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660B408-B3CF-4A94-85FC-2B1E0A45F4A2}" styleName="Dunkle Formatvorlage 2 - Akzent 1/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7CE84F3-28C3-443E-9E96-99CF82512B78}" styleName="Dunkle Formatvorlage 1 - Akz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205" autoAdjust="0"/>
    <p:restoredTop sz="66738" autoAdjust="0"/>
  </p:normalViewPr>
  <p:slideViewPr>
    <p:cSldViewPr snapToObjects="1">
      <p:cViewPr varScale="1">
        <p:scale>
          <a:sx n="100" d="100"/>
          <a:sy n="100" d="100"/>
        </p:scale>
        <p:origin x="1536" y="90"/>
      </p:cViewPr>
      <p:guideLst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Objects="1">
      <p:cViewPr>
        <p:scale>
          <a:sx n="75" d="100"/>
          <a:sy n="75" d="100"/>
        </p:scale>
        <p:origin x="6060" y="1344"/>
      </p:cViewPr>
      <p:guideLst>
        <p:guide orient="horz" pos="2544"/>
        <p:guide orient="horz" pos="2410"/>
        <p:guide pos="542"/>
        <p:guide pos="3919"/>
        <p:guide orient="horz" pos="199"/>
        <p:guide orient="horz" pos="5721"/>
        <p:guide orient="horz" pos="5851"/>
        <p:guide orient="horz" pos="6004"/>
        <p:guide pos="438"/>
        <p:guide pos="3960"/>
        <p:guide pos="2687"/>
        <p:guide pos="277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gs" Target="tags/tag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22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4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6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7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8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9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0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2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3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4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5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6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7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8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9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0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1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2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3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4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</p:grpSp>
      <p:sp>
        <p:nvSpPr>
          <p:cNvPr id="28" name="Foliennummernplatzhalter 6"/>
          <p:cNvSpPr>
            <a:spLocks noGrp="1"/>
          </p:cNvSpPr>
          <p:nvPr>
            <p:ph type="sldNum" sz="quarter" idx="3"/>
          </p:nvPr>
        </p:nvSpPr>
        <p:spPr bwMode="gray">
          <a:xfrm>
            <a:off x="4972347" y="9289839"/>
            <a:ext cx="1313565" cy="240341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34E13925-E938-4228-AE74-92AB500038A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9" name="Kopfzeilenplatzhalter 13"/>
          <p:cNvSpPr>
            <a:spLocks noGrp="1"/>
          </p:cNvSpPr>
          <p:nvPr>
            <p:ph type="hdr" sz="quarter"/>
          </p:nvPr>
        </p:nvSpPr>
        <p:spPr bwMode="gray">
          <a:xfrm>
            <a:off x="694971" y="313884"/>
            <a:ext cx="4347515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30" name="Datumsplatzhalter 32"/>
          <p:cNvSpPr>
            <a:spLocks noGrp="1"/>
          </p:cNvSpPr>
          <p:nvPr>
            <p:ph type="dt" idx="1"/>
          </p:nvPr>
        </p:nvSpPr>
        <p:spPr bwMode="gray">
          <a:xfrm>
            <a:off x="5042485" y="313884"/>
            <a:ext cx="1243426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4898E2BF-6B10-4B00-9BEA-AA866B211861}" type="datetimeFigureOut">
              <a:rPr lang="de-DE" smtClean="0"/>
              <a:pPr/>
              <a:t>11.08.2025</a:t>
            </a:fld>
            <a:endParaRPr lang="de-DE" dirty="0"/>
          </a:p>
        </p:txBody>
      </p:sp>
      <p:sp>
        <p:nvSpPr>
          <p:cNvPr id="31" name="Fußzeilenplatzhalter 33"/>
          <p:cNvSpPr>
            <a:spLocks noGrp="1"/>
          </p:cNvSpPr>
          <p:nvPr>
            <p:ph type="ftr" sz="quarter" idx="2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924039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uppieren 6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10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8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9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1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2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3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4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7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8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0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1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2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3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5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6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7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8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9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60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</p:grp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 bwMode="gray">
          <a:xfrm>
            <a:off x="694970" y="3794290"/>
            <a:ext cx="5650268" cy="5489409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</a:t>
            </a:r>
            <a:r>
              <a:rPr lang="de-DE" noProof="0" dirty="0" smtClean="0"/>
              <a:t>Ebene</a:t>
            </a:r>
          </a:p>
          <a:p>
            <a:pPr lvl="4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5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6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7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8"/>
            <a:r>
              <a:rPr lang="de-DE" noProof="0" dirty="0" err="1" smtClean="0"/>
              <a:t>asdf</a:t>
            </a:r>
            <a:endParaRPr lang="de-DE" noProof="0" dirty="0"/>
          </a:p>
        </p:txBody>
      </p:sp>
      <p:sp>
        <p:nvSpPr>
          <p:cNvPr id="23" name="Folienbildplatzhalter 22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36588" y="351408"/>
            <a:ext cx="5708650" cy="3211512"/>
          </a:xfrm>
          <a:prstGeom prst="rect">
            <a:avLst/>
          </a:prstGeom>
          <a:noFill/>
          <a:ln w="3175">
            <a:noFill/>
          </a:ln>
          <a:effectLst>
            <a:outerShdw blurRad="127000" algn="ctr" rotWithShape="0">
              <a:prstClr val="black">
                <a:alpha val="40000"/>
              </a:prstClr>
            </a:outerShdw>
          </a:effectLst>
        </p:spPr>
        <p:txBody>
          <a:bodyPr vert="horz" lIns="86545" tIns="43273" rIns="86545" bIns="43273" rtlCol="0" anchor="ctr"/>
          <a:lstStyle/>
          <a:p>
            <a:pPr lvl="0"/>
            <a:endParaRPr lang="de-DE" noProof="0"/>
          </a:p>
        </p:txBody>
      </p:sp>
      <p:sp>
        <p:nvSpPr>
          <p:cNvPr id="34" name="Fußzeilenplatzhalter 33"/>
          <p:cNvSpPr>
            <a:spLocks noGrp="1"/>
          </p:cNvSpPr>
          <p:nvPr>
            <p:ph type="ftr" sz="quarter" idx="4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5"/>
          </p:nvPr>
        </p:nvSpPr>
        <p:spPr>
          <a:xfrm>
            <a:off x="4185238" y="9318235"/>
            <a:ext cx="2160000" cy="24120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lang="de-DE" sz="1000" smtClean="0">
                <a:solidFill>
                  <a:schemeClr val="bg2"/>
                </a:solidFill>
                <a:latin typeface="+mn-lt"/>
              </a:defRPr>
            </a:lvl1pPr>
          </a:lstStyle>
          <a:p>
            <a:fld id="{567B3B95-3F62-486B-BCAC-65A3E0C70857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888199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130" rtl="0" eaLnBrk="0" fontAlgn="base" hangingPunct="0">
      <a:spcBef>
        <a:spcPts val="200"/>
      </a:spcBef>
      <a:spcAft>
        <a:spcPts val="200"/>
      </a:spcAft>
      <a:defRPr sz="1600" kern="1200">
        <a:solidFill>
          <a:schemeClr val="tx1"/>
        </a:solidFill>
        <a:latin typeface="+mn-lt"/>
        <a:ea typeface="ＭＳ Ｐゴシック" pitchFamily="-84" charset="-128"/>
        <a:cs typeface="ＭＳ Ｐゴシック" charset="0"/>
      </a:defRPr>
    </a:lvl1pPr>
    <a:lvl2pPr marL="18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2pPr>
    <a:lvl3pPr marL="36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3pPr>
    <a:lvl4pPr marL="54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4pPr>
    <a:lvl5pPr marL="270000" indent="-27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+mj-lt"/>
      <a:buAutoNum type="arabicPeriod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5pPr>
    <a:lvl6pPr marL="450850" indent="-180000" algn="l" defTabSz="457130" rtl="0" eaLnBrk="1" latinLnBrk="0" hangingPunct="1">
      <a:spcBef>
        <a:spcPts val="200"/>
      </a:spcBef>
      <a:spcAft>
        <a:spcPts val="200"/>
      </a:spcAft>
      <a:buClr>
        <a:schemeClr val="accent2"/>
      </a:buClr>
      <a:buFont typeface="+mj-lt"/>
      <a:buAutoNum type="alphaLcPeriod"/>
      <a:defRPr sz="1600" b="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457130" rtl="0" eaLnBrk="1" latinLnBrk="0" hangingPunct="1">
      <a:spcBef>
        <a:spcPts val="200"/>
      </a:spcBef>
      <a:spcAft>
        <a:spcPts val="200"/>
      </a:spcAft>
      <a:defRPr sz="2000" b="1" kern="1200">
        <a:solidFill>
          <a:schemeClr val="accent2"/>
        </a:solidFill>
        <a:latin typeface="+mn-lt"/>
        <a:ea typeface="+mn-ea"/>
        <a:cs typeface="+mn-cs"/>
      </a:defRPr>
    </a:lvl7pPr>
    <a:lvl8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8pPr>
    <a:lvl9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9pPr>
  </p:notesStyle>
  <p:extLst mod="1">
    <p:ext uri="{620B2872-D7B9-4A21-9093-7833F8D536E1}">
      <p15:sldGuideLst xmlns:p15="http://schemas.microsoft.com/office/powerpoint/2012/main">
        <p15:guide id="1" orient="horz" pos="2391" userDrawn="1">
          <p15:clr>
            <a:srgbClr val="F26B43"/>
          </p15:clr>
        </p15:guide>
        <p15:guide id="2" pos="2093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55367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 smtClean="0"/>
              <a:t>We</a:t>
            </a:r>
            <a:r>
              <a:rPr lang="de-DE" dirty="0" smtClean="0"/>
              <a:t> will </a:t>
            </a:r>
            <a:r>
              <a:rPr lang="de-DE" dirty="0" err="1" smtClean="0"/>
              <a:t>see</a:t>
            </a:r>
            <a:r>
              <a:rPr lang="de-DE" dirty="0" smtClean="0"/>
              <a:t>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overview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different </a:t>
            </a:r>
            <a:r>
              <a:rPr lang="de-DE" dirty="0" err="1" smtClean="0"/>
              <a:t>modelling</a:t>
            </a:r>
            <a:r>
              <a:rPr lang="de-DE" dirty="0" smtClean="0"/>
              <a:t> </a:t>
            </a:r>
            <a:r>
              <a:rPr lang="de-DE" dirty="0" err="1" smtClean="0"/>
              <a:t>approaches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values</a:t>
            </a:r>
            <a:endParaRPr lang="de-DE" baseline="0" dirty="0" smtClean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87408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30957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de-DE" dirty="0" smtClean="0"/>
              <a:t>US-</a:t>
            </a:r>
            <a:r>
              <a:rPr lang="de-DE" dirty="0" err="1" smtClean="0"/>
              <a:t>Welding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vibrations</a:t>
            </a:r>
            <a:r>
              <a:rPr lang="de-DE" dirty="0" smtClean="0"/>
              <a:t> </a:t>
            </a:r>
            <a:r>
              <a:rPr lang="de-DE" dirty="0" err="1" smtClean="0"/>
              <a:t>transfer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kinetic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a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This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transformed</a:t>
            </a:r>
            <a:r>
              <a:rPr lang="de-DE" dirty="0" smtClean="0"/>
              <a:t> in </a:t>
            </a:r>
            <a:r>
              <a:rPr lang="de-DE" dirty="0" err="1" smtClean="0"/>
              <a:t>heat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r>
              <a:rPr lang="de-DE" dirty="0" smtClean="0"/>
              <a:t> </a:t>
            </a:r>
            <a:r>
              <a:rPr lang="de-DE" dirty="0" err="1" smtClean="0"/>
              <a:t>friction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material </a:t>
            </a:r>
            <a:r>
              <a:rPr lang="de-DE" dirty="0" err="1" smtClean="0"/>
              <a:t>starts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material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compressed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a </a:t>
            </a: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force</a:t>
            </a:r>
            <a:r>
              <a:rPr lang="de-DE" dirty="0" smtClean="0"/>
              <a:t> (parallel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melting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A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homogeneous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created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Sonotrode: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is</a:t>
            </a:r>
            <a:r>
              <a:rPr lang="de-DE" dirty="0" smtClean="0"/>
              <a:t> in </a:t>
            </a:r>
            <a:r>
              <a:rPr lang="de-DE" dirty="0" err="1" smtClean="0"/>
              <a:t>contact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has</a:t>
            </a:r>
            <a:r>
              <a:rPr lang="de-DE" dirty="0" smtClean="0"/>
              <a:t> </a:t>
            </a:r>
            <a:r>
              <a:rPr lang="de-DE" dirty="0" err="1" smtClean="0"/>
              <a:t>many</a:t>
            </a:r>
            <a:r>
              <a:rPr lang="de-DE" dirty="0" smtClean="0"/>
              <a:t> </a:t>
            </a:r>
            <a:r>
              <a:rPr lang="de-DE" dirty="0" err="1" smtClean="0"/>
              <a:t>vibrating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 (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has</a:t>
            </a:r>
            <a:r>
              <a:rPr lang="de-DE" dirty="0" smtClean="0"/>
              <a:t> a </a:t>
            </a:r>
            <a:r>
              <a:rPr lang="de-DE" dirty="0" err="1" smtClean="0"/>
              <a:t>eigenfrequency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 </a:t>
            </a:r>
            <a:r>
              <a:rPr lang="de-DE" dirty="0" err="1" smtClean="0"/>
              <a:t>eigenshape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used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Simulation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software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)</a:t>
            </a:r>
            <a:endParaRPr lang="de-DE" dirty="0" smtClean="0"/>
          </a:p>
          <a:p>
            <a:endParaRPr lang="de-DE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aseline="0" dirty="0" err="1" smtClean="0"/>
              <a:t>Requirements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20 kHz (</a:t>
            </a:r>
            <a:r>
              <a:rPr lang="de-DE" baseline="0" dirty="0" err="1" smtClean="0"/>
              <a:t>driving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)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possible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33152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Goal of this project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was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to predict the results of FEM simulations (modal properties) without running them</a:t>
            </a:r>
          </a:p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Simulations of complex geometries are computer-intensive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  <a:sym typeface="Wingdings" panose="05000000000000000000" pitchFamily="2" charset="2"/>
              </a:rPr>
              <a:t>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one iteration can take up to an hour</a:t>
            </a:r>
          </a:p>
          <a:p>
            <a:endParaRPr lang="de-DE" dirty="0" smtClean="0"/>
          </a:p>
          <a:p>
            <a:r>
              <a:rPr lang="de-DE" dirty="0" err="1" smtClean="0"/>
              <a:t>FEM</a:t>
            </a:r>
            <a:r>
              <a:rPr lang="de-DE" dirty="0" smtClean="0"/>
              <a:t> </a:t>
            </a:r>
            <a:r>
              <a:rPr lang="de-DE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splitted</a:t>
            </a:r>
            <a:r>
              <a:rPr lang="de-DE" baseline="0" dirty="0" smtClean="0"/>
              <a:t> in 3 </a:t>
            </a:r>
            <a:r>
              <a:rPr lang="de-DE" baseline="0" dirty="0" err="1" smtClean="0"/>
              <a:t>subgoals</a:t>
            </a:r>
            <a:r>
              <a:rPr lang="de-DE" baseline="0" dirty="0" smtClean="0"/>
              <a:t> (different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variables)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longitudinal mode’s frequency (or “long. frequency”)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frequency of all other modes: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Focus near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the longitudinal mode (ex: 5 modes below and 5 modes above). 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uniformity of the displacements (as a number),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instead of all displacement values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endParaRPr lang="de-DE" baseline="0" dirty="0" smtClean="0"/>
          </a:p>
          <a:p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subgoal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visualization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influences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modeling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result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interpretation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described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23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dim_x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dim_z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surface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usually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fixed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dim_y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oscillation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length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tune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frequency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here</a:t>
            </a:r>
            <a:r>
              <a:rPr lang="de-DE" baseline="0" dirty="0" smtClean="0"/>
              <a:t>: 4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5478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 smtClean="0"/>
              <a:t>Before</a:t>
            </a:r>
            <a:r>
              <a:rPr lang="de-DE" dirty="0" smtClean="0"/>
              <a:t> </a:t>
            </a:r>
            <a:r>
              <a:rPr lang="de-DE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dataset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present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away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notions</a:t>
            </a:r>
            <a:r>
              <a:rPr lang="de-DE" baseline="0" dirty="0" smtClean="0"/>
              <a:t>: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the</a:t>
            </a:r>
            <a:r>
              <a:rPr lang="de-DE" dirty="0" smtClean="0"/>
              <a:t> MAC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indicator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comparing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chosen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an ideal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vectors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matter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simplicity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located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bounded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0 (</a:t>
            </a:r>
            <a:r>
              <a:rPr lang="de-DE" baseline="0" dirty="0" err="1" smtClean="0"/>
              <a:t>no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correspondance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1 (</a:t>
            </a:r>
            <a:r>
              <a:rPr lang="de-DE" baseline="0" dirty="0" err="1" smtClean="0"/>
              <a:t>equals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complete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When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simulation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complete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</a:t>
            </a:r>
            <a:r>
              <a:rPr lang="de-DE" dirty="0" err="1" smtClean="0"/>
              <a:t>he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found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comparing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MAC </a:t>
            </a:r>
            <a:r>
              <a:rPr lang="de-DE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every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marked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change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2 geometries.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A design </a:t>
            </a:r>
            <a:r>
              <a:rPr lang="de-DE" dirty="0" err="1" smtClean="0"/>
              <a:t>point</a:t>
            </a:r>
            <a:r>
              <a:rPr lang="de-DE" dirty="0" smtClean="0"/>
              <a:t> </a:t>
            </a:r>
            <a:r>
              <a:rPr lang="de-DE" dirty="0" err="1" smtClean="0"/>
              <a:t>represents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unique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23-dimensional </a:t>
            </a:r>
            <a:r>
              <a:rPr lang="de-DE" baseline="0" dirty="0" err="1" smtClean="0"/>
              <a:t>vector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randomly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picked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inside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defined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keep</a:t>
            </a:r>
            <a:r>
              <a:rPr lang="de-DE" baseline="0" dirty="0" smtClean="0"/>
              <a:t> a valid sonotrode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There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about</a:t>
            </a:r>
            <a:r>
              <a:rPr lang="de-DE" baseline="0" dirty="0" smtClean="0"/>
              <a:t> 8000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was </a:t>
            </a:r>
            <a:r>
              <a:rPr lang="de-DE" baseline="0" dirty="0" err="1" smtClean="0"/>
              <a:t>stored</a:t>
            </a:r>
            <a:r>
              <a:rPr lang="de-DE" baseline="0" dirty="0" smtClean="0"/>
              <a:t> in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written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collection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imported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24,000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into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dataframes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streamlit</a:t>
            </a:r>
            <a:endParaRPr lang="de-DE" dirty="0" smtClean="0"/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60708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* Exploration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</a:t>
            </a:r>
            <a:endParaRPr lang="de-DE" dirty="0" smtClean="0"/>
          </a:p>
          <a:p>
            <a:r>
              <a:rPr lang="de-DE" dirty="0" smtClean="0"/>
              <a:t>4 </a:t>
            </a:r>
            <a:r>
              <a:rPr lang="de-DE" dirty="0" err="1" smtClean="0"/>
              <a:t>dataframes</a:t>
            </a:r>
            <a:r>
              <a:rPr lang="de-DE" dirty="0" smtClean="0"/>
              <a:t>:</a:t>
            </a:r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parameters</a:t>
            </a:r>
            <a:r>
              <a:rPr lang="de-DE" dirty="0" smtClean="0"/>
              <a:t> (3 </a:t>
            </a:r>
            <a:r>
              <a:rPr lang="de-DE" dirty="0" err="1" smtClean="0"/>
              <a:t>parts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(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r>
              <a:rPr lang="de-DE" dirty="0" err="1" smtClean="0"/>
              <a:t>1st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r>
              <a:rPr lang="de-DE" dirty="0" smtClean="0"/>
              <a:t> </a:t>
            </a:r>
            <a:r>
              <a:rPr lang="de-DE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columns</a:t>
            </a:r>
            <a:r>
              <a:rPr lang="de-DE" dirty="0" smtClean="0"/>
              <a:t> </a:t>
            </a:r>
            <a:r>
              <a:rPr lang="de-DE" dirty="0" err="1" smtClean="0"/>
              <a:t>contain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identification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lst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additional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later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criterion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isolation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rows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DP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100)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dirty="0" err="1" smtClean="0"/>
              <a:t>modes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Start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1000, all </a:t>
            </a:r>
            <a:r>
              <a:rPr lang="de-DE" dirty="0" err="1" smtClean="0"/>
              <a:t>modes</a:t>
            </a:r>
            <a:r>
              <a:rPr lang="de-DE" dirty="0" smtClean="0"/>
              <a:t> at </a:t>
            </a:r>
            <a:r>
              <a:rPr lang="de-DE" dirty="0" err="1" smtClean="0"/>
              <a:t>positions</a:t>
            </a:r>
            <a:r>
              <a:rPr lang="de-DE" dirty="0" smtClean="0"/>
              <a:t> 25 </a:t>
            </a:r>
            <a:r>
              <a:rPr lang="de-DE" dirty="0" err="1" smtClean="0"/>
              <a:t>to</a:t>
            </a:r>
            <a:r>
              <a:rPr lang="de-DE" dirty="0" smtClean="0"/>
              <a:t> 100</a:t>
            </a:r>
          </a:p>
          <a:p>
            <a:pPr marL="0" indent="0">
              <a:buFontTx/>
              <a:buNone/>
            </a:pP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, MAC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already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determine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, but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nodes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nodes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coordinates</a:t>
            </a:r>
            <a:r>
              <a:rPr lang="de-DE" dirty="0" smtClean="0"/>
              <a:t> </a:t>
            </a:r>
            <a:r>
              <a:rPr lang="de-DE" dirty="0" err="1" smtClean="0"/>
              <a:t>XYZ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dirty="0" err="1" smtClean="0"/>
              <a:t>defs</a:t>
            </a:r>
            <a:r>
              <a:rPr lang="de-DE" dirty="0" smtClean="0"/>
              <a:t>: </a:t>
            </a:r>
            <a:r>
              <a:rPr lang="de-DE" dirty="0" err="1" smtClean="0"/>
              <a:t>largest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dataframe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the</a:t>
            </a:r>
            <a:r>
              <a:rPr lang="de-DE" dirty="0" smtClean="0"/>
              <a:t> same </a:t>
            </a:r>
            <a:r>
              <a:rPr lang="de-DE" dirty="0" err="1" smtClean="0"/>
              <a:t>combination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25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100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Example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1001:</a:t>
            </a:r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identified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neighboring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* Data </a:t>
            </a:r>
            <a:r>
              <a:rPr lang="de-DE" dirty="0" err="1" smtClean="0"/>
              <a:t>visualization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en-US" dirty="0" smtClean="0"/>
              <a:t>- Distribution of the geometric variables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distribution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slot_x_distance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slot_z_distance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depending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explains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skew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</a:t>
            </a:r>
            <a:r>
              <a:rPr lang="de-DE" baseline="0" dirty="0" smtClean="0"/>
              <a:t>.</a:t>
            </a:r>
            <a:endParaRPr lang="de-DE" dirty="0" smtClean="0"/>
          </a:p>
          <a:p>
            <a:pPr marL="0" indent="0">
              <a:buFontTx/>
              <a:buNone/>
            </a:pPr>
            <a:endParaRPr lang="en-US" dirty="0" smtClean="0"/>
          </a:p>
          <a:p>
            <a:pPr marL="0" indent="0">
              <a:buFontTx/>
              <a:buNone/>
            </a:pPr>
            <a:r>
              <a:rPr lang="en-US" dirty="0" smtClean="0"/>
              <a:t>- Let's go back to DP 1001</a:t>
            </a:r>
          </a:p>
          <a:p>
            <a:pPr marL="0" indent="0">
              <a:buFontTx/>
              <a:buNone/>
            </a:pPr>
            <a:r>
              <a:rPr lang="en-US" dirty="0" smtClean="0"/>
              <a:t>Mode</a:t>
            </a:r>
            <a:r>
              <a:rPr lang="en-US" baseline="0" dirty="0" smtClean="0"/>
              <a:t> 77 (long): all displacements have the same sign</a:t>
            </a:r>
          </a:p>
          <a:p>
            <a:pPr marL="0" indent="0">
              <a:buFontTx/>
              <a:buNone/>
            </a:pPr>
            <a:r>
              <a:rPr lang="de-DE" dirty="0" smtClean="0"/>
              <a:t>Mode 76+78 </a:t>
            </a:r>
            <a:r>
              <a:rPr lang="de-DE" dirty="0" err="1" smtClean="0"/>
              <a:t>are</a:t>
            </a:r>
            <a:r>
              <a:rPr lang="de-DE" dirty="0" smtClean="0"/>
              <a:t> </a:t>
            </a:r>
            <a:r>
              <a:rPr lang="de-DE" dirty="0" err="1" smtClean="0"/>
              <a:t>neighboring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: </a:t>
            </a:r>
            <a:r>
              <a:rPr lang="de-DE" dirty="0" err="1" smtClean="0"/>
              <a:t>delta</a:t>
            </a:r>
            <a:r>
              <a:rPr lang="de-DE" dirty="0" smtClean="0"/>
              <a:t>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only</a:t>
            </a:r>
            <a:r>
              <a:rPr lang="de-DE" dirty="0" smtClean="0"/>
              <a:t> 61 Hz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0589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added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features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dataset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 sonotrode </a:t>
            </a:r>
            <a:r>
              <a:rPr lang="de-DE" dirty="0" err="1" smtClean="0"/>
              <a:t>needs</a:t>
            </a:r>
            <a:r>
              <a:rPr lang="de-DE" dirty="0" smtClean="0"/>
              <a:t> </a:t>
            </a:r>
            <a:r>
              <a:rPr lang="de-DE" dirty="0" err="1" smtClean="0"/>
              <a:t>slots</a:t>
            </a:r>
            <a:r>
              <a:rPr lang="de-DE" dirty="0" smtClean="0"/>
              <a:t> in </a:t>
            </a:r>
            <a:r>
              <a:rPr lang="de-DE" dirty="0" err="1" smtClean="0"/>
              <a:t>both</a:t>
            </a:r>
            <a:r>
              <a:rPr lang="de-DE" dirty="0" smtClean="0"/>
              <a:t> </a:t>
            </a:r>
            <a:r>
              <a:rPr lang="de-DE" dirty="0" err="1" smtClean="0"/>
              <a:t>directions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acoustical</a:t>
            </a:r>
            <a:r>
              <a:rPr lang="de-DE" dirty="0" smtClean="0"/>
              <a:t> </a:t>
            </a:r>
            <a:r>
              <a:rPr lang="de-DE" dirty="0" err="1" smtClean="0"/>
              <a:t>reasons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variable. </a:t>
            </a:r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generation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design </a:t>
            </a:r>
            <a:r>
              <a:rPr lang="de-DE" baseline="0" dirty="0" err="1" smtClean="0"/>
              <a:t>points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width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needs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depth</a:t>
            </a:r>
            <a:r>
              <a:rPr lang="de-DE" baseline="0" dirty="0" smtClean="0"/>
              <a:t>.</a:t>
            </a:r>
            <a:endParaRPr lang="de-DE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numbers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categorical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forming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values</a:t>
            </a:r>
            <a:endParaRPr lang="de-DE" baseline="0" dirty="0" smtClean="0"/>
          </a:p>
          <a:p>
            <a:endParaRPr lang="de-DE" baseline="0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themselves</a:t>
            </a:r>
            <a:r>
              <a:rPr lang="de-DE" baseline="0" dirty="0" smtClean="0"/>
              <a:t> was not </a:t>
            </a:r>
            <a:r>
              <a:rPr lang="de-DE" baseline="0" dirty="0" err="1" smtClean="0"/>
              <a:t>successful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Since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3rd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introduced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evaluate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Norm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Displacement</a:t>
            </a:r>
            <a:r>
              <a:rPr lang="de-DE" baseline="0" dirty="0" smtClean="0"/>
              <a:t> Deviation (</a:t>
            </a:r>
            <a:r>
              <a:rPr lang="de-DE" baseline="0" dirty="0" err="1" smtClean="0"/>
              <a:t>called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obtained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squared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summed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nodes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root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gives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34785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A </a:t>
            </a:r>
            <a:r>
              <a:rPr lang="de-DE" dirty="0" err="1" smtClean="0"/>
              <a:t>low</a:t>
            </a:r>
            <a:r>
              <a:rPr lang="de-DE" dirty="0" smtClean="0"/>
              <a:t> </a:t>
            </a:r>
            <a:r>
              <a:rPr lang="de-DE" dirty="0" err="1" smtClean="0"/>
              <a:t>value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NRDD</a:t>
            </a:r>
            <a:r>
              <a:rPr lang="de-DE" dirty="0" smtClean="0"/>
              <a:t> </a:t>
            </a:r>
            <a:r>
              <a:rPr lang="de-DE" dirty="0" err="1" smtClean="0"/>
              <a:t>corresponds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high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uniformities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)</a:t>
            </a:r>
          </a:p>
          <a:p>
            <a:r>
              <a:rPr lang="de-DE" dirty="0" smtClean="0"/>
              <a:t>As an </a:t>
            </a:r>
            <a:r>
              <a:rPr lang="de-DE" dirty="0" err="1" smtClean="0"/>
              <a:t>example</a:t>
            </a:r>
            <a:r>
              <a:rPr lang="de-DE" dirty="0" smtClean="0"/>
              <a:t>, </a:t>
            </a: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most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= 1.3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graph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shows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endParaRPr lang="de-DE" baseline="0" dirty="0" smtClean="0"/>
          </a:p>
          <a:p>
            <a:r>
              <a:rPr lang="de-DE" baseline="0" dirty="0" err="1" smtClean="0"/>
              <a:t>You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probably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ask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why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did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variable. The </a:t>
            </a:r>
            <a:r>
              <a:rPr lang="de-DE" baseline="0" dirty="0" err="1" smtClean="0"/>
              <a:t>reason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slightly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So I </a:t>
            </a:r>
            <a:r>
              <a:rPr lang="de-DE" baseline="0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</a:t>
            </a:r>
            <a:r>
              <a:rPr lang="de-DE" baseline="0" dirty="0" smtClean="0"/>
              <a:t> on in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</a:t>
            </a:r>
            <a:r>
              <a:rPr lang="de-DE" baseline="0" dirty="0" smtClean="0"/>
              <a:t>.</a:t>
            </a:r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73128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won‘t</a:t>
            </a:r>
            <a:r>
              <a:rPr lang="de-DE" dirty="0" smtClean="0"/>
              <a:t> </a:t>
            </a:r>
            <a:r>
              <a:rPr lang="de-DE" dirty="0" err="1" smtClean="0"/>
              <a:t>present</a:t>
            </a:r>
            <a:r>
              <a:rPr lang="de-DE" dirty="0" smtClean="0"/>
              <a:t> all </a:t>
            </a:r>
            <a:r>
              <a:rPr lang="de-DE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tested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overview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achieved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targets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presentation</a:t>
            </a:r>
            <a:r>
              <a:rPr lang="de-DE" dirty="0" smtClean="0"/>
              <a:t>,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f</a:t>
            </a:r>
            <a:r>
              <a:rPr lang="de-DE" dirty="0" err="1" smtClean="0"/>
              <a:t>ocus</a:t>
            </a:r>
            <a:r>
              <a:rPr lang="de-DE" dirty="0" smtClean="0"/>
              <a:t> in </a:t>
            </a:r>
            <a:r>
              <a:rPr lang="de-DE" dirty="0" err="1" smtClean="0"/>
              <a:t>Streamlit</a:t>
            </a:r>
            <a:r>
              <a:rPr lang="de-DE" baseline="0" dirty="0" smtClean="0"/>
              <a:t> on </a:t>
            </a:r>
            <a:r>
              <a:rPr lang="de-DE" dirty="0" err="1" smtClean="0"/>
              <a:t>the</a:t>
            </a:r>
            <a:r>
              <a:rPr lang="de-DE" dirty="0" smtClean="0"/>
              <a:t> 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single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contrary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score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easy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interpret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endParaRPr lang="de-DE" baseline="0" dirty="0" smtClean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72730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# Long </a:t>
            </a:r>
            <a:r>
              <a:rPr lang="de-DE" dirty="0" err="1" smtClean="0"/>
              <a:t>frequencies</a:t>
            </a:r>
            <a:r>
              <a:rPr lang="de-DE" dirty="0" smtClean="0"/>
              <a:t>:</a:t>
            </a:r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smtClean="0"/>
              <a:t># </a:t>
            </a:r>
            <a:r>
              <a:rPr lang="de-DE" dirty="0" err="1" smtClean="0"/>
              <a:t>LGBM</a:t>
            </a:r>
            <a:r>
              <a:rPr lang="de-DE" dirty="0" smtClean="0"/>
              <a:t> </a:t>
            </a:r>
            <a:r>
              <a:rPr lang="de-DE" dirty="0" err="1" smtClean="0"/>
              <a:t>base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:                                  </a:t>
            </a:r>
            <a:r>
              <a:rPr lang="de-DE" dirty="0" err="1" smtClean="0"/>
              <a:t>y_true</a:t>
            </a:r>
            <a:r>
              <a:rPr lang="de-DE" dirty="0" smtClean="0"/>
              <a:t> </a:t>
            </a:r>
            <a:r>
              <a:rPr lang="de-DE" dirty="0" err="1" smtClean="0"/>
              <a:t>y_pred</a:t>
            </a:r>
            <a:r>
              <a:rPr lang="de-DE" dirty="0" smtClean="0"/>
              <a:t>       </a:t>
            </a:r>
            <a:r>
              <a:rPr lang="de-DE" dirty="0" err="1" smtClean="0"/>
              <a:t>residuals</a:t>
            </a:r>
            <a:endParaRPr lang="de-DE" dirty="0" smtClean="0"/>
          </a:p>
          <a:p>
            <a:r>
              <a:rPr lang="de-DE" dirty="0" smtClean="0"/>
              <a:t># </a:t>
            </a:r>
            <a:r>
              <a:rPr lang="de-DE" dirty="0" err="1" smtClean="0"/>
              <a:t>LGBM</a:t>
            </a:r>
            <a:r>
              <a:rPr lang="de-DE" dirty="0" smtClean="0"/>
              <a:t> </a:t>
            </a:r>
            <a:r>
              <a:rPr lang="de-DE" dirty="0" err="1" smtClean="0"/>
              <a:t>base</a:t>
            </a:r>
            <a:r>
              <a:rPr lang="de-DE" dirty="0" smtClean="0"/>
              <a:t> + </a:t>
            </a:r>
            <a:r>
              <a:rPr lang="de-DE" dirty="0" err="1" smtClean="0"/>
              <a:t>tuned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                          </a:t>
            </a:r>
            <a:r>
              <a:rPr lang="de-DE" dirty="0" err="1" smtClean="0"/>
              <a:t>y_true</a:t>
            </a:r>
            <a:r>
              <a:rPr lang="de-DE" dirty="0" smtClean="0"/>
              <a:t>  </a:t>
            </a:r>
            <a:r>
              <a:rPr lang="de-DE" dirty="0" err="1" smtClean="0"/>
              <a:t>y_pred</a:t>
            </a:r>
            <a:r>
              <a:rPr lang="de-DE" dirty="0" smtClean="0"/>
              <a:t>      </a:t>
            </a:r>
            <a:r>
              <a:rPr lang="de-DE" dirty="0" err="1" smtClean="0"/>
              <a:t>residuals</a:t>
            </a:r>
            <a:endParaRPr lang="de-DE" dirty="0" smtClean="0"/>
          </a:p>
          <a:p>
            <a:r>
              <a:rPr lang="de-DE" dirty="0" smtClean="0"/>
              <a:t># </a:t>
            </a:r>
            <a:r>
              <a:rPr lang="de-DE" dirty="0" err="1" smtClean="0"/>
              <a:t>LGBM</a:t>
            </a:r>
            <a:r>
              <a:rPr lang="de-DE" dirty="0" smtClean="0"/>
              <a:t> </a:t>
            </a:r>
            <a:r>
              <a:rPr lang="de-DE" dirty="0" err="1" smtClean="0"/>
              <a:t>base</a:t>
            </a:r>
            <a:r>
              <a:rPr lang="de-DE" dirty="0" smtClean="0"/>
              <a:t> + </a:t>
            </a:r>
            <a:r>
              <a:rPr lang="de-DE" dirty="0" err="1" smtClean="0"/>
              <a:t>tuned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+ </a:t>
            </a:r>
            <a:r>
              <a:rPr lang="de-DE" dirty="0" err="1" smtClean="0"/>
              <a:t>filtered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          </a:t>
            </a:r>
            <a:r>
              <a:rPr lang="de-DE" dirty="0" err="1" smtClean="0"/>
              <a:t>y_true</a:t>
            </a:r>
            <a:r>
              <a:rPr lang="de-DE" dirty="0" smtClean="0"/>
              <a:t>  </a:t>
            </a:r>
            <a:r>
              <a:rPr lang="de-DE" dirty="0" err="1" smtClean="0"/>
              <a:t>y_pred</a:t>
            </a:r>
            <a:r>
              <a:rPr lang="de-DE" dirty="0" smtClean="0"/>
              <a:t>      </a:t>
            </a:r>
            <a:r>
              <a:rPr lang="de-DE" dirty="0" err="1" smtClean="0"/>
              <a:t>residuals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#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residuals</a:t>
            </a:r>
            <a:r>
              <a:rPr lang="de-DE" dirty="0" smtClean="0"/>
              <a:t> = f(MAC </a:t>
            </a:r>
            <a:r>
              <a:rPr lang="de-DE" dirty="0" err="1" smtClean="0"/>
              <a:t>value</a:t>
            </a:r>
            <a:r>
              <a:rPr lang="de-DE" dirty="0" smtClean="0"/>
              <a:t>)</a:t>
            </a:r>
          </a:p>
          <a:p>
            <a:endParaRPr lang="de-DE" dirty="0" smtClean="0"/>
          </a:p>
          <a:p>
            <a:r>
              <a:rPr lang="de-DE" dirty="0" smtClean="0"/>
              <a:t># Points Best &amp;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radio</a:t>
            </a:r>
            <a:r>
              <a:rPr lang="de-DE" dirty="0" smtClean="0"/>
              <a:t>) </a:t>
            </a:r>
            <a:r>
              <a:rPr lang="de-DE" dirty="0" err="1" smtClean="0"/>
              <a:t>best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r>
              <a:rPr lang="de-DE" dirty="0" smtClean="0"/>
              <a:t>,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endParaRPr lang="de-DE" dirty="0" smtClean="0"/>
          </a:p>
          <a:p>
            <a:r>
              <a:rPr lang="de-DE" dirty="0" smtClean="0"/>
              <a:t># </a:t>
            </a:r>
            <a:r>
              <a:rPr lang="de-DE" dirty="0" err="1" smtClean="0"/>
              <a:t>Frequency</a:t>
            </a:r>
            <a:r>
              <a:rPr lang="de-DE" dirty="0" smtClean="0"/>
              <a:t>, MAC </a:t>
            </a:r>
            <a:r>
              <a:rPr lang="de-DE" dirty="0" err="1" smtClean="0"/>
              <a:t>values</a:t>
            </a:r>
            <a:r>
              <a:rPr lang="de-DE" dirty="0" smtClean="0"/>
              <a:t>, </a:t>
            </a:r>
            <a:r>
              <a:rPr lang="de-DE" dirty="0" err="1" smtClean="0"/>
              <a:t>displacements</a:t>
            </a:r>
            <a:r>
              <a:rPr lang="de-DE" dirty="0" smtClean="0"/>
              <a:t>, </a:t>
            </a: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neighbor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endParaRPr lang="de-DE" dirty="0" smtClean="0"/>
          </a:p>
          <a:p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filtering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training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improved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accuracy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06661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45031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02759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37320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023399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27952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6458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15160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77082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5524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4972347" y="9289839"/>
            <a:ext cx="1313565" cy="240341"/>
          </a:xfrm>
          <a:prstGeom prst="rect">
            <a:avLst/>
          </a:prstGeom>
        </p:spPr>
        <p:txBody>
          <a:bodyPr/>
          <a:lstStyle/>
          <a:p>
            <a:fld id="{34E13925-E938-4228-AE74-92AB500038AB}" type="slidenum">
              <a:rPr lang="de-DE" smtClean="0"/>
              <a:pPr/>
              <a:t>21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365997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213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Bild groß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539" y="2733675"/>
            <a:ext cx="8279073" cy="19431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451645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HUG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4240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PL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7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7981" b="7981"/>
          <a:stretch/>
        </p:blipFill>
        <p:spPr bwMode="gray">
          <a:xfrm>
            <a:off x="431539" y="2733675"/>
            <a:ext cx="8279073" cy="194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4286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PK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88" y="2731879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446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NW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48" y="2732775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8139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MT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5" name="Grafik 6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772" y="2745032"/>
            <a:ext cx="8280000" cy="194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999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HU ACADEMY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4" name="Grafik 6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4885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4" name="Bildplatzhalter 3"/>
          <p:cNvSpPr>
            <a:spLocks noGrp="1"/>
          </p:cNvSpPr>
          <p:nvPr>
            <p:ph type="pic" sz="quarter" idx="24"/>
          </p:nvPr>
        </p:nvSpPr>
        <p:spPr>
          <a:xfrm>
            <a:off x="4608513" y="862014"/>
            <a:ext cx="4105275" cy="381476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smtClean="0"/>
              <a:t>Bild durch Klicken auf Symbol hinzufügen</a:t>
            </a:r>
            <a:endParaRPr lang="de-DE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2472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5485" y="87051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47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L/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8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54697" r="15247"/>
          <a:stretch/>
        </p:blipFill>
        <p:spPr bwMode="gray">
          <a:xfrm>
            <a:off x="4600201" y="869355"/>
            <a:ext cx="4105275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48292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8808" y="87857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22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N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3552" y="871829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974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apiteltrenner_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9" name="Grafik 3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2048" y="862363"/>
            <a:ext cx="4111740" cy="38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284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Textplatzhalter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431800" y="468278"/>
            <a:ext cx="6444456" cy="300675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5667636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platzhalter 14"/>
          <p:cNvSpPr>
            <a:spLocks noGrp="1"/>
          </p:cNvSpPr>
          <p:nvPr>
            <p:ph type="body" sz="quarter" idx="13"/>
          </p:nvPr>
        </p:nvSpPr>
        <p:spPr bwMode="gray">
          <a:xfrm>
            <a:off x="431800" y="864394"/>
            <a:ext cx="8278988" cy="3814762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4" name="Foliennummernplatzhalter 4"/>
          <p:cNvSpPr>
            <a:spLocks noGrp="1"/>
          </p:cNvSpPr>
          <p:nvPr>
            <p:ph type="sldNum" sz="quarter" idx="1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B3FB55F-4BDC-4E07-AC86-33CFA4FC381D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16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6149675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29"/>
          </p:nvPr>
        </p:nvSpPr>
        <p:spPr bwMode="gray">
          <a:xfrm>
            <a:off x="434180" y="864543"/>
            <a:ext cx="410368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5"/>
          <p:cNvSpPr>
            <a:spLocks noGrp="1"/>
          </p:cNvSpPr>
          <p:nvPr>
            <p:ph type="body" sz="quarter" idx="33"/>
          </p:nvPr>
        </p:nvSpPr>
        <p:spPr bwMode="gray">
          <a:xfrm>
            <a:off x="4610894" y="864543"/>
            <a:ext cx="4102275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698515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/SSCR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/>
          <p:cNvSpPr/>
          <p:nvPr userDrawn="1"/>
        </p:nvSpPr>
        <p:spPr bwMode="gray">
          <a:xfrm>
            <a:off x="431799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3" name="Rechteck 12"/>
          <p:cNvSpPr/>
          <p:nvPr userDrawn="1"/>
        </p:nvSpPr>
        <p:spPr bwMode="gray">
          <a:xfrm>
            <a:off x="4608513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4" name="Rechteck 13"/>
          <p:cNvSpPr/>
          <p:nvPr userDrawn="1"/>
        </p:nvSpPr>
        <p:spPr bwMode="gray">
          <a:xfrm>
            <a:off x="431800" y="2806701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C</a:t>
            </a:r>
          </a:p>
        </p:txBody>
      </p:sp>
      <p:sp>
        <p:nvSpPr>
          <p:cNvPr id="15" name="Rechteck 14"/>
          <p:cNvSpPr/>
          <p:nvPr userDrawn="1"/>
        </p:nvSpPr>
        <p:spPr bwMode="gray">
          <a:xfrm>
            <a:off x="4608513" y="2806701"/>
            <a:ext cx="4101604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R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18" name="Textfeld 17"/>
          <p:cNvSpPr txBox="1"/>
          <p:nvPr userDrawn="1"/>
        </p:nvSpPr>
        <p:spPr bwMode="gray">
          <a:xfrm>
            <a:off x="440902" y="86758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Stärken</a:t>
            </a:r>
          </a:p>
        </p:txBody>
      </p:sp>
      <p:sp>
        <p:nvSpPr>
          <p:cNvPr id="28" name="Textplatzhalter 27"/>
          <p:cNvSpPr>
            <a:spLocks noGrp="1"/>
          </p:cNvSpPr>
          <p:nvPr>
            <p:ph type="body" sz="quarter" idx="40"/>
          </p:nvPr>
        </p:nvSpPr>
        <p:spPr>
          <a:xfrm>
            <a:off x="4614863" y="1167984"/>
            <a:ext cx="4102100" cy="1565691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29" name="Textplatzhalter 27"/>
          <p:cNvSpPr>
            <a:spLocks noGrp="1"/>
          </p:cNvSpPr>
          <p:nvPr>
            <p:ph type="body" sz="quarter" idx="41"/>
          </p:nvPr>
        </p:nvSpPr>
        <p:spPr>
          <a:xfrm>
            <a:off x="436072" y="1174336"/>
            <a:ext cx="4102100" cy="1565414"/>
          </a:xfrm>
        </p:spPr>
        <p:txBody>
          <a:bodyPr/>
          <a:lstStyle>
            <a:lvl1pPr marL="269875" indent="-182563">
              <a:buClr>
                <a:schemeClr val="accent2"/>
              </a:buClr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1" name="Textfeld 30"/>
          <p:cNvSpPr txBox="1"/>
          <p:nvPr userDrawn="1"/>
        </p:nvSpPr>
        <p:spPr bwMode="gray">
          <a:xfrm>
            <a:off x="436040" y="2813504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Chancen</a:t>
            </a:r>
          </a:p>
        </p:txBody>
      </p:sp>
      <p:sp>
        <p:nvSpPr>
          <p:cNvPr id="33" name="Textfeld 32"/>
          <p:cNvSpPr txBox="1"/>
          <p:nvPr userDrawn="1"/>
        </p:nvSpPr>
        <p:spPr bwMode="gray">
          <a:xfrm>
            <a:off x="4619152" y="281130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Risiken</a:t>
            </a:r>
          </a:p>
        </p:txBody>
      </p:sp>
      <p:sp>
        <p:nvSpPr>
          <p:cNvPr id="34" name="Textfeld 33"/>
          <p:cNvSpPr txBox="1"/>
          <p:nvPr userDrawn="1"/>
        </p:nvSpPr>
        <p:spPr bwMode="gray">
          <a:xfrm>
            <a:off x="4615993" y="869949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Schwächen</a:t>
            </a:r>
          </a:p>
        </p:txBody>
      </p:sp>
      <p:sp>
        <p:nvSpPr>
          <p:cNvPr id="35" name="Textplatzhalter 27"/>
          <p:cNvSpPr>
            <a:spLocks noGrp="1"/>
          </p:cNvSpPr>
          <p:nvPr>
            <p:ph type="body" sz="quarter" idx="42"/>
          </p:nvPr>
        </p:nvSpPr>
        <p:spPr>
          <a:xfrm>
            <a:off x="4614560" y="3112674"/>
            <a:ext cx="4102100" cy="1566000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6" name="Textplatzhalter 27"/>
          <p:cNvSpPr>
            <a:spLocks noGrp="1"/>
          </p:cNvSpPr>
          <p:nvPr>
            <p:ph type="body" sz="quarter" idx="43"/>
          </p:nvPr>
        </p:nvSpPr>
        <p:spPr>
          <a:xfrm>
            <a:off x="435769" y="3114876"/>
            <a:ext cx="4102100" cy="1565414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750911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870" y="864543"/>
            <a:ext cx="2016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1" y="864543"/>
            <a:ext cx="619124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59744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97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1801" y="863973"/>
            <a:ext cx="410527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426894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0950" y="863973"/>
            <a:ext cx="6192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863973"/>
            <a:ext cx="201612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645893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10894" y="86439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0" y="864393"/>
            <a:ext cx="4105275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349882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 Bild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2" y="2806822"/>
            <a:ext cx="4103686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3"/>
          <p:cNvSpPr>
            <a:spLocks noGrp="1"/>
          </p:cNvSpPr>
          <p:nvPr>
            <p:ph type="body" sz="quarter" idx="34"/>
          </p:nvPr>
        </p:nvSpPr>
        <p:spPr bwMode="gray">
          <a:xfrm>
            <a:off x="4610894" y="2806822"/>
            <a:ext cx="4102275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0931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qu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4611484" y="28067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34772" y="28067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1120138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2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608513" y="863972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864393"/>
            <a:ext cx="4105273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2806725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148292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oben + Text unten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772" y="863972"/>
            <a:ext cx="8279016" cy="329020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4227934"/>
            <a:ext cx="8281987" cy="450429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730231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/3 + Text 1/3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799" y="863971"/>
            <a:ext cx="5148321" cy="381439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5656961" y="863971"/>
            <a:ext cx="3053827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290496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19363" y="864394"/>
            <a:ext cx="6192837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97427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1" y="864394"/>
            <a:ext cx="619283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166865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hoch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5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1936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0851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874070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9" name="Textplatzhalter 3"/>
          <p:cNvSpPr>
            <a:spLocks noGrp="1"/>
          </p:cNvSpPr>
          <p:nvPr>
            <p:ph type="body" sz="quarter" idx="35"/>
          </p:nvPr>
        </p:nvSpPr>
        <p:spPr bwMode="gray">
          <a:xfrm>
            <a:off x="434183" y="2807494"/>
            <a:ext cx="2015998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Textplatzhalter 3"/>
          <p:cNvSpPr>
            <a:spLocks noGrp="1"/>
          </p:cNvSpPr>
          <p:nvPr>
            <p:ph type="body" sz="quarter" idx="36"/>
          </p:nvPr>
        </p:nvSpPr>
        <p:spPr bwMode="gray">
          <a:xfrm>
            <a:off x="2520950" y="2807494"/>
            <a:ext cx="2016000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3" name="Textplatzhalter 3"/>
          <p:cNvSpPr>
            <a:spLocks noGrp="1"/>
          </p:cNvSpPr>
          <p:nvPr>
            <p:ph type="body" sz="quarter" idx="37"/>
          </p:nvPr>
        </p:nvSpPr>
        <p:spPr bwMode="gray">
          <a:xfrm>
            <a:off x="4610895" y="2807494"/>
            <a:ext cx="2014536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4" name="Textplatzhalter 3"/>
          <p:cNvSpPr>
            <a:spLocks noGrp="1"/>
          </p:cNvSpPr>
          <p:nvPr>
            <p:ph type="body" sz="quarter" idx="38"/>
          </p:nvPr>
        </p:nvSpPr>
        <p:spPr bwMode="gray">
          <a:xfrm>
            <a:off x="6696870" y="2807494"/>
            <a:ext cx="2011537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5"/>
            <a:ext cx="2016125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004688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5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6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7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5083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9" name="Bildplatzhalter 10"/>
          <p:cNvSpPr>
            <a:spLocks noGrp="1"/>
          </p:cNvSpPr>
          <p:nvPr>
            <p:ph type="pic" sz="quarter" idx="35"/>
          </p:nvPr>
        </p:nvSpPr>
        <p:spPr bwMode="gray">
          <a:xfrm>
            <a:off x="434182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0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252174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1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61089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2" name="Bildplatzhalter 10"/>
          <p:cNvSpPr>
            <a:spLocks noGrp="1"/>
          </p:cNvSpPr>
          <p:nvPr>
            <p:ph type="pic" sz="quarter" idx="38"/>
          </p:nvPr>
        </p:nvSpPr>
        <p:spPr bwMode="gray">
          <a:xfrm>
            <a:off x="6696075" y="2808252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4983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l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2" y="864394"/>
            <a:ext cx="827898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475646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459379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s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1744" y="864393"/>
            <a:ext cx="619283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1900705"/>
            <a:ext cx="2016123" cy="2776069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35"/>
          </p:nvPr>
        </p:nvSpPr>
        <p:spPr bwMode="gray">
          <a:xfrm>
            <a:off x="434181" y="865084"/>
            <a:ext cx="2016125" cy="936000"/>
          </a:xfrm>
        </p:spPr>
        <p:txBody>
          <a:bodyPr/>
          <a:lstStyle/>
          <a:p>
            <a:r>
              <a:rPr lang="de-DE" smtClean="0"/>
              <a:t>Bild durch Klicken auf Symbol hinzufügen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973543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8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8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32220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010449" y="864691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7" name="Textplatzhalter 11"/>
          <p:cNvSpPr>
            <a:spLocks noGrp="1"/>
          </p:cNvSpPr>
          <p:nvPr>
            <p:ph type="body" sz="quarter" idx="35"/>
          </p:nvPr>
        </p:nvSpPr>
        <p:spPr bwMode="gray">
          <a:xfrm>
            <a:off x="322200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01045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319092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1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698456" y="864393"/>
            <a:ext cx="2014374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696074" y="4244659"/>
            <a:ext cx="201437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2521744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4" name="Textplatzhalter 11"/>
          <p:cNvSpPr>
            <a:spLocks noGrp="1"/>
          </p:cNvSpPr>
          <p:nvPr>
            <p:ph type="body" sz="quarter" idx="38"/>
          </p:nvPr>
        </p:nvSpPr>
        <p:spPr bwMode="gray">
          <a:xfrm>
            <a:off x="2521744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9"/>
          </p:nvPr>
        </p:nvSpPr>
        <p:spPr bwMode="gray">
          <a:xfrm>
            <a:off x="4608513" y="863324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Textplatzhalter 11"/>
          <p:cNvSpPr>
            <a:spLocks noGrp="1"/>
          </p:cNvSpPr>
          <p:nvPr>
            <p:ph type="body" sz="quarter" idx="40"/>
          </p:nvPr>
        </p:nvSpPr>
        <p:spPr bwMode="gray">
          <a:xfrm>
            <a:off x="4610894" y="4239830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2945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chlussfolie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 bwMode="gray">
          <a:xfrm>
            <a:off x="431799" y="3040063"/>
            <a:ext cx="4103690" cy="359779"/>
          </a:xfrm>
        </p:spPr>
        <p:txBody>
          <a:bodyPr anchor="t"/>
          <a:lstStyle>
            <a:lvl1pPr algn="l">
              <a:defRPr/>
            </a:lvl1pPr>
          </a:lstStyle>
          <a:p>
            <a:pPr lvl="0"/>
            <a:r>
              <a:rPr lang="de-DE" dirty="0" smtClean="0"/>
              <a:t>Herrmann Ultraschall</a:t>
            </a:r>
          </a:p>
        </p:txBody>
      </p:sp>
      <p:sp>
        <p:nvSpPr>
          <p:cNvPr id="21" name="Datumsplatzhalter 20"/>
          <p:cNvSpPr>
            <a:spLocks noGrp="1"/>
          </p:cNvSpPr>
          <p:nvPr>
            <p:ph type="dt" sz="half" idx="11"/>
          </p:nvPr>
        </p:nvSpPr>
        <p:spPr bwMode="gray">
          <a:xfrm>
            <a:off x="1871799" y="5337282"/>
            <a:ext cx="6480625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3" name="Foliennummernplatzhalter 22"/>
          <p:cNvSpPr>
            <a:spLocks noGrp="1"/>
          </p:cNvSpPr>
          <p:nvPr>
            <p:ph type="sldNum" sz="quarter" idx="12"/>
          </p:nvPr>
        </p:nvSpPr>
        <p:spPr bwMode="gray">
          <a:xfrm>
            <a:off x="8352424" y="53372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43" name="Gruppieren 42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44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5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6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7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8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9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0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1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2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3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4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5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6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7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8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9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0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1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2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3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4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5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6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7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8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9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0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1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2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3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41" name="Picture 4" descr="P:\Projekte\Herrmann_Ultraschall\06_TEMPLATE\_INPUT_KUNDE\_bilder_QZ\Herrmann_Bilder_HQs_Gebäude\img_HUG_HQ_00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gray">
          <a:xfrm>
            <a:off x="0" y="0"/>
            <a:ext cx="9144000" cy="2764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Textplatzhalter 2"/>
          <p:cNvSpPr txBox="1">
            <a:spLocks/>
          </p:cNvSpPr>
          <p:nvPr userDrawn="1"/>
        </p:nvSpPr>
        <p:spPr bwMode="gray">
          <a:xfrm>
            <a:off x="4610870" y="3383514"/>
            <a:ext cx="4103688" cy="156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de-DE" b="1" dirty="0"/>
              <a:t>North </a:t>
            </a:r>
            <a:r>
              <a:rPr lang="de-DE" b="1" dirty="0" err="1"/>
              <a:t>America</a:t>
            </a:r>
            <a:r>
              <a:rPr lang="de-DE" b="1" dirty="0"/>
              <a:t>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, </a:t>
            </a:r>
            <a:r>
              <a:rPr lang="de-DE" dirty="0" smtClean="0"/>
              <a:t>Inc. Bartlett</a:t>
            </a:r>
            <a:r>
              <a:rPr lang="de-DE" dirty="0"/>
              <a:t>, IL, </a:t>
            </a:r>
            <a:r>
              <a:rPr lang="de-DE" dirty="0" smtClean="0"/>
              <a:t>USA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China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 Co. </a:t>
            </a:r>
            <a:r>
              <a:rPr lang="de-DE" dirty="0" smtClean="0"/>
              <a:t>Ltd</a:t>
            </a:r>
            <a:r>
              <a:rPr lang="de-DE" dirty="0"/>
              <a:t>. </a:t>
            </a:r>
            <a:r>
              <a:rPr lang="de-DE" dirty="0" err="1"/>
              <a:t>Taicang</a:t>
            </a:r>
            <a:r>
              <a:rPr lang="de-DE" dirty="0"/>
              <a:t>, </a:t>
            </a:r>
            <a:r>
              <a:rPr lang="de-DE" dirty="0" err="1"/>
              <a:t>Jiangsu</a:t>
            </a:r>
            <a:r>
              <a:rPr lang="de-DE" dirty="0"/>
              <a:t> </a:t>
            </a:r>
            <a:r>
              <a:rPr lang="de-DE" dirty="0" err="1"/>
              <a:t>Province</a:t>
            </a:r>
            <a:r>
              <a:rPr lang="de-DE" dirty="0"/>
              <a:t>, </a:t>
            </a:r>
            <a:r>
              <a:rPr lang="de-DE" dirty="0" smtClean="0"/>
              <a:t>China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Japan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</a:t>
            </a:r>
            <a:r>
              <a:rPr lang="de-DE" dirty="0"/>
              <a:t> Japan Co. </a:t>
            </a:r>
            <a:r>
              <a:rPr lang="de-DE" dirty="0" smtClean="0"/>
              <a:t>Ltd. </a:t>
            </a:r>
            <a:r>
              <a:rPr lang="de-DE" dirty="0" err="1" smtClean="0"/>
              <a:t>Kashiwa</a:t>
            </a:r>
            <a:r>
              <a:rPr lang="de-DE" dirty="0" smtClean="0"/>
              <a:t> </a:t>
            </a:r>
            <a:r>
              <a:rPr lang="de-DE" dirty="0"/>
              <a:t>City, Chiba, Japan</a:t>
            </a:r>
          </a:p>
        </p:txBody>
      </p:sp>
      <p:sp>
        <p:nvSpPr>
          <p:cNvPr id="39" name="Textfeld 38"/>
          <p:cNvSpPr txBox="1"/>
          <p:nvPr userDrawn="1"/>
        </p:nvSpPr>
        <p:spPr bwMode="gray">
          <a:xfrm>
            <a:off x="429441" y="3399842"/>
            <a:ext cx="4107633" cy="162018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de-DE" sz="1200" b="1" dirty="0" smtClean="0">
                <a:latin typeface="+mn-lt"/>
              </a:rPr>
              <a:t>Global Headquarters</a:t>
            </a:r>
          </a:p>
          <a:p>
            <a:r>
              <a:rPr lang="de-DE" sz="1200" b="1" dirty="0" smtClean="0">
                <a:latin typeface="+mn-lt"/>
              </a:rPr>
              <a:t>Herrmann Ultraschalltechnik GmbH &amp; Co. KG</a:t>
            </a:r>
          </a:p>
          <a:p>
            <a:r>
              <a:rPr lang="de-DE" sz="1200" dirty="0" err="1" smtClean="0">
                <a:latin typeface="+mn-lt"/>
              </a:rPr>
              <a:t>Descostraße</a:t>
            </a:r>
            <a:r>
              <a:rPr lang="de-DE" sz="1200" dirty="0" smtClean="0">
                <a:latin typeface="+mn-lt"/>
              </a:rPr>
              <a:t> 3–11 · 76307 Karlsbad, Germany</a:t>
            </a:r>
          </a:p>
          <a:p>
            <a:endParaRPr lang="de-DE" sz="1200" dirty="0" smtClean="0">
              <a:latin typeface="+mn-lt"/>
            </a:endParaRPr>
          </a:p>
          <a:p>
            <a:endParaRPr lang="de-DE" sz="1200" dirty="0" smtClean="0">
              <a:latin typeface="+mn-lt"/>
            </a:endParaRPr>
          </a:p>
          <a:p>
            <a:r>
              <a:rPr lang="de-DE" sz="1200" dirty="0" smtClean="0">
                <a:latin typeface="+mn-lt"/>
              </a:rPr>
              <a:t/>
            </a:r>
            <a:br>
              <a:rPr lang="de-DE" sz="1200" dirty="0" smtClean="0">
                <a:latin typeface="+mn-lt"/>
              </a:rPr>
            </a:br>
            <a:endParaRPr lang="de-DE" sz="1200" dirty="0" smtClean="0">
              <a:latin typeface="+mn-lt"/>
            </a:endParaRPr>
          </a:p>
          <a:p>
            <a:r>
              <a:rPr lang="de-DE" sz="1200" b="1" dirty="0" smtClean="0">
                <a:solidFill>
                  <a:srgbClr val="FF0000"/>
                </a:solidFill>
                <a:latin typeface="+mn-lt"/>
              </a:rPr>
              <a:t>www.herrmannultraschall.com</a:t>
            </a:r>
          </a:p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endParaRPr lang="de-DE" sz="1200" dirty="0" err="1" smtClean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954825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9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platzhalter 2"/>
          <p:cNvSpPr>
            <a:spLocks noGrp="1"/>
          </p:cNvSpPr>
          <p:nvPr>
            <p:ph type="body" idx="1"/>
          </p:nvPr>
        </p:nvSpPr>
        <p:spPr bwMode="gray">
          <a:xfrm>
            <a:off x="432271" y="863249"/>
            <a:ext cx="8280901" cy="38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</a:t>
            </a:r>
            <a:r>
              <a:rPr lang="de-DE" dirty="0" smtClean="0"/>
              <a:t>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 bwMode="gray">
          <a:xfrm>
            <a:off x="8352424" y="4852460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80000"/>
              </a:lnSpc>
              <a:defRPr sz="800" b="1">
                <a:solidFill>
                  <a:schemeClr val="tx1"/>
                </a:solidFill>
                <a:latin typeface="Arial Narrow" pitchFamily="34" charset="0"/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30" name="Titelplatzhalter 6"/>
          <p:cNvSpPr>
            <a:spLocks noGrp="1"/>
          </p:cNvSpPr>
          <p:nvPr>
            <p:ph type="title"/>
          </p:nvPr>
        </p:nvSpPr>
        <p:spPr bwMode="gray">
          <a:xfrm>
            <a:off x="431799" y="531801"/>
            <a:ext cx="6485113" cy="239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Folientitel durch Klicken hinzufügen</a:t>
            </a:r>
            <a:endParaRPr lang="en-US" dirty="0"/>
          </a:p>
        </p:txBody>
      </p:sp>
      <p:sp>
        <p:nvSpPr>
          <p:cNvPr id="1031" name="Textfeld 12"/>
          <p:cNvSpPr txBox="1">
            <a:spLocks noChangeArrowheads="1"/>
          </p:cNvSpPr>
          <p:nvPr/>
        </p:nvSpPr>
        <p:spPr bwMode="gray">
          <a:xfrm>
            <a:off x="431799" y="4850709"/>
            <a:ext cx="1440000" cy="135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80000"/>
              </a:lnSpc>
            </a:pPr>
            <a:r>
              <a:rPr lang="de-DE" sz="800" dirty="0" smtClean="0">
                <a:solidFill>
                  <a:schemeClr val="tx1"/>
                </a:solidFill>
                <a:cs typeface="Arial" pitchFamily="34" charset="0"/>
              </a:rPr>
              <a:t>©</a:t>
            </a:r>
            <a:r>
              <a:rPr lang="de-DE" sz="800" baseline="0" dirty="0">
                <a:solidFill>
                  <a:schemeClr val="tx1"/>
                </a:solidFill>
                <a:latin typeface="Arial Narrow" pitchFamily="34" charset="0"/>
                <a:cs typeface="+mn-cs"/>
              </a:rPr>
              <a:t> </a:t>
            </a:r>
            <a:r>
              <a:rPr lang="de-DE" sz="800" dirty="0" smtClean="0">
                <a:solidFill>
                  <a:schemeClr val="tx1"/>
                </a:solidFill>
                <a:latin typeface="Arial Narrow" pitchFamily="34" charset="0"/>
              </a:rPr>
              <a:t>Copyright </a:t>
            </a:r>
            <a:r>
              <a:rPr lang="de-DE" sz="800" b="1" dirty="0">
                <a:solidFill>
                  <a:schemeClr val="tx1"/>
                </a:solidFill>
                <a:latin typeface="Arial Narrow" pitchFamily="34" charset="0"/>
              </a:rPr>
              <a:t>Herrmann Ultraschall  </a:t>
            </a:r>
            <a:r>
              <a:rPr lang="de-DE" sz="800" b="0" dirty="0">
                <a:solidFill>
                  <a:schemeClr val="tx1"/>
                </a:solidFill>
                <a:latin typeface="Arial Narrow" pitchFamily="34" charset="0"/>
              </a:rPr>
              <a:t>I</a:t>
            </a:r>
            <a:endParaRPr lang="en-US" sz="800" b="0" dirty="0">
              <a:solidFill>
                <a:schemeClr val="tx1"/>
              </a:solidFill>
              <a:latin typeface="Arial Narrow" pitchFamily="34" charset="0"/>
            </a:endParaRPr>
          </a:p>
        </p:txBody>
      </p:sp>
      <p:sp>
        <p:nvSpPr>
          <p:cNvPr id="15" name="Datumsplatzhalter 14"/>
          <p:cNvSpPr>
            <a:spLocks noGrp="1"/>
          </p:cNvSpPr>
          <p:nvPr>
            <p:ph type="dt" sz="half" idx="2"/>
          </p:nvPr>
        </p:nvSpPr>
        <p:spPr bwMode="gray">
          <a:xfrm>
            <a:off x="1871799" y="4850710"/>
            <a:ext cx="6480625" cy="135765"/>
          </a:xfrm>
          <a:prstGeom prst="rect">
            <a:avLst/>
          </a:prstGeom>
          <a:noFill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80000"/>
              </a:lnSpc>
              <a:defRPr sz="800">
                <a:solidFill>
                  <a:schemeClr val="accent2"/>
                </a:solidFill>
                <a:latin typeface="Arial Narrow" pitchFamily="34" charset="0"/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grpSp>
        <p:nvGrpSpPr>
          <p:cNvPr id="163" name="Group 4"/>
          <p:cNvGrpSpPr>
            <a:grpSpLocks noChangeAspect="1"/>
          </p:cNvGrpSpPr>
          <p:nvPr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64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4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5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6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7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8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9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0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1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2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3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4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5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6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7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8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9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0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1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2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3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4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5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6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7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cxnSp>
        <p:nvCxnSpPr>
          <p:cNvPr id="244" name="Gerader Verbinder 78">
            <a:extLst>
              <a:ext uri="{FF2B5EF4-FFF2-40B4-BE49-F238E27FC236}">
                <a16:creationId xmlns:a16="http://schemas.microsoft.com/office/drawing/2014/main" id="{2CD3E0AF-C8FB-4FC3-A3C0-8855EA7C3E55}"/>
              </a:ext>
            </a:extLst>
          </p:cNvPr>
          <p:cNvCxnSpPr>
            <a:cxnSpLocks/>
          </p:cNvCxnSpPr>
          <p:nvPr/>
        </p:nvCxnSpPr>
        <p:spPr bwMode="gray">
          <a:xfrm>
            <a:off x="431800" y="769878"/>
            <a:ext cx="6120200" cy="0"/>
          </a:xfrm>
          <a:prstGeom prst="line">
            <a:avLst/>
          </a:prstGeom>
          <a:ln w="6350">
            <a:gradFill flip="none" rotWithShape="1">
              <a:gsLst>
                <a:gs pos="50000">
                  <a:schemeClr val="tx2"/>
                </a:gs>
                <a:gs pos="90000">
                  <a:schemeClr val="tx2"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uppieren 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0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7" name="Fußzeilenplatzhalter 6"/>
          <p:cNvSpPr>
            <a:spLocks noGrp="1"/>
          </p:cNvSpPr>
          <p:nvPr>
            <p:ph type="ftr" sz="quarter" idx="3"/>
          </p:nvPr>
        </p:nvSpPr>
        <p:spPr>
          <a:xfrm>
            <a:off x="434772" y="236541"/>
            <a:ext cx="5793412" cy="270190"/>
          </a:xfrm>
          <a:prstGeom prst="rect">
            <a:avLst/>
          </a:prstGeom>
        </p:spPr>
        <p:txBody>
          <a:bodyPr vert="horz" lIns="0" tIns="0" rIns="0" bIns="108000" rtlCol="0" anchor="ctr"/>
          <a:lstStyle>
            <a:lvl1pPr algn="l">
              <a:defRPr sz="1800" b="1">
                <a:solidFill>
                  <a:schemeClr val="accent2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de-DE" smtClean="0"/>
              <a:t>Präsentationstitel</a:t>
            </a:r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9477" r:id="rId1"/>
    <p:sldLayoutId id="2147489567" r:id="rId2"/>
    <p:sldLayoutId id="2147489574" r:id="rId3"/>
    <p:sldLayoutId id="2147489569" r:id="rId4"/>
    <p:sldLayoutId id="2147489568" r:id="rId5"/>
    <p:sldLayoutId id="2147489577" r:id="rId6"/>
    <p:sldLayoutId id="2147489576" r:id="rId7"/>
    <p:sldLayoutId id="2147489564" r:id="rId8"/>
    <p:sldLayoutId id="2147489575" r:id="rId9"/>
    <p:sldLayoutId id="2147489570" r:id="rId10"/>
    <p:sldLayoutId id="2147489571" r:id="rId11"/>
    <p:sldLayoutId id="2147489572" r:id="rId12"/>
    <p:sldLayoutId id="2147489578" r:id="rId13"/>
    <p:sldLayoutId id="2147489565" r:id="rId14"/>
    <p:sldLayoutId id="2147489504" r:id="rId15"/>
    <p:sldLayoutId id="2147489505" r:id="rId16"/>
    <p:sldLayoutId id="2147489579" r:id="rId17"/>
    <p:sldLayoutId id="2147489506" r:id="rId18"/>
    <p:sldLayoutId id="2147489507" r:id="rId19"/>
    <p:sldLayoutId id="2147489508" r:id="rId20"/>
    <p:sldLayoutId id="2147489510" r:id="rId21"/>
    <p:sldLayoutId id="2147489511" r:id="rId22"/>
    <p:sldLayoutId id="2147489573" r:id="rId23"/>
    <p:sldLayoutId id="2147489512" r:id="rId24"/>
    <p:sldLayoutId id="2147489581" r:id="rId25"/>
    <p:sldLayoutId id="2147489580" r:id="rId26"/>
    <p:sldLayoutId id="2147489513" r:id="rId27"/>
    <p:sldLayoutId id="2147489514" r:id="rId28"/>
    <p:sldLayoutId id="2147489515" r:id="rId29"/>
    <p:sldLayoutId id="2147489516" r:id="rId30"/>
    <p:sldLayoutId id="2147489517" r:id="rId31"/>
    <p:sldLayoutId id="2147489518" r:id="rId32"/>
    <p:sldLayoutId id="2147489520" r:id="rId33"/>
    <p:sldLayoutId id="2147489509" r:id="rId34"/>
    <p:sldLayoutId id="2147489519" r:id="rId35"/>
    <p:sldLayoutId id="2147489521" r:id="rId36"/>
    <p:sldLayoutId id="2147489561" r:id="rId37"/>
  </p:sldLayoutIdLst>
  <p:transition>
    <p:fade/>
  </p:transition>
  <p:timing>
    <p:tnLst>
      <p:par>
        <p:cTn id="1" dur="indefinite" restart="never" nodeType="tmRoot"/>
      </p:par>
    </p:tnLst>
  </p:timing>
  <p:hf hdr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ts val="300"/>
        </a:spcAft>
        <a:defRPr lang="en-US" sz="1800" b="1" kern="1200" dirty="0">
          <a:solidFill>
            <a:schemeClr val="tx1"/>
          </a:solidFill>
          <a:latin typeface="Arial Narrow" pitchFamily="34" charset="0"/>
          <a:ea typeface="ＭＳ Ｐゴシック" pitchFamily="34" charset="-128"/>
          <a:cs typeface="ＭＳ Ｐゴシック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5pPr>
      <a:lvl6pPr marL="45713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6pPr>
      <a:lvl7pPr marL="91426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7pPr>
      <a:lvl8pPr marL="137139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8pPr>
      <a:lvl9pPr marL="182852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9pPr>
    </p:titleStyle>
    <p:bodyStyle>
      <a:lvl1pPr marL="0" indent="0" algn="l" rtl="0" eaLnBrk="1" fontAlgn="base" hangingPunct="1"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1pPr>
      <a:lvl2pPr marL="180000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2pPr>
      <a:lvl3pPr marL="358775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3pPr>
      <a:lvl4pPr marL="541338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anose="05000000000000000000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4pPr>
      <a:lvl5pPr marL="270000" indent="-27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rabicPeriod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5pPr>
      <a:lvl6pPr marL="449263" indent="-180000" algn="l" defTabSz="914260" rtl="0" eaLnBrk="1" latinLnBrk="0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lphaLcPeriod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260" rtl="0" eaLnBrk="1" latinLnBrk="0" hangingPunct="1">
        <a:spcBef>
          <a:spcPts val="300"/>
        </a:spcBef>
        <a:spcAft>
          <a:spcPts val="300"/>
        </a:spcAft>
        <a:buClr>
          <a:schemeClr val="accent4"/>
        </a:buClr>
        <a:buFont typeface="Wingdings" pitchFamily="2" charset="2"/>
        <a:buNone/>
        <a:defRPr sz="1600" b="1" kern="1200">
          <a:solidFill>
            <a:schemeClr val="accent2"/>
          </a:solidFill>
          <a:latin typeface="+mn-lt"/>
          <a:ea typeface="+mn-ea"/>
          <a:cs typeface="+mn-cs"/>
        </a:defRPr>
      </a:lvl7pPr>
      <a:lvl8pPr marL="88900" indent="0" algn="l" defTabSz="914260" rtl="0" eaLnBrk="1" latinLnBrk="0" hangingPunct="1">
        <a:spcBef>
          <a:spcPts val="0"/>
        </a:spcBef>
        <a:spcAft>
          <a:spcPts val="1300"/>
        </a:spcAft>
        <a:buClr>
          <a:schemeClr val="accent2"/>
        </a:buClr>
        <a:buSzPct val="90000"/>
        <a:buFontTx/>
        <a:buNone/>
        <a:defRPr sz="1400" b="0" kern="1200">
          <a:solidFill>
            <a:srgbClr val="333333"/>
          </a:solidFill>
          <a:latin typeface="+mn-lt"/>
          <a:ea typeface="+mn-ea"/>
          <a:cs typeface="+mn-cs"/>
        </a:defRPr>
      </a:lvl8pPr>
      <a:lvl9pPr marL="0" indent="0" algn="ctr" defTabSz="914260" rtl="0" eaLnBrk="1" latinLnBrk="0" hangingPunct="1">
        <a:spcBef>
          <a:spcPts val="0"/>
        </a:spcBef>
        <a:spcAft>
          <a:spcPts val="1300"/>
        </a:spcAft>
        <a:buFont typeface="Arial" pitchFamily="34" charset="0"/>
        <a:buNone/>
        <a:defRPr lang="de-DE" sz="1400" b="0" kern="1200" dirty="0">
          <a:solidFill>
            <a:schemeClr val="accent2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9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2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5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78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1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4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1745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2858" userDrawn="1">
          <p15:clr>
            <a:srgbClr val="F26B43"/>
          </p15:clr>
        </p15:guide>
        <p15:guide id="4" pos="2903" userDrawn="1">
          <p15:clr>
            <a:srgbClr val="F26B43"/>
          </p15:clr>
        </p15:guide>
        <p15:guide id="5" pos="4173" userDrawn="1">
          <p15:clr>
            <a:srgbClr val="F26B43"/>
          </p15:clr>
        </p15:guide>
        <p15:guide id="6" pos="4217" userDrawn="1">
          <p15:clr>
            <a:srgbClr val="F26B43"/>
          </p15:clr>
        </p15:guide>
        <p15:guide id="7" pos="5489" userDrawn="1">
          <p15:clr>
            <a:srgbClr val="F26B43"/>
          </p15:clr>
        </p15:guide>
        <p15:guide id="8" pos="1542" userDrawn="1">
          <p15:clr>
            <a:srgbClr val="F26B43"/>
          </p15:clr>
        </p15:guide>
        <p15:guide id="9" pos="1587" userDrawn="1">
          <p15:clr>
            <a:srgbClr val="F26B43"/>
          </p15:clr>
        </p15:guide>
        <p15:guide id="10" pos="272" userDrawn="1">
          <p15:clr>
            <a:srgbClr val="F26B43"/>
          </p15:clr>
        </p15:guide>
        <p15:guide id="11" orient="horz" pos="543" userDrawn="1">
          <p15:clr>
            <a:srgbClr val="F26B43"/>
          </p15:clr>
        </p15:guide>
        <p15:guide id="12" orient="horz" pos="2947" userDrawn="1">
          <p15:clr>
            <a:srgbClr val="F26B43"/>
          </p15:clr>
        </p15:guide>
        <p15:guide id="13" orient="horz" pos="1767" userDrawn="1">
          <p15:clr>
            <a:srgbClr val="F26B43"/>
          </p15:clr>
        </p15:guide>
        <p15:guide id="14" orient="horz" pos="1722" userDrawn="1">
          <p15:clr>
            <a:srgbClr val="F26B43"/>
          </p15:clr>
        </p15:guide>
        <p15:guide id="15" orient="horz" pos="485" userDrawn="1">
          <p15:clr>
            <a:srgbClr val="F26B43"/>
          </p15:clr>
        </p15:guide>
        <p15:guide id="16" orient="horz" pos="149" userDrawn="1">
          <p15:clr>
            <a:srgbClr val="F26B43"/>
          </p15:clr>
        </p15:guide>
        <p15:guide id="17" orient="horz" pos="305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5.png"/><Relationship Id="rId4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dirty="0" smtClean="0"/>
              <a:t>Herrmann Ultraschall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Francois Brouet – sep24_continuous_ds</a:t>
            </a:r>
            <a:endParaRPr lang="de-DE" dirty="0"/>
          </a:p>
        </p:txBody>
      </p:sp>
      <p:pic>
        <p:nvPicPr>
          <p:cNvPr id="6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004048" y="123478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9421210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Foliennummernplatzhalter 1"/>
          <p:cNvSpPr>
            <a:spLocks noGrp="1"/>
          </p:cNvSpPr>
          <p:nvPr/>
        </p:nvSpPr>
        <p:spPr bwMode="gray">
          <a:xfrm>
            <a:off x="8199992" y="4811827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r" defTabSz="457130" rtl="0" fontAlgn="base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800" b="1" kern="1200">
                <a:solidFill>
                  <a:schemeClr val="tx1"/>
                </a:solidFill>
                <a:latin typeface="Arial Narrow" pitchFamily="34" charset="0"/>
                <a:ea typeface="ＭＳ Ｐゴシック" pitchFamily="34" charset="-128"/>
                <a:cs typeface="+mn-cs"/>
              </a:defRPr>
            </a:lvl1pPr>
            <a:lvl2pPr marL="45713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26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39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52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565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278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19991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04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fld id="{718AD556-952E-4F08-88B8-CD5F85BF2638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10" name="Textplatzhalter 4"/>
          <p:cNvSpPr>
            <a:spLocks noGrp="1"/>
          </p:cNvSpPr>
          <p:nvPr/>
        </p:nvSpPr>
        <p:spPr bwMode="gray">
          <a:xfrm>
            <a:off x="380451" y="953444"/>
            <a:ext cx="6135765" cy="38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Subject, problem, issues</a:t>
            </a: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Data (volume, architecture)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identification </a:t>
            </a:r>
            <a:r>
              <a:rPr lang="en-US" sz="1000" dirty="0" err="1" smtClean="0"/>
              <a:t>long.mode</a:t>
            </a:r>
            <a:r>
              <a:rPr lang="en-US" sz="1000" dirty="0" smtClean="0"/>
              <a:t>, MAC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</a:t>
            </a:r>
            <a:r>
              <a:rPr lang="en-US" sz="1000" dirty="0" err="1" smtClean="0"/>
              <a:t>dataframes</a:t>
            </a:r>
            <a:endParaRPr lang="en-US" sz="1000" dirty="0" smtClean="0"/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Data visualization</a:t>
            </a:r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smtClean="0"/>
              <a:t>- 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distribution of the </a:t>
            </a:r>
            <a:r>
              <a:rPr lang="en-US" sz="1000" dirty="0" err="1" smtClean="0"/>
              <a:t>expl</a:t>
            </a:r>
            <a:r>
              <a:rPr lang="en-US" sz="1000" dirty="0" smtClean="0"/>
              <a:t>. variables + correlation </a:t>
            </a:r>
            <a:r>
              <a:rPr lang="en-US" sz="1000" dirty="0" err="1" smtClean="0"/>
              <a:t>heatmap</a:t>
            </a:r>
            <a:endParaRPr lang="en-US" sz="1000" dirty="0" smtClean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smtClean="0"/>
              <a:t>- (</a:t>
            </a:r>
            <a:r>
              <a:rPr lang="en-US" sz="1000" dirty="0" err="1" smtClean="0"/>
              <a:t>streamlit</a:t>
            </a:r>
            <a:r>
              <a:rPr lang="en-US" sz="1000" dirty="0"/>
              <a:t>) identified long. </a:t>
            </a:r>
            <a:r>
              <a:rPr lang="en-US" sz="1000" dirty="0" smtClean="0"/>
              <a:t>mode + neighboring modes</a:t>
            </a:r>
            <a:endParaRPr lang="en-US" sz="1000" dirty="0" smtClean="0"/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Pre-processing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slot classes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err="1" smtClean="0"/>
              <a:t>NRDD</a:t>
            </a:r>
            <a:endParaRPr lang="en-US" sz="1000" dirty="0" smtClean="0"/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smtClean="0"/>
              <a:t>- Result overview</a:t>
            </a:r>
            <a:endParaRPr lang="en-US" sz="1000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endParaRPr lang="en-US" sz="1000" dirty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Long .frequencies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Trained models and results, tuned model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Best &amp; worst predictions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Filtered data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Link results with the business issue, Next Steps</a:t>
            </a: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Conclusion &amp; Outlook</a:t>
            </a:r>
          </a:p>
        </p:txBody>
      </p:sp>
      <p:sp>
        <p:nvSpPr>
          <p:cNvPr id="5" name="Textfeld 4"/>
          <p:cNvSpPr txBox="1"/>
          <p:nvPr/>
        </p:nvSpPr>
        <p:spPr bwMode="gray">
          <a:xfrm>
            <a:off x="5076056" y="987574"/>
            <a:ext cx="2952328" cy="252028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20 min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presentation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r>
              <a:rPr lang="de-DE" sz="1400" dirty="0" smtClean="0">
                <a:latin typeface="+mn-lt"/>
              </a:rPr>
              <a:t>10 min </a:t>
            </a:r>
            <a:r>
              <a:rPr lang="de-DE" sz="1400" dirty="0" err="1" smtClean="0">
                <a:latin typeface="+mn-lt"/>
              </a:rPr>
              <a:t>questions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4613784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Introduction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smtClean="0"/>
              <a:t>01</a:t>
            </a:r>
            <a:endParaRPr lang="de-DE" dirty="0" smtClean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7497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err="1" smtClean="0"/>
              <a:t>Concept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vibration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b="1" dirty="0" err="1" smtClean="0"/>
              <a:t>heat</a:t>
            </a:r>
            <a:r>
              <a:rPr lang="de-DE" dirty="0" smtClean="0"/>
              <a:t>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err="1" smtClean="0"/>
              <a:t>force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r>
              <a:rPr lang="de-DE" dirty="0" err="1" smtClean="0"/>
              <a:t>Ultrasonic</a:t>
            </a:r>
            <a:r>
              <a:rPr lang="de-DE" dirty="0" smtClean="0"/>
              <a:t> sonotrode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smtClean="0"/>
              <a:t>longitudinal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used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drive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vibration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smtClean="0"/>
              <a:t>must </a:t>
            </a:r>
            <a:r>
              <a:rPr lang="de-DE" dirty="0" err="1" smtClean="0"/>
              <a:t>meet</a:t>
            </a:r>
            <a:r>
              <a:rPr lang="de-DE" dirty="0" smtClean="0"/>
              <a:t> </a:t>
            </a:r>
            <a:r>
              <a:rPr lang="de-DE" dirty="0" err="1" smtClean="0"/>
              <a:t>requirements</a:t>
            </a:r>
            <a:r>
              <a:rPr lang="de-DE" dirty="0" smtClean="0"/>
              <a:t>: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err="1" smtClean="0"/>
              <a:t>frequency</a:t>
            </a:r>
            <a:r>
              <a:rPr lang="de-DE" dirty="0" smtClean="0"/>
              <a:t> ~ 20 kHz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isolated</a:t>
            </a:r>
            <a:endParaRPr lang="de-DE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uniform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Context</a:t>
            </a:r>
            <a:endParaRPr lang="de-DE" dirty="0"/>
          </a:p>
        </p:txBody>
      </p:sp>
      <p:pic>
        <p:nvPicPr>
          <p:cNvPr id="8" name="Picture 10" descr="RPN4NEU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2160" y="1203598"/>
            <a:ext cx="2783739" cy="10440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Grafik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1112" y="2687867"/>
            <a:ext cx="900000" cy="688841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6942" y="3385804"/>
            <a:ext cx="900000" cy="642128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6942" y="4093885"/>
            <a:ext cx="900000" cy="674682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8224" y="2951295"/>
            <a:ext cx="1800199" cy="1357370"/>
          </a:xfrm>
          <a:prstGeom prst="rect">
            <a:avLst/>
          </a:prstGeom>
        </p:spPr>
      </p:pic>
      <p:cxnSp>
        <p:nvCxnSpPr>
          <p:cNvPr id="19" name="Gerade Verbindung mit Pfeil 18"/>
          <p:cNvCxnSpPr/>
          <p:nvPr/>
        </p:nvCxnSpPr>
        <p:spPr bwMode="gray">
          <a:xfrm>
            <a:off x="5796136" y="3706868"/>
            <a:ext cx="648072" cy="0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039775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smtClean="0"/>
              <a:t>Main </a:t>
            </a:r>
            <a:r>
              <a:rPr lang="de-DE" dirty="0" err="1" smtClean="0"/>
              <a:t>goal</a:t>
            </a:r>
            <a:r>
              <a:rPr lang="de-DE" dirty="0" smtClean="0"/>
              <a:t>: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FEM</a:t>
            </a:r>
            <a:r>
              <a:rPr lang="de-DE" dirty="0" smtClean="0"/>
              <a:t> </a:t>
            </a:r>
            <a:r>
              <a:rPr lang="de-DE" dirty="0" err="1" smtClean="0"/>
              <a:t>results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sonotrode </a:t>
            </a:r>
            <a:r>
              <a:rPr lang="de-DE" dirty="0" err="1" smtClean="0"/>
              <a:t>geometry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3 </a:t>
            </a:r>
            <a:r>
              <a:rPr lang="de-DE" dirty="0" err="1" smtClean="0"/>
              <a:t>predictions</a:t>
            </a:r>
            <a:r>
              <a:rPr lang="de-DE" dirty="0" smtClean="0"/>
              <a:t>:</a:t>
            </a:r>
          </a:p>
          <a:p>
            <a:pPr marL="465750" lvl="1" indent="-285750">
              <a:buFontTx/>
              <a:buChar char="-"/>
            </a:pPr>
            <a:r>
              <a:rPr lang="de-DE" dirty="0" smtClean="0"/>
              <a:t>longitudinal </a:t>
            </a:r>
            <a:r>
              <a:rPr lang="de-DE" dirty="0" err="1" smtClean="0"/>
              <a:t>frequency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all </a:t>
            </a:r>
            <a:r>
              <a:rPr lang="de-DE" dirty="0" err="1" smtClean="0"/>
              <a:t>modes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uniformity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Geometry</a:t>
            </a:r>
            <a:r>
              <a:rPr lang="de-DE" dirty="0" smtClean="0"/>
              <a:t>: 23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dim_x</a:t>
            </a:r>
            <a:r>
              <a:rPr lang="de-DE" dirty="0" smtClean="0"/>
              <a:t>) × (</a:t>
            </a:r>
            <a:r>
              <a:rPr lang="de-DE" dirty="0" err="1" smtClean="0"/>
              <a:t>dim_z</a:t>
            </a:r>
            <a:r>
              <a:rPr lang="de-DE" dirty="0" smtClean="0"/>
              <a:t>):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dim_y</a:t>
            </a:r>
            <a:r>
              <a:rPr lang="de-DE" dirty="0" smtClean="0"/>
              <a:t>): </a:t>
            </a:r>
            <a:r>
              <a:rPr lang="de-DE" dirty="0" err="1" smtClean="0"/>
              <a:t>length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…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Goal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3904084" y="1491630"/>
            <a:ext cx="4955955" cy="3002535"/>
          </a:xfrm>
          <a:prstGeom prst="rect">
            <a:avLst/>
          </a:prstGeom>
        </p:spPr>
      </p:pic>
      <p:sp>
        <p:nvSpPr>
          <p:cNvPr id="6" name="Abgerundetes Rechteck 5"/>
          <p:cNvSpPr/>
          <p:nvPr/>
        </p:nvSpPr>
        <p:spPr bwMode="gray">
          <a:xfrm>
            <a:off x="4807076" y="2816352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9" name="Abgerundetes Rechteck 8"/>
          <p:cNvSpPr/>
          <p:nvPr/>
        </p:nvSpPr>
        <p:spPr bwMode="gray">
          <a:xfrm>
            <a:off x="6631654" y="276395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10" name="Abgerundetes Rechteck 9"/>
          <p:cNvSpPr/>
          <p:nvPr/>
        </p:nvSpPr>
        <p:spPr bwMode="gray">
          <a:xfrm rot="16200000">
            <a:off x="7692159" y="222599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81683841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MAC (Modal Assurance </a:t>
            </a:r>
            <a:r>
              <a:rPr lang="de-DE" dirty="0" err="1" smtClean="0"/>
              <a:t>Criterion</a:t>
            </a:r>
            <a:r>
              <a:rPr lang="de-DE" dirty="0" smtClean="0"/>
              <a:t>)</a:t>
            </a:r>
          </a:p>
          <a:p>
            <a:pPr lvl="2" indent="0">
              <a:buNone/>
            </a:pPr>
            <a:r>
              <a:rPr lang="de-DE" dirty="0" err="1" smtClean="0"/>
              <a:t>comparison</a:t>
            </a:r>
            <a:r>
              <a:rPr lang="de-DE" dirty="0" smtClean="0"/>
              <a:t>: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shapes</a:t>
            </a:r>
            <a:r>
              <a:rPr lang="de-DE" dirty="0" smtClean="0"/>
              <a:t> </a:t>
            </a:r>
            <a:r>
              <a:rPr lang="de-DE" u="sng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reference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</a:t>
            </a:r>
            <a:endParaRPr lang="de-DE" dirty="0" smtClean="0"/>
          </a:p>
          <a:p>
            <a:pPr lvl="2" indent="0">
              <a:buNone/>
            </a:pPr>
            <a:r>
              <a:rPr lang="de-DE" dirty="0" smtClean="0"/>
              <a:t>0 = </a:t>
            </a:r>
            <a:r>
              <a:rPr lang="de-DE" dirty="0" err="1" smtClean="0"/>
              <a:t>no</a:t>
            </a:r>
            <a:r>
              <a:rPr lang="de-DE" dirty="0" smtClean="0"/>
              <a:t> </a:t>
            </a:r>
            <a:r>
              <a:rPr lang="de-DE" dirty="0" err="1" smtClean="0"/>
              <a:t>correspondance</a:t>
            </a:r>
            <a:endParaRPr lang="de-DE" dirty="0" smtClean="0"/>
          </a:p>
          <a:p>
            <a:pPr lvl="2" indent="0">
              <a:buNone/>
            </a:pPr>
            <a:r>
              <a:rPr lang="de-DE" dirty="0" smtClean="0"/>
              <a:t>1 = </a:t>
            </a:r>
            <a:r>
              <a:rPr lang="de-DE" dirty="0" err="1" smtClean="0"/>
              <a:t>full</a:t>
            </a:r>
            <a:r>
              <a:rPr lang="de-DE" dirty="0" smtClean="0"/>
              <a:t> </a:t>
            </a:r>
            <a:r>
              <a:rPr lang="de-DE" dirty="0" err="1" smtClean="0"/>
              <a:t>correspondance</a:t>
            </a:r>
            <a:endParaRPr lang="de-DE" dirty="0" smtClean="0"/>
          </a:p>
          <a:p>
            <a:pPr lvl="2" indent="0">
              <a:buNone/>
            </a:pP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Identification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endParaRPr lang="de-DE" dirty="0" smtClean="0"/>
          </a:p>
          <a:p>
            <a:pPr lvl="1" indent="0">
              <a:buNone/>
            </a:pPr>
            <a:r>
              <a:rPr lang="de-DE" sz="1400" dirty="0" err="1" smtClean="0"/>
              <a:t>mode</a:t>
            </a:r>
            <a:r>
              <a:rPr lang="de-DE" sz="1400" dirty="0" smtClean="0"/>
              <a:t> </a:t>
            </a:r>
            <a:r>
              <a:rPr lang="de-DE" sz="1400" dirty="0" err="1" smtClean="0"/>
              <a:t>with</a:t>
            </a:r>
            <a:r>
              <a:rPr lang="de-DE" sz="1400" dirty="0" smtClean="0"/>
              <a:t> </a:t>
            </a:r>
            <a:r>
              <a:rPr lang="de-DE" sz="1400" dirty="0" err="1" smtClean="0"/>
              <a:t>the</a:t>
            </a:r>
            <a:r>
              <a:rPr lang="de-DE" sz="1400" dirty="0" smtClean="0"/>
              <a:t> </a:t>
            </a:r>
            <a:r>
              <a:rPr lang="de-DE" sz="1400" dirty="0" err="1" smtClean="0"/>
              <a:t>lowest</a:t>
            </a:r>
            <a:r>
              <a:rPr lang="de-DE" sz="1400" dirty="0" smtClean="0"/>
              <a:t> MAC </a:t>
            </a:r>
            <a:r>
              <a:rPr lang="de-DE" sz="1400" dirty="0" err="1" smtClean="0"/>
              <a:t>value</a:t>
            </a:r>
            <a:endParaRPr lang="de-DE" sz="1400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8000 design </a:t>
            </a:r>
            <a:r>
              <a:rPr lang="de-DE" dirty="0" err="1" smtClean="0"/>
              <a:t>points</a:t>
            </a:r>
            <a:r>
              <a:rPr lang="de-DE" dirty="0" smtClean="0"/>
              <a:t> (</a:t>
            </a:r>
            <a:r>
              <a:rPr lang="de-DE" dirty="0" err="1" smtClean="0"/>
              <a:t>DP</a:t>
            </a:r>
            <a:r>
              <a:rPr lang="de-DE" dirty="0" smtClean="0"/>
              <a:t>) = geometries</a:t>
            </a:r>
          </a:p>
          <a:p>
            <a:pPr lvl="1" indent="0">
              <a:buNone/>
            </a:pPr>
            <a:r>
              <a:rPr lang="de-DE" dirty="0" smtClean="0"/>
              <a:t>CSV </a:t>
            </a:r>
            <a:r>
              <a:rPr lang="de-DE" dirty="0" err="1" smtClean="0"/>
              <a:t>files</a:t>
            </a:r>
            <a:endParaRPr lang="de-DE" dirty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smtClean="0"/>
              <a:t>Data </a:t>
            </a:r>
            <a:r>
              <a:rPr lang="de-DE" dirty="0" err="1" smtClean="0"/>
              <a:t>set</a:t>
            </a:r>
            <a:r>
              <a:rPr lang="de-DE" dirty="0" smtClean="0"/>
              <a:t> (</a:t>
            </a:r>
            <a:r>
              <a:rPr lang="de-DE" dirty="0" err="1" smtClean="0"/>
              <a:t>Streamlit</a:t>
            </a:r>
            <a:r>
              <a:rPr lang="de-DE" dirty="0" smtClean="0"/>
              <a:t>)</a:t>
            </a:r>
          </a:p>
          <a:p>
            <a:pPr lvl="1" indent="0">
              <a:buNone/>
            </a:pPr>
            <a:r>
              <a:rPr lang="de-DE" dirty="0" err="1" smtClean="0"/>
              <a:t>DataFrames</a:t>
            </a:r>
            <a:r>
              <a:rPr lang="de-DE" dirty="0" smtClean="0"/>
              <a:t>: </a:t>
            </a:r>
            <a:r>
              <a:rPr lang="de-DE" dirty="0" err="1" smtClean="0"/>
              <a:t>parameters</a:t>
            </a:r>
            <a:r>
              <a:rPr lang="de-DE" dirty="0" smtClean="0"/>
              <a:t> / </a:t>
            </a:r>
            <a:r>
              <a:rPr lang="de-DE" dirty="0" err="1" smtClean="0"/>
              <a:t>modes</a:t>
            </a:r>
            <a:r>
              <a:rPr lang="de-DE" dirty="0" smtClean="0"/>
              <a:t> / </a:t>
            </a:r>
            <a:r>
              <a:rPr lang="de-DE" dirty="0" err="1" smtClean="0"/>
              <a:t>nodes</a:t>
            </a:r>
            <a:r>
              <a:rPr lang="de-DE" dirty="0" smtClean="0"/>
              <a:t> / </a:t>
            </a:r>
            <a:r>
              <a:rPr lang="de-DE" dirty="0" err="1" smtClean="0"/>
              <a:t>defs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6907516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Streamlit</a:t>
            </a:r>
            <a:r>
              <a:rPr lang="de-DE" smtClean="0"/>
              <a:t>)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27196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>
          <a:xfrm>
            <a:off x="431800" y="864394"/>
            <a:ext cx="8278988" cy="3075508"/>
          </a:xfrm>
        </p:spPr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Slot </a:t>
            </a:r>
            <a:r>
              <a:rPr lang="de-DE" dirty="0" err="1" smtClean="0"/>
              <a:t>classes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NRDD</a:t>
            </a: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Norm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Relative </a:t>
            </a:r>
            <a:r>
              <a:rPr lang="de-DE" dirty="0" err="1" smtClean="0"/>
              <a:t>Displacement</a:t>
            </a:r>
            <a:r>
              <a:rPr lang="de-DE" dirty="0" smtClean="0"/>
              <a:t> Deviation</a:t>
            </a:r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2323710" y="1131590"/>
            <a:ext cx="1350645" cy="861060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9952" y="930305"/>
            <a:ext cx="2572109" cy="2181529"/>
          </a:xfrm>
          <a:prstGeom prst="rect">
            <a:avLst/>
          </a:prstGeom>
        </p:spPr>
      </p:pic>
      <p:cxnSp>
        <p:nvCxnSpPr>
          <p:cNvPr id="12" name="Gerade Verbindung mit Pfeil 11"/>
          <p:cNvCxnSpPr/>
          <p:nvPr/>
        </p:nvCxnSpPr>
        <p:spPr bwMode="gray">
          <a:xfrm>
            <a:off x="4067944" y="2571750"/>
            <a:ext cx="115212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/>
          <p:cNvCxnSpPr/>
          <p:nvPr/>
        </p:nvCxnSpPr>
        <p:spPr bwMode="gray">
          <a:xfrm flipH="1">
            <a:off x="5724128" y="2724150"/>
            <a:ext cx="98550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/>
          <p:cNvSpPr txBox="1"/>
          <p:nvPr/>
        </p:nvSpPr>
        <p:spPr bwMode="gray">
          <a:xfrm>
            <a:off x="6084168" y="3372222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depth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(z)</a:t>
            </a:r>
          </a:p>
        </p:txBody>
      </p:sp>
      <p:sp>
        <p:nvSpPr>
          <p:cNvPr id="16" name="Textfeld 15"/>
          <p:cNvSpPr txBox="1"/>
          <p:nvPr/>
        </p:nvSpPr>
        <p:spPr bwMode="gray">
          <a:xfrm>
            <a:off x="4065519" y="2874019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width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(x)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hteck 16"/>
              <p:cNvSpPr/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𝑁𝑅𝐷𝐷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num>
                                        <m:den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17" name="Rechteck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feld 17"/>
          <p:cNvSpPr txBox="1"/>
          <p:nvPr/>
        </p:nvSpPr>
        <p:spPr bwMode="gray">
          <a:xfrm>
            <a:off x="4379465" y="4011910"/>
            <a:ext cx="4080967" cy="838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un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: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displacement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the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n</a:t>
            </a: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latin typeface="+mn-lt"/>
              </a:rPr>
              <a:t>u: </a:t>
            </a:r>
            <a:r>
              <a:rPr lang="de-DE" sz="1400" dirty="0" err="1" smtClean="0">
                <a:latin typeface="+mn-lt"/>
              </a:rPr>
              <a:t>average</a:t>
            </a:r>
            <a:r>
              <a:rPr lang="de-DE" sz="1400" dirty="0" smtClean="0">
                <a:latin typeface="+mn-lt"/>
              </a:rPr>
              <a:t> </a:t>
            </a:r>
            <a:r>
              <a:rPr lang="de-DE" sz="1400" dirty="0" err="1" smtClean="0">
                <a:latin typeface="+mn-lt"/>
              </a:rPr>
              <a:t>of</a:t>
            </a:r>
            <a:r>
              <a:rPr lang="de-DE" sz="1400" dirty="0" smtClean="0">
                <a:latin typeface="+mn-lt"/>
              </a:rPr>
              <a:t> all </a:t>
            </a:r>
            <a:r>
              <a:rPr lang="de-DE" sz="1400" dirty="0" err="1" smtClean="0">
                <a:latin typeface="+mn-lt"/>
              </a:rPr>
              <a:t>displacements</a:t>
            </a:r>
            <a:endParaRPr lang="de-DE" sz="1400" dirty="0" smtClean="0">
              <a:latin typeface="+mn-lt"/>
            </a:endParaRP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N: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number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nodes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output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surface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829351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err="1" smtClean="0"/>
              <a:t>NRDD</a:t>
            </a:r>
            <a:r>
              <a:rPr lang="de-DE" dirty="0" smtClean="0"/>
              <a:t> = 0 </a:t>
            </a:r>
            <a:r>
              <a:rPr lang="de-DE" dirty="0" smtClean="0">
                <a:sym typeface="Wingdings" panose="05000000000000000000" pitchFamily="2" charset="2"/>
              </a:rPr>
              <a:t> </a:t>
            </a:r>
            <a:r>
              <a:rPr lang="de-DE" dirty="0" err="1" smtClean="0">
                <a:sym typeface="Wingdings" panose="05000000000000000000" pitchFamily="2" charset="2"/>
              </a:rPr>
              <a:t>perfect</a:t>
            </a:r>
            <a:r>
              <a:rPr lang="de-DE" dirty="0" smtClean="0">
                <a:sym typeface="Wingdings" panose="05000000000000000000" pitchFamily="2" charset="2"/>
              </a:rPr>
              <a:t> uniform </a:t>
            </a:r>
            <a:r>
              <a:rPr lang="de-DE" dirty="0" err="1" smtClean="0">
                <a:sym typeface="Wingdings" panose="05000000000000000000" pitchFamily="2" charset="2"/>
              </a:rPr>
              <a:t>displacements</a:t>
            </a:r>
            <a:endParaRPr lang="de-DE" dirty="0" smtClean="0">
              <a:sym typeface="Wingdings" panose="05000000000000000000" pitchFamily="2" charset="2"/>
            </a:endParaRPr>
          </a:p>
          <a:p>
            <a:pPr lvl="1" indent="0">
              <a:buNone/>
            </a:pPr>
            <a:r>
              <a:rPr lang="de-DE" dirty="0" err="1" smtClean="0">
                <a:sym typeface="Wingdings" panose="05000000000000000000" pitchFamily="2" charset="2"/>
              </a:rPr>
              <a:t>NRDD</a:t>
            </a:r>
            <a:r>
              <a:rPr lang="de-DE" dirty="0" smtClean="0">
                <a:sym typeface="Wingdings" panose="05000000000000000000" pitchFamily="2" charset="2"/>
              </a:rPr>
              <a:t> &gt; 10  </a:t>
            </a:r>
            <a:r>
              <a:rPr lang="de-DE" dirty="0" err="1" smtClean="0">
                <a:sym typeface="Wingdings" panose="05000000000000000000" pitchFamily="2" charset="2"/>
              </a:rPr>
              <a:t>poor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uniformity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6012160" y="1917564"/>
            <a:ext cx="2520280" cy="2563813"/>
          </a:xfrm>
          <a:prstGeom prst="rect">
            <a:avLst/>
          </a:prstGeom>
        </p:spPr>
      </p:pic>
      <p:pic>
        <p:nvPicPr>
          <p:cNvPr id="9" name="Grafik 8"/>
          <p:cNvPicPr/>
          <p:nvPr/>
        </p:nvPicPr>
        <p:blipFill>
          <a:blip r:embed="rId4"/>
          <a:stretch>
            <a:fillRect/>
          </a:stretch>
        </p:blipFill>
        <p:spPr>
          <a:xfrm>
            <a:off x="415529" y="1977985"/>
            <a:ext cx="4579620" cy="2611120"/>
          </a:xfrm>
          <a:prstGeom prst="rect">
            <a:avLst/>
          </a:prstGeom>
        </p:spPr>
      </p:pic>
      <p:sp>
        <p:nvSpPr>
          <p:cNvPr id="6" name="Textfeld 5"/>
          <p:cNvSpPr txBox="1"/>
          <p:nvPr/>
        </p:nvSpPr>
        <p:spPr bwMode="gray">
          <a:xfrm>
            <a:off x="611560" y="1772328"/>
            <a:ext cx="968876" cy="1983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NRDD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= 1.3)</a:t>
            </a:r>
          </a:p>
        </p:txBody>
      </p:sp>
    </p:spTree>
    <p:extLst>
      <p:ext uri="{BB962C8B-B14F-4D97-AF65-F5344CB8AC3E}">
        <p14:creationId xmlns:p14="http://schemas.microsoft.com/office/powerpoint/2010/main" val="27576033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overview</a:t>
            </a:r>
            <a:endParaRPr lang="de-DE" dirty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8489644"/>
              </p:ext>
            </p:extLst>
          </p:nvPr>
        </p:nvGraphicFramePr>
        <p:xfrm>
          <a:off x="820912" y="1275606"/>
          <a:ext cx="7639520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2976">
                  <a:extLst>
                    <a:ext uri="{9D8B030D-6E8A-4147-A177-3AD203B41FA5}">
                      <a16:colId xmlns:a16="http://schemas.microsoft.com/office/drawing/2014/main" val="4052138908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24292582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1925279483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42604580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Target variable(s)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Best </a:t>
                      </a:r>
                      <a:r>
                        <a:rPr lang="de-DE" dirty="0" err="1" smtClean="0"/>
                        <a:t>estimator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Final </a:t>
                      </a:r>
                      <a:r>
                        <a:rPr lang="de-DE" dirty="0" err="1" smtClean="0"/>
                        <a:t>R²</a:t>
                      </a:r>
                      <a:r>
                        <a:rPr lang="de-DE" dirty="0" smtClean="0"/>
                        <a:t> score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Mean</a:t>
                      </a:r>
                      <a:r>
                        <a:rPr lang="de-DE" dirty="0" smtClean="0"/>
                        <a:t> Absolute Error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1250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Frequency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of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the</a:t>
                      </a:r>
                      <a:r>
                        <a:rPr lang="de-DE" dirty="0" smtClean="0"/>
                        <a:t> longitudinal </a:t>
                      </a:r>
                      <a:r>
                        <a:rPr lang="de-DE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0.993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21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486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All </a:t>
                      </a:r>
                      <a:r>
                        <a:rPr lang="de-DE" dirty="0" err="1" smtClean="0"/>
                        <a:t>frequencies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0.998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98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4856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Displacements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of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the</a:t>
                      </a:r>
                      <a:r>
                        <a:rPr lang="de-DE" baseline="0" dirty="0" smtClean="0"/>
                        <a:t> longitudinal </a:t>
                      </a:r>
                      <a:r>
                        <a:rPr lang="de-DE" baseline="0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Dense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Neural</a:t>
                      </a:r>
                      <a:r>
                        <a:rPr lang="de-DE" dirty="0" smtClean="0"/>
                        <a:t> Network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0.855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8604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974885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Streamlit</a:t>
            </a:r>
            <a:r>
              <a:rPr lang="de-DE" dirty="0" smtClean="0"/>
              <a:t>)</a:t>
            </a:r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98217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err="1" smtClean="0"/>
              <a:t>Deploy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production</a:t>
            </a:r>
            <a:endParaRPr lang="de-DE" dirty="0" smtClean="0"/>
          </a:p>
          <a:p>
            <a:pPr marL="644525" lvl="2" indent="-285750">
              <a:buFontTx/>
              <a:buChar char="-"/>
            </a:pPr>
            <a:r>
              <a:rPr lang="de-DE" dirty="0" err="1" smtClean="0"/>
              <a:t>Prediction</a:t>
            </a:r>
            <a:r>
              <a:rPr lang="de-DE" dirty="0" smtClean="0"/>
              <a:t>: </a:t>
            </a:r>
            <a:r>
              <a:rPr lang="de-DE" dirty="0" err="1" smtClean="0"/>
              <a:t>input</a:t>
            </a:r>
            <a:r>
              <a:rPr lang="de-DE" dirty="0" smtClean="0"/>
              <a:t> </a:t>
            </a:r>
            <a:r>
              <a:rPr lang="de-DE" dirty="0" err="1" smtClean="0"/>
              <a:t>table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644525" lvl="2" indent="-285750">
              <a:buFontTx/>
              <a:buChar char="-"/>
            </a:pPr>
            <a:r>
              <a:rPr lang="de-DE" dirty="0" err="1" smtClean="0"/>
              <a:t>Optimization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Next </a:t>
            </a:r>
            <a:r>
              <a:rPr lang="de-DE" dirty="0" err="1" smtClean="0"/>
              <a:t>steps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1276916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88697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43077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Tuning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sonotrode</a:t>
            </a:r>
            <a:r>
              <a:rPr lang="de-DE" dirty="0"/>
              <a:t> </a:t>
            </a:r>
            <a:r>
              <a:rPr lang="de-DE" dirty="0" err="1"/>
              <a:t>geometry</a:t>
            </a:r>
            <a:endParaRPr lang="de-DE" dirty="0"/>
          </a:p>
          <a:p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/>
              <a:t>The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surface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mostly</a:t>
            </a:r>
            <a:r>
              <a:rPr lang="de-DE" dirty="0"/>
              <a:t> </a:t>
            </a:r>
            <a:r>
              <a:rPr lang="de-DE" dirty="0" err="1"/>
              <a:t>defined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welding</a:t>
            </a:r>
            <a:r>
              <a:rPr lang="de-DE" dirty="0"/>
              <a:t> </a:t>
            </a:r>
            <a:r>
              <a:rPr lang="de-DE" dirty="0" err="1"/>
              <a:t>part</a:t>
            </a:r>
            <a:r>
              <a:rPr lang="de-DE" dirty="0"/>
              <a:t> </a:t>
            </a: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not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changed</a:t>
            </a: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/>
              <a:t>The </a:t>
            </a:r>
            <a:r>
              <a:rPr lang="de-DE" dirty="0" err="1"/>
              <a:t>rest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optimize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modal </a:t>
            </a:r>
            <a:r>
              <a:rPr lang="de-DE" dirty="0" err="1"/>
              <a:t>properties</a:t>
            </a:r>
            <a:r>
              <a:rPr lang="de-DE" dirty="0"/>
              <a:t> (</a:t>
            </a:r>
            <a:r>
              <a:rPr lang="de-DE" dirty="0" err="1"/>
              <a:t>tuning</a:t>
            </a:r>
            <a:r>
              <a:rPr lang="de-DE" dirty="0"/>
              <a:t>)</a:t>
            </a:r>
          </a:p>
          <a:p>
            <a:pPr marL="465750" lvl="1" indent="-285750">
              <a:buFontTx/>
              <a:buChar char="-"/>
            </a:pPr>
            <a:r>
              <a:rPr lang="de-DE" dirty="0" err="1"/>
              <a:t>Typically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length</a:t>
            </a:r>
            <a:r>
              <a:rPr lang="de-DE" dirty="0"/>
              <a:t> </a:t>
            </a:r>
            <a:r>
              <a:rPr lang="de-DE" dirty="0" err="1"/>
              <a:t>tunes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 smtClean="0"/>
              <a:t>frequency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Other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644525" lvl="2" indent="-285750">
              <a:buFontTx/>
              <a:buChar char="-"/>
            </a:pPr>
            <a:r>
              <a:rPr lang="de-DE" dirty="0" smtClean="0"/>
              <a:t>a (</a:t>
            </a:r>
            <a:r>
              <a:rPr lang="de-DE" dirty="0" err="1" smtClean="0"/>
              <a:t>slot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)</a:t>
            </a:r>
          </a:p>
          <a:p>
            <a:pPr marL="644525" lvl="2" indent="-285750">
              <a:buFontTx/>
              <a:buChar char="-"/>
            </a:pPr>
            <a:r>
              <a:rPr lang="de-DE" dirty="0" smtClean="0"/>
              <a:t>b (</a:t>
            </a:r>
            <a:r>
              <a:rPr lang="de-DE" dirty="0" err="1" smtClean="0"/>
              <a:t>slot</a:t>
            </a:r>
            <a:r>
              <a:rPr lang="de-DE" dirty="0" smtClean="0"/>
              <a:t> </a:t>
            </a:r>
            <a:r>
              <a:rPr lang="de-DE" dirty="0" err="1" smtClean="0"/>
              <a:t>length</a:t>
            </a:r>
            <a:r>
              <a:rPr lang="de-DE" dirty="0" smtClean="0"/>
              <a:t>)</a:t>
            </a:r>
          </a:p>
          <a:p>
            <a:pPr marL="644525" lvl="2" indent="-285750">
              <a:buFontTx/>
              <a:buChar char="-"/>
            </a:pPr>
            <a:r>
              <a:rPr lang="de-DE" dirty="0" smtClean="0"/>
              <a:t>…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6" name="Grafik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960" y="2377014"/>
            <a:ext cx="3404263" cy="239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5003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Project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dirty="0" smtClean="0"/>
              <a:t>03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110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smtClean="0"/>
              <a:t>Goal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project</a:t>
            </a:r>
            <a:r>
              <a:rPr lang="de-DE" dirty="0" smtClean="0"/>
              <a:t>: Create a </a:t>
            </a:r>
            <a:r>
              <a:rPr lang="de-DE" dirty="0" err="1" smtClean="0"/>
              <a:t>model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predict</a:t>
            </a:r>
            <a:r>
              <a:rPr lang="de-DE" dirty="0" smtClean="0"/>
              <a:t> FEM </a:t>
            </a:r>
            <a:r>
              <a:rPr lang="de-DE" dirty="0" err="1" smtClean="0"/>
              <a:t>results</a:t>
            </a:r>
            <a:endParaRPr lang="de-DE" dirty="0" smtClean="0"/>
          </a:p>
          <a:p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Model </a:t>
            </a:r>
            <a:r>
              <a:rPr lang="de-DE" dirty="0" err="1" smtClean="0"/>
              <a:t>can</a:t>
            </a:r>
            <a:r>
              <a:rPr lang="de-DE" dirty="0" smtClean="0"/>
              <a:t>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trained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dirty="0" smtClean="0"/>
              <a:t> FEM </a:t>
            </a:r>
            <a:r>
              <a:rPr lang="de-DE" dirty="0" err="1" smtClean="0"/>
              <a:t>calculations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Design </a:t>
            </a:r>
            <a:r>
              <a:rPr lang="de-DE" dirty="0" err="1" smtClean="0"/>
              <a:t>point</a:t>
            </a:r>
            <a:r>
              <a:rPr lang="de-DE" dirty="0" smtClean="0"/>
              <a:t> </a:t>
            </a:r>
            <a:r>
              <a:rPr lang="de-DE" dirty="0" err="1" smtClean="0"/>
              <a:t>can</a:t>
            </a:r>
            <a:r>
              <a:rPr lang="de-DE" dirty="0" smtClean="0"/>
              <a:t>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chosen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 err="1" smtClean="0"/>
              <a:t>One</a:t>
            </a:r>
            <a:r>
              <a:rPr lang="de-DE" dirty="0" smtClean="0"/>
              <a:t> design </a:t>
            </a:r>
            <a:r>
              <a:rPr lang="de-DE" dirty="0" err="1" smtClean="0"/>
              <a:t>point</a:t>
            </a:r>
            <a:r>
              <a:rPr lang="de-DE" dirty="0" smtClean="0"/>
              <a:t> ~ 1 </a:t>
            </a:r>
            <a:r>
              <a:rPr lang="de-DE" dirty="0" err="1" smtClean="0"/>
              <a:t>minute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 err="1" smtClean="0"/>
              <a:t>Predict</a:t>
            </a:r>
            <a:r>
              <a:rPr lang="de-DE" dirty="0" smtClean="0"/>
              <a:t> FEM </a:t>
            </a:r>
            <a:r>
              <a:rPr lang="de-DE" dirty="0" err="1" smtClean="0"/>
              <a:t>results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calculation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 smtClean="0"/>
              <a:t>Combine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optimization</a:t>
            </a:r>
            <a:r>
              <a:rPr lang="de-DE" dirty="0" smtClean="0"/>
              <a:t> (</a:t>
            </a:r>
            <a:r>
              <a:rPr lang="de-DE" i="1" dirty="0" smtClean="0"/>
              <a:t>optional </a:t>
            </a:r>
            <a:r>
              <a:rPr lang="de-DE" i="1" dirty="0" err="1" smtClean="0"/>
              <a:t>goal</a:t>
            </a:r>
            <a:r>
              <a:rPr lang="de-DE" dirty="0" smtClean="0"/>
              <a:t>)</a:t>
            </a:r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92799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Post-</a:t>
            </a:r>
            <a:r>
              <a:rPr lang="de-DE" dirty="0" err="1"/>
              <a:t>processing</a:t>
            </a:r>
            <a:r>
              <a:rPr lang="de-DE" dirty="0"/>
              <a:t> </a:t>
            </a:r>
            <a:r>
              <a:rPr lang="de-DE" dirty="0" err="1"/>
              <a:t>script</a:t>
            </a:r>
            <a:r>
              <a:rPr lang="de-DE" dirty="0"/>
              <a:t> in ANSYS:</a:t>
            </a:r>
          </a:p>
          <a:p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Identifies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its</a:t>
            </a:r>
            <a:r>
              <a:rPr lang="de-DE" dirty="0" smtClean="0"/>
              <a:t> </a:t>
            </a:r>
            <a:r>
              <a:rPr lang="de-DE" dirty="0" err="1" smtClean="0"/>
              <a:t>frequency</a:t>
            </a:r>
            <a:r>
              <a:rPr lang="de-DE" dirty="0" smtClean="0"/>
              <a:t> (Global </a:t>
            </a:r>
            <a:r>
              <a:rPr lang="de-DE" dirty="0" err="1" smtClean="0"/>
              <a:t>file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b="1" dirty="0" smtClean="0"/>
              <a:t>all</a:t>
            </a:r>
            <a:r>
              <a:rPr lang="de-DE" dirty="0" smtClean="0"/>
              <a:t> design </a:t>
            </a:r>
            <a:r>
              <a:rPr lang="de-DE" dirty="0" err="1" smtClean="0"/>
              <a:t>points</a:t>
            </a:r>
            <a:r>
              <a:rPr lang="de-DE" dirty="0" smtClean="0"/>
              <a:t>)</a:t>
            </a:r>
          </a:p>
          <a:p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Exports </a:t>
            </a:r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data</a:t>
            </a:r>
            <a:r>
              <a:rPr lang="de-DE" dirty="0" smtClean="0"/>
              <a:t> (</a:t>
            </a:r>
            <a:r>
              <a:rPr lang="de-DE" dirty="0" err="1" smtClean="0"/>
              <a:t>One</a:t>
            </a:r>
            <a:r>
              <a:rPr lang="de-DE" dirty="0" smtClean="0"/>
              <a:t> </a:t>
            </a:r>
            <a:r>
              <a:rPr lang="de-DE" dirty="0" err="1" smtClean="0"/>
              <a:t>file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b="1" dirty="0" err="1" smtClean="0"/>
              <a:t>each</a:t>
            </a:r>
            <a:r>
              <a:rPr lang="de-DE" dirty="0" smtClean="0"/>
              <a:t> design </a:t>
            </a:r>
            <a:r>
              <a:rPr lang="de-DE" dirty="0" err="1" smtClean="0"/>
              <a:t>point</a:t>
            </a:r>
            <a:r>
              <a:rPr lang="de-DE" dirty="0" smtClean="0"/>
              <a:t>):</a:t>
            </a:r>
          </a:p>
          <a:p>
            <a:pPr marL="465750" lvl="1" indent="-285750">
              <a:buFontTx/>
              <a:buChar char="-"/>
            </a:pPr>
            <a:r>
              <a:rPr lang="de-DE" dirty="0" smtClean="0"/>
              <a:t>List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frequencies</a:t>
            </a: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smtClean="0"/>
              <a:t>List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coordinates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List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endParaRPr lang="de-DE" dirty="0" smtClean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040" y="1851670"/>
            <a:ext cx="4065843" cy="792582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1862" y="3054442"/>
            <a:ext cx="3838748" cy="1139744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 rotWithShape="1">
          <a:blip r:embed="rId5"/>
          <a:srcRect b="37695"/>
          <a:stretch/>
        </p:blipFill>
        <p:spPr>
          <a:xfrm>
            <a:off x="5292080" y="3450643"/>
            <a:ext cx="2817291" cy="955739"/>
          </a:xfrm>
          <a:prstGeom prst="rect">
            <a:avLst/>
          </a:prstGeom>
        </p:spPr>
      </p:pic>
      <p:pic>
        <p:nvPicPr>
          <p:cNvPr id="11" name="Grafik 10"/>
          <p:cNvPicPr>
            <a:picLocks noChangeAspect="1"/>
          </p:cNvPicPr>
          <p:nvPr/>
        </p:nvPicPr>
        <p:blipFill rotWithShape="1">
          <a:blip r:embed="rId6"/>
          <a:srcRect r="31833"/>
          <a:stretch/>
        </p:blipFill>
        <p:spPr>
          <a:xfrm>
            <a:off x="5724128" y="3911129"/>
            <a:ext cx="3024336" cy="834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4247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err="1" smtClean="0"/>
              <a:t>Example</a:t>
            </a:r>
            <a:r>
              <a:rPr lang="de-DE" dirty="0" smtClean="0"/>
              <a:t>: Impact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slots</a:t>
            </a:r>
            <a:r>
              <a:rPr lang="de-DE" dirty="0" smtClean="0"/>
              <a:t> on modal </a:t>
            </a:r>
            <a:r>
              <a:rPr lang="de-DE" dirty="0" err="1" smtClean="0"/>
              <a:t>frequencies</a:t>
            </a:r>
            <a:endParaRPr lang="de-DE" dirty="0" smtClean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6" name="Grafik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5776" y="1657180"/>
            <a:ext cx="2796351" cy="2450526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6054" y="1635646"/>
            <a:ext cx="2804734" cy="2457872"/>
          </a:xfrm>
          <a:prstGeom prst="rect">
            <a:avLst/>
          </a:prstGeom>
        </p:spPr>
      </p:pic>
      <p:sp>
        <p:nvSpPr>
          <p:cNvPr id="10" name="Textfeld 9"/>
          <p:cNvSpPr txBox="1"/>
          <p:nvPr/>
        </p:nvSpPr>
        <p:spPr bwMode="gray">
          <a:xfrm>
            <a:off x="3491880" y="4312376"/>
            <a:ext cx="1800200" cy="21602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a: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slot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position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1" name="Textfeld 10"/>
          <p:cNvSpPr txBox="1"/>
          <p:nvPr/>
        </p:nvSpPr>
        <p:spPr bwMode="gray">
          <a:xfrm>
            <a:off x="6774802" y="4310562"/>
            <a:ext cx="1800200" cy="21602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>
                <a:latin typeface="+mn-lt"/>
              </a:rPr>
              <a:t>b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: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slot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length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2" name="Grafik 11"/>
          <p:cNvPicPr>
            <a:picLocks noChangeAspect="1"/>
          </p:cNvPicPr>
          <p:nvPr/>
        </p:nvPicPr>
        <p:blipFill rotWithShape="1">
          <a:blip r:embed="rId5"/>
          <a:srcRect l="21852" t="2977" r="4115" b="3816"/>
          <a:stretch/>
        </p:blipFill>
        <p:spPr>
          <a:xfrm>
            <a:off x="179512" y="1923678"/>
            <a:ext cx="2210147" cy="1957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74663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390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2" name="Themenbereich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8" name="Agenda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grpSp>
        <p:nvGrpSpPr>
          <p:cNvPr id="111" name="Thema 10"/>
          <p:cNvGrpSpPr/>
          <p:nvPr/>
        </p:nvGrpSpPr>
        <p:grpSpPr>
          <a:xfrm>
            <a:off x="434978" y="4383470"/>
            <a:ext cx="8278195" cy="252000"/>
            <a:chOff x="434978" y="4383470"/>
            <a:chExt cx="8278195" cy="252000"/>
          </a:xfrm>
        </p:grpSpPr>
        <p:sp>
          <p:nvSpPr>
            <p:cNvPr id="99" name="Thema 10"/>
            <p:cNvSpPr txBox="1">
              <a:spLocks/>
            </p:cNvSpPr>
            <p:nvPr/>
          </p:nvSpPr>
          <p:spPr bwMode="gray">
            <a:xfrm>
              <a:off x="758754" y="4383470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10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100" name="10"/>
            <p:cNvSpPr txBox="1">
              <a:spLocks/>
            </p:cNvSpPr>
            <p:nvPr/>
          </p:nvSpPr>
          <p:spPr bwMode="gray">
            <a:xfrm>
              <a:off x="434978" y="4383470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10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10" name="Thema 09"/>
          <p:cNvGrpSpPr/>
          <p:nvPr/>
        </p:nvGrpSpPr>
        <p:grpSpPr>
          <a:xfrm>
            <a:off x="434978" y="3994987"/>
            <a:ext cx="8278195" cy="252000"/>
            <a:chOff x="434978" y="3994987"/>
            <a:chExt cx="8278195" cy="252000"/>
          </a:xfrm>
        </p:grpSpPr>
        <p:sp>
          <p:nvSpPr>
            <p:cNvPr id="95" name="Thema 09"/>
            <p:cNvSpPr txBox="1">
              <a:spLocks/>
            </p:cNvSpPr>
            <p:nvPr/>
          </p:nvSpPr>
          <p:spPr bwMode="gray">
            <a:xfrm>
              <a:off x="758754" y="399498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09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6" name="09"/>
            <p:cNvSpPr txBox="1">
              <a:spLocks/>
            </p:cNvSpPr>
            <p:nvPr/>
          </p:nvSpPr>
          <p:spPr bwMode="gray">
            <a:xfrm>
              <a:off x="434978" y="399498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09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9" name="Thema 08"/>
          <p:cNvGrpSpPr/>
          <p:nvPr/>
        </p:nvGrpSpPr>
        <p:grpSpPr>
          <a:xfrm>
            <a:off x="434978" y="3606504"/>
            <a:ext cx="8278195" cy="252000"/>
            <a:chOff x="434978" y="3606504"/>
            <a:chExt cx="8278195" cy="252000"/>
          </a:xfrm>
        </p:grpSpPr>
        <p:sp>
          <p:nvSpPr>
            <p:cNvPr id="93" name="Thema 08"/>
            <p:cNvSpPr txBox="1">
              <a:spLocks/>
            </p:cNvSpPr>
            <p:nvPr/>
          </p:nvSpPr>
          <p:spPr bwMode="gray">
            <a:xfrm>
              <a:off x="758754" y="3606504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08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4" name="08"/>
            <p:cNvSpPr txBox="1">
              <a:spLocks/>
            </p:cNvSpPr>
            <p:nvPr/>
          </p:nvSpPr>
          <p:spPr bwMode="gray">
            <a:xfrm>
              <a:off x="434978" y="3606504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08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8" name="Thema 07"/>
          <p:cNvGrpSpPr/>
          <p:nvPr/>
        </p:nvGrpSpPr>
        <p:grpSpPr>
          <a:xfrm>
            <a:off x="434978" y="3196249"/>
            <a:ext cx="8278195" cy="252000"/>
            <a:chOff x="434978" y="3196249"/>
            <a:chExt cx="8278195" cy="252000"/>
          </a:xfrm>
        </p:grpSpPr>
        <p:sp>
          <p:nvSpPr>
            <p:cNvPr id="91" name="Thema 07"/>
            <p:cNvSpPr txBox="1">
              <a:spLocks/>
            </p:cNvSpPr>
            <p:nvPr/>
          </p:nvSpPr>
          <p:spPr bwMode="gray">
            <a:xfrm>
              <a:off x="758754" y="3196249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07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2" name="07"/>
            <p:cNvSpPr txBox="1">
              <a:spLocks/>
            </p:cNvSpPr>
            <p:nvPr/>
          </p:nvSpPr>
          <p:spPr bwMode="gray">
            <a:xfrm>
              <a:off x="434978" y="3196249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07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7" name="Thema 06"/>
          <p:cNvGrpSpPr/>
          <p:nvPr/>
        </p:nvGrpSpPr>
        <p:grpSpPr>
          <a:xfrm>
            <a:off x="434978" y="2807766"/>
            <a:ext cx="8278195" cy="252000"/>
            <a:chOff x="434978" y="2807766"/>
            <a:chExt cx="8278195" cy="252000"/>
          </a:xfrm>
        </p:grpSpPr>
        <p:sp>
          <p:nvSpPr>
            <p:cNvPr id="89" name="Thema 06"/>
            <p:cNvSpPr txBox="1">
              <a:spLocks/>
            </p:cNvSpPr>
            <p:nvPr/>
          </p:nvSpPr>
          <p:spPr bwMode="gray">
            <a:xfrm>
              <a:off x="758754" y="2807766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06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0" name="06"/>
            <p:cNvSpPr txBox="1">
              <a:spLocks/>
            </p:cNvSpPr>
            <p:nvPr/>
          </p:nvSpPr>
          <p:spPr bwMode="gray">
            <a:xfrm>
              <a:off x="434978" y="2807766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06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6" name="Thema 05"/>
          <p:cNvGrpSpPr/>
          <p:nvPr/>
        </p:nvGrpSpPr>
        <p:grpSpPr>
          <a:xfrm>
            <a:off x="434978" y="2419283"/>
            <a:ext cx="8278195" cy="252000"/>
            <a:chOff x="434978" y="2419283"/>
            <a:chExt cx="8278195" cy="252000"/>
          </a:xfrm>
        </p:grpSpPr>
        <p:sp>
          <p:nvSpPr>
            <p:cNvPr id="87" name="Thema 05"/>
            <p:cNvSpPr txBox="1">
              <a:spLocks/>
            </p:cNvSpPr>
            <p:nvPr/>
          </p:nvSpPr>
          <p:spPr bwMode="gray">
            <a:xfrm>
              <a:off x="758754" y="2419283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05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8" name="05"/>
            <p:cNvSpPr txBox="1">
              <a:spLocks/>
            </p:cNvSpPr>
            <p:nvPr/>
          </p:nvSpPr>
          <p:spPr bwMode="gray">
            <a:xfrm>
              <a:off x="434978" y="2419283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05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4" name="Thema 04"/>
          <p:cNvGrpSpPr/>
          <p:nvPr/>
        </p:nvGrpSpPr>
        <p:grpSpPr>
          <a:xfrm>
            <a:off x="434978" y="2030800"/>
            <a:ext cx="8278195" cy="252000"/>
            <a:chOff x="434978" y="2030800"/>
            <a:chExt cx="8278195" cy="252000"/>
          </a:xfrm>
        </p:grpSpPr>
        <p:sp>
          <p:nvSpPr>
            <p:cNvPr id="85" name="Thema 04"/>
            <p:cNvSpPr txBox="1">
              <a:spLocks/>
            </p:cNvSpPr>
            <p:nvPr/>
          </p:nvSpPr>
          <p:spPr bwMode="gray">
            <a:xfrm>
              <a:off x="758754" y="2030800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04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6" name="04"/>
            <p:cNvSpPr txBox="1">
              <a:spLocks/>
            </p:cNvSpPr>
            <p:nvPr/>
          </p:nvSpPr>
          <p:spPr bwMode="gray">
            <a:xfrm>
              <a:off x="434978" y="2030800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04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3" name="Thema 03"/>
          <p:cNvGrpSpPr/>
          <p:nvPr/>
        </p:nvGrpSpPr>
        <p:grpSpPr>
          <a:xfrm>
            <a:off x="434978" y="1642317"/>
            <a:ext cx="8278195" cy="252000"/>
            <a:chOff x="434978" y="1642317"/>
            <a:chExt cx="8278195" cy="252000"/>
          </a:xfrm>
        </p:grpSpPr>
        <p:sp>
          <p:nvSpPr>
            <p:cNvPr id="83" name="Thema 03"/>
            <p:cNvSpPr txBox="1">
              <a:spLocks/>
            </p:cNvSpPr>
            <p:nvPr/>
          </p:nvSpPr>
          <p:spPr bwMode="gray">
            <a:xfrm>
              <a:off x="758754" y="164231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03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4" name="03"/>
            <p:cNvSpPr txBox="1">
              <a:spLocks/>
            </p:cNvSpPr>
            <p:nvPr/>
          </p:nvSpPr>
          <p:spPr bwMode="gray">
            <a:xfrm>
              <a:off x="434978" y="164231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03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2" name="Thema 02"/>
          <p:cNvGrpSpPr/>
          <p:nvPr/>
        </p:nvGrpSpPr>
        <p:grpSpPr>
          <a:xfrm>
            <a:off x="434978" y="1253834"/>
            <a:ext cx="8278195" cy="252000"/>
            <a:chOff x="434978" y="1253834"/>
            <a:chExt cx="8278195" cy="252000"/>
          </a:xfrm>
        </p:grpSpPr>
        <p:sp>
          <p:nvSpPr>
            <p:cNvPr id="81" name="Thema 02"/>
            <p:cNvSpPr txBox="1">
              <a:spLocks/>
            </p:cNvSpPr>
            <p:nvPr/>
          </p:nvSpPr>
          <p:spPr bwMode="gray">
            <a:xfrm>
              <a:off x="758754" y="1253834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02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2" name="02"/>
            <p:cNvSpPr txBox="1">
              <a:spLocks/>
            </p:cNvSpPr>
            <p:nvPr/>
          </p:nvSpPr>
          <p:spPr bwMode="gray">
            <a:xfrm>
              <a:off x="434978" y="1253834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02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1" name="Thema 01"/>
          <p:cNvGrpSpPr/>
          <p:nvPr/>
        </p:nvGrpSpPr>
        <p:grpSpPr>
          <a:xfrm>
            <a:off x="434978" y="868957"/>
            <a:ext cx="8278195" cy="252000"/>
            <a:chOff x="434978" y="868957"/>
            <a:chExt cx="8278195" cy="252000"/>
          </a:xfrm>
        </p:grpSpPr>
        <p:sp>
          <p:nvSpPr>
            <p:cNvPr id="27" name="Thema 01"/>
            <p:cNvSpPr txBox="1">
              <a:spLocks/>
            </p:cNvSpPr>
            <p:nvPr/>
          </p:nvSpPr>
          <p:spPr bwMode="gray">
            <a:xfrm>
              <a:off x="758754" y="86895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01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6" name="01"/>
            <p:cNvSpPr txBox="1">
              <a:spLocks/>
            </p:cNvSpPr>
            <p:nvPr/>
          </p:nvSpPr>
          <p:spPr bwMode="gray">
            <a:xfrm>
              <a:off x="434978" y="86895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01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pic>
        <p:nvPicPr>
          <p:cNvPr id="35" name="Grafik 3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0376" y="2030800"/>
            <a:ext cx="740470" cy="70929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</p:spPr>
      </p:pic>
      <p:sp>
        <p:nvSpPr>
          <p:cNvPr id="36" name="Rechteck 35"/>
          <p:cNvSpPr/>
          <p:nvPr/>
        </p:nvSpPr>
        <p:spPr>
          <a:xfrm>
            <a:off x="9490376" y="291954"/>
            <a:ext cx="4111234" cy="1600438"/>
          </a:xfrm>
          <a:prstGeom prst="rect">
            <a:avLst/>
          </a:prstGeom>
          <a:solidFill>
            <a:schemeClr val="bg1"/>
          </a:solidFill>
        </p:spPr>
        <p:txBody>
          <a:bodyPr wrap="square" lIns="0">
            <a:spAutoFit/>
          </a:bodyPr>
          <a:lstStyle/>
          <a:p>
            <a:r>
              <a:rPr lang="de-DE" sz="1400" b="1" dirty="0" smtClean="0">
                <a:latin typeface="+mj-lt"/>
              </a:rPr>
              <a:t>Ein- / Ausblenden von Agenda Themen</a:t>
            </a:r>
          </a:p>
          <a:p>
            <a:endParaRPr lang="de-DE" sz="1400" dirty="0" smtClean="0">
              <a:latin typeface="+mj-lt"/>
            </a:endParaRPr>
          </a:p>
          <a:p>
            <a:r>
              <a:rPr lang="de-DE" sz="1400" dirty="0" smtClean="0">
                <a:latin typeface="+mj-lt"/>
              </a:rPr>
              <a:t>Entfernen bzw. hinzufügen weiterer Themen:</a:t>
            </a:r>
          </a:p>
          <a:p>
            <a:r>
              <a:rPr lang="de-DE" sz="1400" dirty="0" smtClean="0">
                <a:latin typeface="+mj-lt"/>
              </a:rPr>
              <a:t>Start &gt; Abschnitt „Bearbeiten“ &gt; Markieren &gt; Auswahlbereich</a:t>
            </a:r>
          </a:p>
          <a:p>
            <a:r>
              <a:rPr lang="de-DE" sz="1400" dirty="0" smtClean="0">
                <a:latin typeface="+mj-lt"/>
              </a:rPr>
              <a:t>Dann erscheint rechts das Fenster Auswahl. Hier lassen sich einzelne Objekte aus- bzw. einblenden (klicken auf das „Augen-Symbol).</a:t>
            </a:r>
            <a:endParaRPr lang="de-DE" sz="1400" dirty="0">
              <a:latin typeface="+mj-lt"/>
            </a:endParaRPr>
          </a:p>
        </p:txBody>
      </p:sp>
      <p:pic>
        <p:nvPicPr>
          <p:cNvPr id="37" name="Grafik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4648" y="2030800"/>
            <a:ext cx="2018685" cy="266987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5793477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9"/>
          <p:cNvSpPr>
            <a:spLocks noGrp="1"/>
          </p:cNvSpPr>
          <p:nvPr>
            <p:ph type="pic" sz="quarter" idx="20"/>
          </p:nvPr>
        </p:nvSpPr>
        <p:spPr/>
      </p:sp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96444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ISPRING_RESOURCE_PATHS_HASH_2" val="8e5293b899b407db44c384a3ca52afbd91fed16"/>
  <p:tag name="FINNOVA_CATEGORY" val="None"/>
  <p:tag name="ISPRING_RESOURCE_PATHS_HASH_PRESENTER" val="9873763661c552a285dbeabd15893f184a3bf72"/>
</p:tagLst>
</file>

<file path=ppt/theme/theme1.xml><?xml version="1.0" encoding="utf-8"?>
<a:theme xmlns:a="http://schemas.openxmlformats.org/drawingml/2006/main" name="Herrmann_Ultraschall_Template_01_EXP">
  <a:themeElements>
    <a:clrScheme name="Herrmann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007BBD"/>
      </a:accent1>
      <a:accent2>
        <a:srgbClr val="FF0000"/>
      </a:accent2>
      <a:accent3>
        <a:srgbClr val="D9D9D9"/>
      </a:accent3>
      <a:accent4>
        <a:srgbClr val="595959"/>
      </a:accent4>
      <a:accent5>
        <a:srgbClr val="008080"/>
      </a:accent5>
      <a:accent6>
        <a:srgbClr val="948A54"/>
      </a:accent6>
      <a:hlink>
        <a:srgbClr val="007BBD"/>
      </a:hlink>
      <a:folHlink>
        <a:srgbClr val="007BBD"/>
      </a:folHlink>
    </a:clrScheme>
    <a:fontScheme name="Hermann Ultraschall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300"/>
          </a:spcBef>
          <a:spcAft>
            <a:spcPts val="3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4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HUG_PPT-Vorlage_DEU_220524(SUl)" id="{5F8270AA-FF72-4F5B-8154-785FC7475741}" vid="{92324E19-A43C-4383-857C-DC3889C1272F}"/>
    </a:ext>
  </a:extLst>
</a:theme>
</file>

<file path=ppt/theme/theme2.xml><?xml version="1.0" encoding="utf-8"?>
<a:theme xmlns:a="http://schemas.openxmlformats.org/drawingml/2006/main" name="Office-Design">
  <a:themeElements>
    <a:clrScheme name="Benutzerdefiniert 1">
      <a:dk1>
        <a:srgbClr val="333333"/>
      </a:dk1>
      <a:lt1>
        <a:sysClr val="window" lastClr="FFFFFF"/>
      </a:lt1>
      <a:dk2>
        <a:srgbClr val="D6D6D6"/>
      </a:dk2>
      <a:lt2>
        <a:srgbClr val="595959"/>
      </a:lt2>
      <a:accent1>
        <a:srgbClr val="FF0000"/>
      </a:accent1>
      <a:accent2>
        <a:srgbClr val="FF0000"/>
      </a:accent2>
      <a:accent3>
        <a:srgbClr val="007CD6"/>
      </a:accent3>
      <a:accent4>
        <a:srgbClr val="B800B8"/>
      </a:accent4>
      <a:accent5>
        <a:srgbClr val="007C7C"/>
      </a:accent5>
      <a:accent6>
        <a:srgbClr val="D67C54"/>
      </a:accent6>
      <a:hlink>
        <a:srgbClr val="007CD6"/>
      </a:hlink>
      <a:folHlink>
        <a:srgbClr val="007CD6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Larissa">
  <a:themeElements>
    <a:clrScheme name="Herrmann 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900000"/>
      </a:accent1>
      <a:accent2>
        <a:srgbClr val="FF0000"/>
      </a:accent2>
      <a:accent3>
        <a:srgbClr val="2773BE"/>
      </a:accent3>
      <a:accent4>
        <a:srgbClr val="63A1DF"/>
      </a:accent4>
      <a:accent5>
        <a:srgbClr val="366735"/>
      </a:accent5>
      <a:accent6>
        <a:srgbClr val="5CAA5A"/>
      </a:accent6>
      <a:hlink>
        <a:srgbClr val="3F3F3F"/>
      </a:hlink>
      <a:folHlink>
        <a:srgbClr val="3F3F3F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HUG_PPT-Vorlage_DEU_220524(SUl)</Template>
  <TotalTime>0</TotalTime>
  <Words>2027</Words>
  <Application>Microsoft Office PowerPoint</Application>
  <PresentationFormat>Bildschirmpräsentation (16:9)</PresentationFormat>
  <Paragraphs>376</Paragraphs>
  <Slides>22</Slides>
  <Notes>22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9" baseType="lpstr">
      <vt:lpstr>ＭＳ Ｐゴシック</vt:lpstr>
      <vt:lpstr>Arial</vt:lpstr>
      <vt:lpstr>Arial Narrow</vt:lpstr>
      <vt:lpstr>Calibri</vt:lpstr>
      <vt:lpstr>Cambria Math</vt:lpstr>
      <vt:lpstr>Wingdings</vt:lpstr>
      <vt:lpstr>Herrmann_Ultraschall_Template_01_EXP</vt:lpstr>
      <vt:lpstr>Francois Brouet – sep24_continuous_ds</vt:lpstr>
      <vt:lpstr>PowerPoint-Präsentation</vt:lpstr>
      <vt:lpstr>Introduction</vt:lpstr>
      <vt:lpstr>Context</vt:lpstr>
      <vt:lpstr>Goal</vt:lpstr>
      <vt:lpstr>Data</vt:lpstr>
      <vt:lpstr>PowerPoint-Präsentation</vt:lpstr>
      <vt:lpstr>Pre-processing</vt:lpstr>
      <vt:lpstr>Pre-processing</vt:lpstr>
      <vt:lpstr>Result overview</vt:lpstr>
      <vt:lpstr>PowerPoint-Präsentation</vt:lpstr>
      <vt:lpstr>Next steps</vt:lpstr>
      <vt:lpstr>PowerPoint-Präsentation</vt:lpstr>
      <vt:lpstr>PowerPoint-Präsentation</vt:lpstr>
      <vt:lpstr>PowerPoint-Präsentation</vt:lpstr>
      <vt:lpstr>Project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Herrmann Ultraschalltechnik GmbH &amp; Co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Brouet, Francois</dc:creator>
  <cp:lastModifiedBy>Brouet, Francois</cp:lastModifiedBy>
  <cp:revision>81</cp:revision>
  <cp:lastPrinted>2024-10-28T09:15:24Z</cp:lastPrinted>
  <dcterms:created xsi:type="dcterms:W3CDTF">2024-10-21T06:24:53Z</dcterms:created>
  <dcterms:modified xsi:type="dcterms:W3CDTF">2025-08-11T13:59:09Z</dcterms:modified>
</cp:coreProperties>
</file>