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CC"/>
    <a:srgbClr val="99FF66"/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05" autoAdjust="0"/>
    <p:restoredTop sz="70957" autoAdjust="0"/>
  </p:normalViewPr>
  <p:slideViewPr>
    <p:cSldViewPr snapToObjects="1">
      <p:cViewPr varScale="1">
        <p:scale>
          <a:sx n="152" d="100"/>
          <a:sy n="152" d="100"/>
        </p:scale>
        <p:origin x="1986" y="48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01.09.2025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baseline="0" dirty="0" smtClean="0"/>
              <a:t>After a </a:t>
            </a:r>
            <a:r>
              <a:rPr lang="de-DE" baseline="0" dirty="0" err="1" smtClean="0"/>
              <a:t>short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and</a:t>
            </a:r>
            <a:r>
              <a:rPr lang="de-DE" baseline="0" dirty="0" smtClean="0"/>
              <a:t> finish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outlook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r>
              <a:rPr lang="de-DE" dirty="0" smtClean="0"/>
              <a:t> </a:t>
            </a:r>
            <a:r>
              <a:rPr lang="de-DE" dirty="0" err="1" smtClean="0"/>
              <a:t>transforms</a:t>
            </a:r>
            <a:r>
              <a:rPr lang="de-DE" dirty="0" smtClean="0"/>
              <a:t> </a:t>
            </a:r>
            <a:r>
              <a:rPr lang="de-DE" dirty="0" err="1" smtClean="0"/>
              <a:t>this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material </a:t>
            </a:r>
            <a:r>
              <a:rPr lang="de-DE" dirty="0" err="1" smtClean="0"/>
              <a:t>begins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</a:t>
            </a:r>
            <a:r>
              <a:rPr lang="de-DE" dirty="0" err="1" smtClean="0"/>
              <a:t>compresses</a:t>
            </a:r>
            <a:r>
              <a:rPr lang="de-DE" dirty="0" smtClean="0"/>
              <a:t> </a:t>
            </a:r>
            <a:r>
              <a:rPr lang="de-DE" dirty="0" err="1" smtClean="0"/>
              <a:t>it</a:t>
            </a:r>
            <a:r>
              <a:rPr lang="de-DE" dirty="0" smtClean="0"/>
              <a:t>, 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(calculation of 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very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so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smtClean="0"/>
              <a:t>FEM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frequencies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 particular those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displacements’ uniformity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rather than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introduce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compares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FEM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distinct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starting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generated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DPs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within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ensure</a:t>
            </a:r>
            <a:r>
              <a:rPr lang="de-DE" baseline="0" dirty="0" smtClean="0"/>
              <a:t> valid sonotrode geometries.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DPs.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err="1" smtClean="0"/>
              <a:t>There</a:t>
            </a:r>
            <a:r>
              <a:rPr lang="de-DE" dirty="0" smtClean="0"/>
              <a:t> </a:t>
            </a:r>
            <a:r>
              <a:rPr lang="de-DE" dirty="0" err="1" smtClean="0"/>
              <a:t>are</a:t>
            </a:r>
            <a:r>
              <a:rPr lang="de-DE" dirty="0" smtClean="0"/>
              <a:t> 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1st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second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final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contains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same </a:t>
            </a: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move</a:t>
            </a:r>
            <a:r>
              <a:rPr lang="de-DE" dirty="0" smtClean="0"/>
              <a:t> on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We start with the distribution of t</a:t>
            </a:r>
            <a:r>
              <a:rPr lang="en-US" dirty="0" smtClean="0"/>
              <a:t>he explanatory variables: the geometric parameters are distributed according </a:t>
            </a:r>
            <a:r>
              <a:rPr lang="en-US" baseline="0" dirty="0" smtClean="0"/>
              <a:t>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boxplots are symmetrical, median in the center and equal-length whiskers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Now</a:t>
            </a:r>
            <a:r>
              <a:rPr lang="de-DE" dirty="0" smtClean="0"/>
              <a:t> </a:t>
            </a: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although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generation,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turn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squarring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NRDD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while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indicate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wonder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variable, </a:t>
            </a:r>
            <a:r>
              <a:rPr lang="de-DE" baseline="0" dirty="0" err="1" smtClean="0"/>
              <a:t>rather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MAC. The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MAC.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continue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Light Gradient-</a:t>
            </a:r>
            <a:r>
              <a:rPr lang="de-DE" baseline="0" dirty="0" err="1" smtClean="0"/>
              <a:t>Boosting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Machine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algorithm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Keras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Neural</a:t>
            </a:r>
            <a:r>
              <a:rPr lang="de-DE" baseline="0" dirty="0" smtClean="0"/>
              <a:t> Network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Dense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layers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on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selected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coefficient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determination</a:t>
            </a:r>
            <a:r>
              <a:rPr lang="de-DE" baseline="0" dirty="0" smtClean="0"/>
              <a:t> R²,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 smtClean="0"/>
          </a:p>
          <a:p>
            <a:r>
              <a:rPr lang="de-DE" dirty="0" err="1" smtClean="0"/>
              <a:t>If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had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time,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metrics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predict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fast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already</a:t>
            </a:r>
            <a:r>
              <a:rPr lang="de-DE" baseline="0" dirty="0" smtClean="0"/>
              <a:t> high 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take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can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see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(high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low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below</a:t>
            </a:r>
            <a:r>
              <a:rPr lang="de-DE" baseline="0" dirty="0" smtClean="0"/>
              <a:t>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maintaining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 </a:t>
            </a:r>
            <a:r>
              <a:rPr lang="de-DE" dirty="0" err="1" smtClean="0"/>
              <a:t>dataset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enhanced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performance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leading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improvement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Mean</a:t>
            </a:r>
            <a:r>
              <a:rPr lang="de-DE" baseline="0" dirty="0" smtClean="0">
                <a:sym typeface="Wingdings" panose="05000000000000000000" pitchFamily="2" charset="2"/>
              </a:rPr>
              <a:t> Absolute Error MAE was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an </a:t>
            </a:r>
            <a:r>
              <a:rPr lang="de-DE" baseline="0" dirty="0" err="1" smtClean="0">
                <a:sym typeface="Wingdings" panose="05000000000000000000" pitchFamily="2" charset="2"/>
              </a:rPr>
              <a:t>excellent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result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driving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‘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a </a:t>
            </a:r>
            <a:r>
              <a:rPr lang="de-DE" baseline="0" dirty="0" err="1" smtClean="0"/>
              <a:t>business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view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efficiently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define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three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functions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each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combine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</a:t>
            </a:r>
            <a:r>
              <a:rPr lang="de-DE" baseline="0" dirty="0" smtClean="0"/>
              <a:t> a total </a:t>
            </a:r>
            <a:r>
              <a:rPr lang="de-DE" baseline="0" dirty="0" err="1" smtClean="0"/>
              <a:t>cost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click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  * I will </a:t>
            </a:r>
            <a:r>
              <a:rPr lang="de-DE" baseline="0" dirty="0" err="1" smtClean="0"/>
              <a:t>start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exploring</a:t>
            </a:r>
            <a:r>
              <a:rPr lang="de-DE" baseline="0" dirty="0" smtClean="0"/>
              <a:t> a large </a:t>
            </a:r>
            <a:r>
              <a:rPr lang="de-DE" baseline="0" dirty="0" err="1" smtClean="0"/>
              <a:t>area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candidate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+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gradient-based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minimizer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fine</a:t>
            </a:r>
            <a:r>
              <a:rPr lang="de-DE" baseline="0" dirty="0" smtClean="0"/>
              <a:t>-tuning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968276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Keras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9940" y="2556869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Navigation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Cost</a:t>
            </a:r>
            <a:r>
              <a:rPr lang="de-DE" dirty="0" smtClean="0"/>
              <a:t> </a:t>
            </a:r>
            <a:r>
              <a:rPr lang="de-DE" dirty="0" err="1" smtClean="0"/>
              <a:t>functions</a:t>
            </a:r>
            <a:endParaRPr lang="de-DE" dirty="0" smtClean="0"/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82837" y="3707640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latin typeface="+mn-lt"/>
              </a:rPr>
              <a:t>Thank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for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your</a:t>
            </a:r>
            <a:r>
              <a:rPr lang="de-DE" sz="3200" b="1" dirty="0" smtClean="0">
                <a:latin typeface="+mn-lt"/>
              </a:rPr>
              <a:t> </a:t>
            </a:r>
            <a:r>
              <a:rPr lang="de-DE" sz="3200" b="1" dirty="0" err="1" smtClean="0">
                <a:latin typeface="+mn-lt"/>
              </a:rPr>
              <a:t>attention</a:t>
            </a:r>
            <a:r>
              <a:rPr lang="de-DE" sz="3200" b="1" dirty="0" smtClean="0"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17" name="Gruppieren 16"/>
          <p:cNvGrpSpPr/>
          <p:nvPr/>
        </p:nvGrpSpPr>
        <p:grpSpPr>
          <a:xfrm>
            <a:off x="3855697" y="1188178"/>
            <a:ext cx="4073104" cy="1334766"/>
            <a:chOff x="3855697" y="1188178"/>
            <a:chExt cx="4073104" cy="1334766"/>
          </a:xfrm>
        </p:grpSpPr>
        <p:sp>
          <p:nvSpPr>
            <p:cNvPr id="9" name="Textfeld 8"/>
            <p:cNvSpPr txBox="1"/>
            <p:nvPr/>
          </p:nvSpPr>
          <p:spPr bwMode="gray">
            <a:xfrm>
              <a:off x="3855697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cost_long_freq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0" name="Textfeld 9"/>
            <p:cNvSpPr txBox="1"/>
            <p:nvPr/>
          </p:nvSpPr>
          <p:spPr bwMode="gray">
            <a:xfrm>
              <a:off x="5314958" y="1188178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cost_all_freq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1" name="Textfeld 10"/>
            <p:cNvSpPr txBox="1"/>
            <p:nvPr/>
          </p:nvSpPr>
          <p:spPr bwMode="gray">
            <a:xfrm>
              <a:off x="6776673" y="1193809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cost_nrdd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12" name="Textfeld 11"/>
            <p:cNvSpPr txBox="1"/>
            <p:nvPr/>
          </p:nvSpPr>
          <p:spPr bwMode="gray">
            <a:xfrm>
              <a:off x="5314958" y="2229406"/>
              <a:ext cx="1152128" cy="29353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b="1" dirty="0" err="1" smtClean="0">
                  <a:solidFill>
                    <a:schemeClr val="tx1"/>
                  </a:solidFill>
                  <a:latin typeface="+mn-lt"/>
                </a:rPr>
                <a:t>cost_total</a:t>
              </a:r>
              <a:endParaRPr lang="de-DE" sz="1400" b="1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14" name="Gerade Verbindung mit Pfeil 13"/>
            <p:cNvCxnSpPr>
              <a:stCxn id="9" idx="2"/>
            </p:cNvCxnSpPr>
            <p:nvPr/>
          </p:nvCxnSpPr>
          <p:spPr bwMode="gray">
            <a:xfrm>
              <a:off x="4431761" y="1481716"/>
              <a:ext cx="1172457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 Verbindung mit Pfeil 15"/>
            <p:cNvCxnSpPr>
              <a:stCxn id="10" idx="2"/>
            </p:cNvCxnSpPr>
            <p:nvPr/>
          </p:nvCxnSpPr>
          <p:spPr bwMode="gray">
            <a:xfrm>
              <a:off x="5891022" y="1481716"/>
              <a:ext cx="0" cy="642441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 Verbindung mit Pfeil 17"/>
            <p:cNvCxnSpPr>
              <a:stCxn id="11" idx="2"/>
            </p:cNvCxnSpPr>
            <p:nvPr/>
          </p:nvCxnSpPr>
          <p:spPr bwMode="gray">
            <a:xfrm flipH="1">
              <a:off x="6177827" y="1487347"/>
              <a:ext cx="1174910" cy="636810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uppieren 12"/>
          <p:cNvGrpSpPr/>
          <p:nvPr/>
        </p:nvGrpSpPr>
        <p:grpSpPr>
          <a:xfrm>
            <a:off x="2843808" y="3086221"/>
            <a:ext cx="5298192" cy="355047"/>
            <a:chOff x="2843808" y="3086221"/>
            <a:chExt cx="5298192" cy="355047"/>
          </a:xfrm>
        </p:grpSpPr>
        <p:sp>
          <p:nvSpPr>
            <p:cNvPr id="22" name="Textfeld 21"/>
            <p:cNvSpPr txBox="1"/>
            <p:nvPr/>
          </p:nvSpPr>
          <p:spPr bwMode="gray">
            <a:xfrm>
              <a:off x="2843808" y="3102970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scipy.differential_evolution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sp>
          <p:nvSpPr>
            <p:cNvPr id="23" name="Textfeld 22"/>
            <p:cNvSpPr txBox="1"/>
            <p:nvPr/>
          </p:nvSpPr>
          <p:spPr bwMode="gray">
            <a:xfrm>
              <a:off x="5870490" y="3086221"/>
              <a:ext cx="2271510" cy="338298"/>
            </a:xfrm>
            <a:prstGeom prst="rect">
              <a:avLst/>
            </a:prstGeom>
            <a:solidFill>
              <a:srgbClr val="00FFCC"/>
            </a:solidFill>
          </p:spPr>
          <p:txBody>
            <a:bodyPr wrap="square" lIns="0" tIns="0" rIns="0" bIns="0" rtlCol="0"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  <a:buClr>
                  <a:schemeClr val="accent2"/>
                </a:buClr>
                <a:buSzPct val="90000"/>
              </a:pPr>
              <a:r>
                <a:rPr lang="de-DE" sz="1400" dirty="0" err="1" smtClean="0">
                  <a:solidFill>
                    <a:schemeClr val="tx1"/>
                  </a:solidFill>
                  <a:latin typeface="+mn-lt"/>
                </a:rPr>
                <a:t>scipy.minimize</a:t>
              </a:r>
              <a:endParaRPr lang="de-DE" sz="1400" dirty="0" smtClean="0">
                <a:solidFill>
                  <a:schemeClr val="tx1"/>
                </a:solidFill>
                <a:latin typeface="+mn-lt"/>
              </a:endParaRPr>
            </a:p>
          </p:txBody>
        </p:sp>
        <p:cxnSp>
          <p:nvCxnSpPr>
            <p:cNvPr id="24" name="Gerade Verbindung mit Pfeil 23"/>
            <p:cNvCxnSpPr>
              <a:stCxn id="22" idx="3"/>
            </p:cNvCxnSpPr>
            <p:nvPr/>
          </p:nvCxnSpPr>
          <p:spPr bwMode="gray">
            <a:xfrm>
              <a:off x="5115318" y="3272119"/>
              <a:ext cx="620768" cy="4096"/>
            </a:xfrm>
            <a:prstGeom prst="straightConnector1">
              <a:avLst/>
            </a:prstGeom>
            <a:ln w="9525">
              <a:solidFill>
                <a:schemeClr val="bg2"/>
              </a:solidFill>
              <a:miter lim="800000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2189</Words>
  <Application>Microsoft Office PowerPoint</Application>
  <PresentationFormat>Bildschirmpräsentation (16:9)</PresentationFormat>
  <Paragraphs>353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176</cp:revision>
  <cp:lastPrinted>2024-10-28T09:15:24Z</cp:lastPrinted>
  <dcterms:created xsi:type="dcterms:W3CDTF">2024-10-21T06:24:53Z</dcterms:created>
  <dcterms:modified xsi:type="dcterms:W3CDTF">2025-09-01T14:34:53Z</dcterms:modified>
</cp:coreProperties>
</file>