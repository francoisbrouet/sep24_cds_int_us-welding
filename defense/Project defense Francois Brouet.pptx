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17"/>
  </p:notesMasterIdLst>
  <p:handoutMasterIdLst>
    <p:handoutMasterId r:id="rId18"/>
  </p:handoutMasterIdLst>
  <p:sldIdLst>
    <p:sldId id="397" r:id="rId2"/>
    <p:sldId id="383" r:id="rId3"/>
    <p:sldId id="378" r:id="rId4"/>
    <p:sldId id="394" r:id="rId5"/>
    <p:sldId id="398" r:id="rId6"/>
    <p:sldId id="399" r:id="rId7"/>
    <p:sldId id="405" r:id="rId8"/>
    <p:sldId id="400" r:id="rId9"/>
    <p:sldId id="401" r:id="rId10"/>
    <p:sldId id="402" r:id="rId11"/>
    <p:sldId id="407" r:id="rId12"/>
    <p:sldId id="403" r:id="rId13"/>
    <p:sldId id="381" r:id="rId14"/>
    <p:sldId id="370" r:id="rId15"/>
    <p:sldId id="384" r:id="rId16"/>
  </p:sldIdLst>
  <p:sldSz cx="9144000" cy="5143500" type="screen16x9"/>
  <p:notesSz cx="6645275" cy="9775825"/>
  <p:custDataLst>
    <p:tags r:id="rId19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97"/>
            <p14:sldId id="383"/>
            <p14:sldId id="378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381"/>
            <p14:sldId id="370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FFFF"/>
    <a:srgbClr val="D9D9D9"/>
    <a:srgbClr val="333333"/>
    <a:srgbClr val="FF0000"/>
    <a:srgbClr val="CC00FF"/>
    <a:srgbClr val="007B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205" autoAdjust="0"/>
    <p:restoredTop sz="58003" autoAdjust="0"/>
  </p:normalViewPr>
  <p:slideViewPr>
    <p:cSldViewPr snapToObjects="1">
      <p:cViewPr varScale="1">
        <p:scale>
          <a:sx n="124" d="100"/>
          <a:sy n="124" d="100"/>
        </p:scale>
        <p:origin x="1254" y="108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16.08.2025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Good</a:t>
            </a:r>
            <a:r>
              <a:rPr lang="de-DE" dirty="0" smtClean="0"/>
              <a:t> </a:t>
            </a:r>
            <a:r>
              <a:rPr lang="de-DE" dirty="0" err="1" smtClean="0"/>
              <a:t>afternoon</a:t>
            </a:r>
            <a:r>
              <a:rPr lang="de-DE" dirty="0" smtClean="0"/>
              <a:t>, I am </a:t>
            </a:r>
            <a:r>
              <a:rPr lang="de-DE" dirty="0" err="1" smtClean="0"/>
              <a:t>pleased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today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my</a:t>
            </a:r>
            <a:r>
              <a:rPr lang="de-DE" baseline="0" dirty="0" smtClean="0"/>
              <a:t> Data Science Project</a:t>
            </a: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Good</a:t>
            </a:r>
            <a:r>
              <a:rPr lang="de-DE" dirty="0" smtClean="0"/>
              <a:t> </a:t>
            </a:r>
            <a:r>
              <a:rPr lang="de-DE" dirty="0" err="1" smtClean="0"/>
              <a:t>afternoon</a:t>
            </a:r>
            <a:r>
              <a:rPr lang="de-DE" dirty="0" smtClean="0"/>
              <a:t>, I am </a:t>
            </a:r>
            <a:r>
              <a:rPr lang="de-DE" dirty="0" err="1" smtClean="0"/>
              <a:t>pleased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today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my</a:t>
            </a:r>
            <a:r>
              <a:rPr lang="de-DE" baseline="0" dirty="0" smtClean="0"/>
              <a:t> Data Science Project</a:t>
            </a:r>
          </a:p>
          <a:p>
            <a:r>
              <a:rPr lang="de-DE" dirty="0" smtClean="0"/>
              <a:t>The </a:t>
            </a:r>
            <a:r>
              <a:rPr lang="de-DE" dirty="0" err="1" smtClean="0"/>
              <a:t>presentation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divided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following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sections</a:t>
            </a:r>
            <a:r>
              <a:rPr lang="de-DE" baseline="0" dirty="0" smtClean="0"/>
              <a:t>: I will </a:t>
            </a:r>
            <a:r>
              <a:rPr lang="de-DE" baseline="0" dirty="0" err="1" smtClean="0"/>
              <a:t>show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switch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streamlit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points</a:t>
            </a:r>
            <a:endParaRPr lang="de-DE" baseline="0" dirty="0" smtClean="0"/>
          </a:p>
          <a:p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This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transformed</a:t>
            </a:r>
            <a:r>
              <a:rPr lang="de-DE" dirty="0" smtClean="0"/>
              <a:t> in </a:t>
            </a:r>
            <a:r>
              <a:rPr lang="de-DE" dirty="0" err="1" smtClean="0"/>
              <a:t>heat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starts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compressed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(parallel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 </a:t>
            </a:r>
            <a:r>
              <a:rPr lang="de-DE" dirty="0" err="1" smtClean="0"/>
              <a:t>eigenfrequency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eigenshape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Simulation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 (or “long. frequency”)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frequency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Focus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uniformity of the displacements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instead of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away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comparing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bounded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every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unique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picked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inside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keep</a:t>
            </a:r>
            <a:r>
              <a:rPr lang="de-DE" baseline="0" dirty="0" smtClean="0"/>
              <a:t> a valid sonotrode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smtClean="0"/>
              <a:t>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parameters</a:t>
            </a:r>
            <a:r>
              <a:rPr lang="de-DE" dirty="0" smtClean="0"/>
              <a:t> </a:t>
            </a:r>
            <a:r>
              <a:rPr lang="de-DE" dirty="0" smtClean="0"/>
              <a:t>(</a:t>
            </a:r>
            <a:r>
              <a:rPr lang="de-DE" dirty="0" err="1" smtClean="0"/>
              <a:t>concatenation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3 </a:t>
            </a:r>
            <a:r>
              <a:rPr lang="de-DE" dirty="0" err="1" smtClean="0"/>
              <a:t>groups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1st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 </a:t>
            </a:r>
            <a:r>
              <a:rPr lang="de-DE" dirty="0" err="1" smtClean="0"/>
              <a:t>contain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last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="1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1000, all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</a:t>
            </a:r>
            <a:r>
              <a:rPr lang="de-DE" dirty="0" smtClean="0"/>
              <a:t>25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determine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, but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XYZ</a:t>
            </a:r>
            <a:r>
              <a:rPr lang="de-DE" dirty="0" smtClean="0"/>
              <a:t> </a:t>
            </a:r>
            <a:r>
              <a:rPr lang="de-DE" dirty="0" err="1" smtClean="0"/>
              <a:t>located</a:t>
            </a:r>
            <a:r>
              <a:rPr lang="de-DE" dirty="0" smtClean="0"/>
              <a:t> on </a:t>
            </a:r>
            <a:r>
              <a:rPr lang="de-DE" dirty="0" err="1" smtClean="0"/>
              <a:t>the´output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="1" dirty="0" err="1" smtClean="0"/>
              <a:t>defs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switch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baseline="0" dirty="0" smtClean="0"/>
              <a:t>The d</a:t>
            </a:r>
            <a:r>
              <a:rPr lang="en-US" dirty="0" smtClean="0"/>
              <a:t>istribution of the explanatory variables are represented: the geometric parameters have been </a:t>
            </a:r>
            <a:r>
              <a:rPr lang="en-US" dirty="0" smtClean="0"/>
              <a:t>randomly generated</a:t>
            </a:r>
            <a:r>
              <a:rPr lang="en-US" baseline="0" dirty="0" smtClean="0"/>
              <a:t> </a:t>
            </a:r>
            <a:r>
              <a:rPr lang="en-US" baseline="0" dirty="0" smtClean="0"/>
              <a:t>according a </a:t>
            </a:r>
            <a:r>
              <a:rPr lang="en-US" dirty="0" smtClean="0"/>
              <a:t>normal</a:t>
            </a:r>
            <a:r>
              <a:rPr lang="en-US" baseline="0" dirty="0" smtClean="0"/>
              <a:t> </a:t>
            </a:r>
            <a:r>
              <a:rPr lang="en-US" baseline="0" dirty="0" smtClean="0"/>
              <a:t>distribution</a:t>
            </a:r>
          </a:p>
          <a:p>
            <a:pPr marL="0" indent="0">
              <a:buFontTx/>
              <a:buNone/>
            </a:pPr>
            <a:r>
              <a:rPr lang="en-US" baseline="0" dirty="0" smtClean="0">
                <a:sym typeface="Wingdings" panose="05000000000000000000" pitchFamily="2" charset="2"/>
              </a:rPr>
              <a:t> boxplot </a:t>
            </a:r>
            <a:r>
              <a:rPr lang="en-US" baseline="0" dirty="0" smtClean="0">
                <a:sym typeface="Wingdings" panose="05000000000000000000" pitchFamily="2" charset="2"/>
              </a:rPr>
              <a:t>is symmetrical, median in the center, whiskers are on equal length on both </a:t>
            </a:r>
            <a:r>
              <a:rPr lang="en-US" baseline="0" dirty="0" smtClean="0">
                <a:sym typeface="Wingdings" panose="05000000000000000000" pitchFamily="2" charset="2"/>
              </a:rPr>
              <a:t>sides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they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dataframe</a:t>
            </a:r>
            <a:r>
              <a:rPr lang="de-DE" dirty="0" smtClean="0"/>
              <a:t> </a:t>
            </a:r>
            <a:r>
              <a:rPr lang="de-DE" dirty="0" err="1" smtClean="0"/>
              <a:t>extract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geometric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77, </a:t>
            </a:r>
            <a:r>
              <a:rPr lang="de-DE" dirty="0" err="1" smtClean="0"/>
              <a:t>why</a:t>
            </a:r>
            <a:r>
              <a:rPr lang="de-DE" dirty="0" smtClean="0"/>
              <a:t>?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list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0.92 maximal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Long.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77: 19218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Delta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perfectly</a:t>
            </a:r>
            <a:r>
              <a:rPr lang="de-DE" baseline="0" dirty="0" smtClean="0"/>
              <a:t> uniform (</a:t>
            </a:r>
            <a:r>
              <a:rPr lang="de-DE" baseline="0" dirty="0" err="1" smtClean="0"/>
              <a:t>anyway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same </a:t>
            </a:r>
            <a:r>
              <a:rPr lang="de-DE" baseline="0" dirty="0" err="1" smtClean="0"/>
              <a:t>sign</a:t>
            </a:r>
            <a:r>
              <a:rPr lang="de-DE" baseline="0" dirty="0" smtClean="0"/>
              <a:t>)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acoustical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generation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design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building</a:t>
            </a:r>
            <a:r>
              <a:rPr lang="de-DE" baseline="0" dirty="0" smtClean="0"/>
              <a:t> </a:t>
            </a:r>
            <a:r>
              <a:rPr lang="de-DE" baseline="0" dirty="0" smtClean="0"/>
              <a:t>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turned</a:t>
            </a:r>
            <a:r>
              <a:rPr lang="de-DE" baseline="0" dirty="0" smtClean="0"/>
              <a:t> out </a:t>
            </a:r>
            <a:r>
              <a:rPr lang="de-DE" baseline="0" dirty="0" err="1" smtClean="0"/>
              <a:t>accurate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nodes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gives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NRDD</a:t>
            </a:r>
            <a:r>
              <a:rPr lang="de-DE" dirty="0" smtClean="0"/>
              <a:t>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probably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ask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didn‘t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variable. The </a:t>
            </a:r>
            <a:r>
              <a:rPr lang="de-DE" baseline="0" dirty="0" err="1" smtClean="0"/>
              <a:t>reason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</a:t>
            </a:r>
            <a:r>
              <a:rPr lang="de-DE" baseline="0" dirty="0" smtClean="0"/>
              <a:t> on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</a:t>
            </a:r>
            <a:r>
              <a:rPr lang="de-DE" baseline="0" dirty="0" smtClean="0"/>
              <a:t>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work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in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I </a:t>
            </a:r>
            <a:r>
              <a:rPr lang="de-DE" baseline="0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R² score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because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default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LightGBM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regressor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a universal + absolute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does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require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chose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regressor</a:t>
            </a:r>
            <a:r>
              <a:rPr lang="de-DE" dirty="0" smtClean="0"/>
              <a:t> Light Gradient </a:t>
            </a:r>
            <a:r>
              <a:rPr lang="de-DE" dirty="0" err="1" smtClean="0"/>
              <a:t>Boosting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because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quick</a:t>
            </a:r>
            <a:r>
              <a:rPr lang="de-DE" baseline="0" dirty="0" smtClean="0"/>
              <a:t> &amp; </a:t>
            </a:r>
            <a:r>
              <a:rPr lang="de-DE" baseline="0" dirty="0" err="1" smtClean="0"/>
              <a:t>accurate</a:t>
            </a:r>
            <a:endParaRPr lang="de-DE" baseline="0" dirty="0" smtClean="0"/>
          </a:p>
          <a:p>
            <a:r>
              <a:rPr lang="de-DE" baseline="0" dirty="0" smtClean="0"/>
              <a:t>-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handle large </a:t>
            </a:r>
            <a:r>
              <a:rPr lang="de-DE" baseline="0" dirty="0" err="1" smtClean="0"/>
              <a:t>datasets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Then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hyperparameters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Bayesian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approach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endParaRPr lang="de-DE" baseline="0" dirty="0" smtClean="0"/>
          </a:p>
          <a:p>
            <a:r>
              <a:rPr lang="de-DE" dirty="0" smtClean="0"/>
              <a:t>- </a:t>
            </a:r>
            <a:r>
              <a:rPr lang="de-DE" baseline="0" dirty="0" err="1" smtClean="0"/>
              <a:t>R²</a:t>
            </a:r>
            <a:r>
              <a:rPr lang="de-DE" baseline="0" dirty="0" smtClean="0"/>
              <a:t> score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- MAE (</a:t>
            </a:r>
            <a:r>
              <a:rPr lang="de-DE" baseline="0" dirty="0" err="1" smtClean="0"/>
              <a:t>arithmetic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abs.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28 Hz, </a:t>
            </a:r>
            <a:r>
              <a:rPr lang="de-DE" baseline="0" dirty="0" err="1" smtClean="0"/>
              <a:t>compared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45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r>
              <a:rPr lang="de-DE" dirty="0" smtClean="0"/>
              <a:t>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baseline="0" dirty="0" err="1" smtClean="0"/>
              <a:t>plots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: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= f </a:t>
            </a:r>
            <a:r>
              <a:rPr lang="de-DE" baseline="0" dirty="0" smtClean="0"/>
              <a:t>(real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– </a:t>
            </a:r>
            <a:r>
              <a:rPr lang="de-DE" baseline="0" dirty="0" smtClean="0"/>
              <a:t>Real)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have</a:t>
            </a:r>
            <a:r>
              <a:rPr lang="de-DE" dirty="0" smtClean="0"/>
              <a:t> a </a:t>
            </a:r>
            <a:r>
              <a:rPr lang="de-DE" dirty="0" err="1" smtClean="0"/>
              <a:t>closer</a:t>
            </a:r>
            <a:r>
              <a:rPr lang="de-DE" dirty="0" smtClean="0"/>
              <a:t> </a:t>
            </a:r>
            <a:r>
              <a:rPr lang="de-DE" dirty="0" err="1" smtClean="0"/>
              <a:t>look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understand</a:t>
            </a:r>
            <a:r>
              <a:rPr lang="de-DE" dirty="0" smtClean="0"/>
              <a:t> </a:t>
            </a:r>
            <a:r>
              <a:rPr lang="de-DE" dirty="0" err="1" smtClean="0"/>
              <a:t>why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was </a:t>
            </a:r>
            <a:r>
              <a:rPr lang="de-DE" dirty="0" err="1" smtClean="0"/>
              <a:t>less</a:t>
            </a:r>
            <a:r>
              <a:rPr lang="de-DE" dirty="0" smtClean="0"/>
              <a:t> </a:t>
            </a:r>
            <a:r>
              <a:rPr lang="de-DE" dirty="0" err="1" smtClean="0"/>
              <a:t>accurate</a:t>
            </a:r>
            <a:r>
              <a:rPr lang="de-DE" dirty="0" smtClean="0"/>
              <a:t>:</a:t>
            </a:r>
            <a:endParaRPr lang="de-DE" dirty="0" smtClean="0"/>
          </a:p>
          <a:p>
            <a:r>
              <a:rPr lang="de-DE" dirty="0" smtClean="0"/>
              <a:t>- Absolute </a:t>
            </a:r>
            <a:r>
              <a:rPr lang="de-DE" dirty="0" err="1" smtClean="0"/>
              <a:t>error</a:t>
            </a:r>
            <a:r>
              <a:rPr lang="de-DE" dirty="0" smtClean="0"/>
              <a:t> 237 Hz</a:t>
            </a:r>
          </a:p>
          <a:p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= 57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 smtClean="0">
                <a:sym typeface="Wingdings" panose="05000000000000000000" pitchFamily="2" charset="2"/>
              </a:rPr>
              <a:t>we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observe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that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the</a:t>
            </a:r>
            <a:r>
              <a:rPr lang="de-DE" dirty="0" smtClean="0">
                <a:sym typeface="Wingdings" panose="05000000000000000000" pitchFamily="2" charset="2"/>
              </a:rPr>
              <a:t> MAC </a:t>
            </a:r>
            <a:r>
              <a:rPr lang="de-DE" dirty="0" err="1" smtClean="0">
                <a:sym typeface="Wingdings" panose="05000000000000000000" pitchFamily="2" charset="2"/>
              </a:rPr>
              <a:t>value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of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modes</a:t>
            </a:r>
            <a:r>
              <a:rPr lang="de-DE" dirty="0" smtClean="0">
                <a:sym typeface="Wingdings" panose="05000000000000000000" pitchFamily="2" charset="2"/>
              </a:rPr>
              <a:t> 55 + 57 </a:t>
            </a:r>
            <a:r>
              <a:rPr lang="de-DE" dirty="0" err="1" smtClean="0">
                <a:sym typeface="Wingdings" panose="05000000000000000000" pitchFamily="2" charset="2"/>
              </a:rPr>
              <a:t>are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quite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similar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and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significantly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below</a:t>
            </a:r>
            <a:r>
              <a:rPr lang="de-DE" baseline="0" dirty="0" smtClean="0">
                <a:sym typeface="Wingdings" panose="05000000000000000000" pitchFamily="2" charset="2"/>
              </a:rPr>
              <a:t> 1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baseline="0" dirty="0" err="1" smtClean="0">
                <a:sym typeface="Wingdings" panose="05000000000000000000" pitchFamily="2" charset="2"/>
              </a:rPr>
              <a:t>particular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case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both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modes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have</a:t>
            </a:r>
            <a:r>
              <a:rPr lang="de-DE" baseline="0" dirty="0" smtClean="0">
                <a:sym typeface="Wingdings" panose="05000000000000000000" pitchFamily="2" charset="2"/>
              </a:rPr>
              <a:t> a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similar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shape</a:t>
            </a:r>
            <a:r>
              <a:rPr lang="de-DE" baseline="0" dirty="0" smtClean="0">
                <a:sym typeface="Wingdings" panose="05000000000000000000" pitchFamily="2" charset="2"/>
              </a:rPr>
              <a:t> (</a:t>
            </a:r>
            <a:r>
              <a:rPr lang="de-DE" baseline="0" dirty="0" err="1" smtClean="0">
                <a:sym typeface="Wingdings" panose="05000000000000000000" pitchFamily="2" charset="2"/>
              </a:rPr>
              <a:t>as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see</a:t>
            </a:r>
            <a:r>
              <a:rPr lang="de-DE" baseline="0" dirty="0" smtClean="0">
                <a:sym typeface="Wingdings" panose="05000000000000000000" pitchFamily="2" charset="2"/>
              </a:rPr>
              <a:t> in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displacements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plots</a:t>
            </a:r>
            <a:r>
              <a:rPr lang="de-DE" baseline="0" dirty="0" smtClean="0">
                <a:sym typeface="Wingdings" panose="05000000000000000000" pitchFamily="2" charset="2"/>
              </a:rPr>
              <a:t>)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identification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not </a:t>
            </a:r>
            <a:r>
              <a:rPr lang="de-DE" baseline="0" dirty="0" err="1" smtClean="0">
                <a:sym typeface="Wingdings" panose="05000000000000000000" pitchFamily="2" charset="2"/>
              </a:rPr>
              <a:t>obvious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Scatterplot Res = </a:t>
            </a:r>
            <a:r>
              <a:rPr lang="de-DE" dirty="0" smtClean="0"/>
              <a:t>f (</a:t>
            </a:r>
            <a:r>
              <a:rPr lang="de-DE" dirty="0" smtClean="0"/>
              <a:t>MAC) </a:t>
            </a:r>
            <a:r>
              <a:rPr lang="de-DE" dirty="0" err="1" smtClean="0"/>
              <a:t>shows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smaller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identified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  <a:endParaRPr lang="de-DE" dirty="0" smtClean="0"/>
          </a:p>
          <a:p>
            <a:r>
              <a:rPr lang="de-DE" dirty="0" err="1" smtClean="0"/>
              <a:t>Finally</a:t>
            </a:r>
            <a:r>
              <a:rPr lang="de-DE" dirty="0" smtClean="0"/>
              <a:t> I </a:t>
            </a:r>
            <a:r>
              <a:rPr lang="de-DE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exclude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limit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at 0.75)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keep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still 85</a:t>
            </a:r>
            <a:r>
              <a:rPr lang="de-DE" baseline="0" dirty="0" smtClean="0">
                <a:sym typeface="Wingdings" panose="05000000000000000000" pitchFamily="2" charset="2"/>
              </a:rPr>
              <a:t>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dataset</a:t>
            </a:r>
            <a:endParaRPr lang="de-DE" baseline="0" dirty="0" smtClean="0"/>
          </a:p>
          <a:p>
            <a:r>
              <a:rPr lang="de-DE" dirty="0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helped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improved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significantly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endParaRPr lang="de-DE" baseline="0" dirty="0" smtClean="0"/>
          </a:p>
          <a:p>
            <a:r>
              <a:rPr lang="de-DE" baseline="0" dirty="0" smtClean="0">
                <a:sym typeface="Wingdings" panose="05000000000000000000" pitchFamily="2" charset="2"/>
              </a:rPr>
              <a:t> MAE </a:t>
            </a:r>
            <a:r>
              <a:rPr lang="de-DE" baseline="0" dirty="0" err="1" smtClean="0">
                <a:sym typeface="Wingdings" panose="05000000000000000000" pitchFamily="2" charset="2"/>
              </a:rPr>
              <a:t>reduced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to</a:t>
            </a:r>
            <a:r>
              <a:rPr lang="de-DE" baseline="0" dirty="0" smtClean="0">
                <a:sym typeface="Wingdings" panose="05000000000000000000" pitchFamily="2" charset="2"/>
              </a:rPr>
              <a:t> 21 </a:t>
            </a:r>
            <a:r>
              <a:rPr lang="de-DE" baseline="0" dirty="0" smtClean="0">
                <a:sym typeface="Wingdings" panose="05000000000000000000" pitchFamily="2" charset="2"/>
              </a:rPr>
              <a:t>Hz, </a:t>
            </a:r>
            <a:r>
              <a:rPr lang="de-DE" baseline="0" dirty="0" err="1" smtClean="0">
                <a:sym typeface="Wingdings" panose="05000000000000000000" pitchFamily="2" charset="2"/>
              </a:rPr>
              <a:t>which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good</a:t>
            </a:r>
            <a:r>
              <a:rPr lang="de-DE" baseline="0" dirty="0" smtClean="0">
                <a:sym typeface="Wingdings" panose="05000000000000000000" pitchFamily="2" charset="2"/>
              </a:rPr>
              <a:t> (0.1 %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working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frequency</a:t>
            </a:r>
            <a:r>
              <a:rPr lang="de-DE" baseline="0" dirty="0" smtClean="0">
                <a:sym typeface="Wingdings" panose="05000000000000000000" pitchFamily="2" charset="2"/>
              </a:rPr>
              <a:t>)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</a:t>
            </a:r>
            <a:r>
              <a:rPr lang="de-DE" baseline="0" dirty="0" smtClean="0"/>
              <a:t> am </a:t>
            </a:r>
            <a:r>
              <a:rPr lang="de-DE" baseline="0" dirty="0" err="1" smtClean="0"/>
              <a:t>done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mention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next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steps</a:t>
            </a:r>
            <a:r>
              <a:rPr lang="de-DE" baseline="0" dirty="0" smtClean="0"/>
              <a:t>:</a:t>
            </a:r>
          </a:p>
          <a:p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deploy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production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need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a </a:t>
            </a:r>
            <a:r>
              <a:rPr lang="de-DE" baseline="0" dirty="0" err="1" smtClean="0"/>
              <a:t>mask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different </a:t>
            </a:r>
            <a:r>
              <a:rPr lang="de-DE" baseline="0" dirty="0" err="1" smtClean="0"/>
              <a:t>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an </a:t>
            </a:r>
            <a:r>
              <a:rPr lang="de-DE" baseline="0" dirty="0" err="1" smtClean="0"/>
              <a:t>interface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CAD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, </a:t>
            </a:r>
            <a:r>
              <a:rPr lang="de-DE" baseline="0" dirty="0" smtClean="0"/>
              <a:t>so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engineer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gets</a:t>
            </a:r>
            <a:r>
              <a:rPr lang="de-DE" baseline="0" dirty="0" smtClean="0"/>
              <a:t> a quick </a:t>
            </a:r>
            <a:r>
              <a:rPr lang="de-DE" baseline="0" dirty="0" err="1" smtClean="0"/>
              <a:t>estimation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find a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variables (</a:t>
            </a:r>
            <a:r>
              <a:rPr lang="de-DE" baseline="0" dirty="0" err="1" smtClean="0"/>
              <a:t>instead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)?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optimal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geometries) an </a:t>
            </a:r>
            <a:r>
              <a:rPr lang="de-DE" baseline="0" dirty="0" err="1" smtClean="0"/>
              <a:t>optimizer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required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optimizer</a:t>
            </a:r>
            <a:r>
              <a:rPr lang="de-DE" dirty="0" smtClean="0"/>
              <a:t> will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navigate</a:t>
            </a:r>
            <a:r>
              <a:rPr lang="de-DE" baseline="0" dirty="0" smtClean="0"/>
              <a:t> </a:t>
            </a:r>
            <a:r>
              <a:rPr lang="de-DE" baseline="0" dirty="0" smtClean="0"/>
              <a:t>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much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faster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optimas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automatically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proposed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optimizer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Thank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attention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happy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hear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questions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Präsentationstitel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3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9" name="Textplatzhalter 4"/>
          <p:cNvSpPr>
            <a:spLocks noGrp="1"/>
          </p:cNvSpPr>
          <p:nvPr/>
        </p:nvSpPr>
        <p:spPr bwMode="gray">
          <a:xfrm>
            <a:off x="422421" y="1059582"/>
            <a:ext cx="8181020" cy="50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 (</a:t>
            </a:r>
            <a:r>
              <a:rPr lang="en-US" sz="1000" b="1" dirty="0" smtClean="0"/>
              <a:t>Context) (Goal)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 smtClean="0"/>
              <a:t>Data exploration</a:t>
            </a:r>
            <a:r>
              <a:rPr lang="en-US" sz="1000" dirty="0" smtClean="0"/>
              <a:t> </a:t>
            </a:r>
            <a:r>
              <a:rPr lang="en-US" sz="1000" dirty="0"/>
              <a:t>(volume, architecture)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identification </a:t>
            </a:r>
            <a:r>
              <a:rPr lang="en-US" sz="1000" dirty="0" err="1"/>
              <a:t>long.mode</a:t>
            </a:r>
            <a:r>
              <a:rPr lang="en-US" sz="1000" dirty="0"/>
              <a:t>, MAC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</a:t>
            </a:r>
            <a:r>
              <a:rPr lang="en-US" sz="1000" dirty="0" err="1"/>
              <a:t>dataframes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distribution of the </a:t>
            </a:r>
            <a:r>
              <a:rPr lang="en-US" sz="1000" dirty="0" err="1"/>
              <a:t>expl</a:t>
            </a:r>
            <a:r>
              <a:rPr lang="en-US" sz="1000" dirty="0"/>
              <a:t>. variables + correlation </a:t>
            </a:r>
            <a:r>
              <a:rPr lang="en-US" sz="1000" dirty="0" err="1"/>
              <a:t>heatmap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identified long. </a:t>
            </a:r>
            <a:r>
              <a:rPr lang="en-US" sz="1000" dirty="0"/>
              <a:t>mode + neighboring modes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Pre-processing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slot classes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/>
              <a:t>NRDD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</a:t>
            </a:r>
            <a:r>
              <a:rPr lang="en-US" sz="1000" b="1" dirty="0" smtClean="0"/>
              <a:t>Result overview</a:t>
            </a:r>
            <a:endParaRPr lang="en-US" sz="1000" b="1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Long .</a:t>
            </a:r>
            <a:r>
              <a:rPr lang="en-US" sz="1000" dirty="0" smtClean="0"/>
              <a:t>frequencies </a:t>
            </a:r>
            <a:r>
              <a:rPr lang="en-US" sz="1000" b="1" dirty="0" smtClean="0"/>
              <a:t>Modelling</a:t>
            </a:r>
            <a:endParaRPr lang="en-US" sz="1000" b="1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Trained models and results, tuned model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Best &amp; worst predictions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Filtered data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Link results with the business issue, </a:t>
            </a:r>
            <a:r>
              <a:rPr lang="en-US" sz="1000" b="1" dirty="0"/>
              <a:t>Next </a:t>
            </a:r>
            <a:r>
              <a:rPr lang="en-US" sz="1000" b="1" dirty="0" smtClean="0"/>
              <a:t>Steps &amp; Conclusion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Conclusion &amp; Outlook</a:t>
            </a: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Herrmann Ultraschall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err="1" smtClean="0"/>
              <a:t>Presentation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Next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steps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/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Conclusion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Modelling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Result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overview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Pre-processing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visualization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exploration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Context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sp>
        <p:nvSpPr>
          <p:cNvPr id="5" name="Textfeld 4"/>
          <p:cNvSpPr txBox="1"/>
          <p:nvPr/>
        </p:nvSpPr>
        <p:spPr bwMode="gray">
          <a:xfrm>
            <a:off x="3419872" y="1347614"/>
            <a:ext cx="720080" cy="561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 anchor="ctr" anchorCtr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chemeClr val="accent1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0" name="Textfeld 39"/>
          <p:cNvSpPr txBox="1"/>
          <p:nvPr/>
        </p:nvSpPr>
        <p:spPr bwMode="gray">
          <a:xfrm>
            <a:off x="3418433" y="2796583"/>
            <a:ext cx="720080" cy="2631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 anchor="ctr" anchorCtr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chemeClr val="accent1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Requirements</a:t>
            </a:r>
            <a:r>
              <a:rPr lang="de-DE" dirty="0" smtClean="0"/>
              <a:t>: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	</a:t>
            </a:r>
            <a:r>
              <a:rPr lang="de-DE" i="1" dirty="0" err="1" smtClean="0"/>
              <a:t>Prediction</a:t>
            </a:r>
            <a:r>
              <a:rPr lang="de-DE" i="1" dirty="0" smtClean="0"/>
              <a:t> </a:t>
            </a:r>
            <a:r>
              <a:rPr lang="de-DE" i="1" dirty="0" err="1" smtClean="0"/>
              <a:t>of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</a:t>
            </a:r>
            <a:r>
              <a:rPr lang="de-DE" i="1" dirty="0" err="1" smtClean="0"/>
              <a:t>FEM</a:t>
            </a:r>
            <a:r>
              <a:rPr lang="de-DE" i="1" dirty="0" smtClean="0"/>
              <a:t> </a:t>
            </a:r>
            <a:r>
              <a:rPr lang="de-DE" i="1" dirty="0" err="1" smtClean="0"/>
              <a:t>results</a:t>
            </a:r>
            <a:r>
              <a:rPr lang="de-DE" i="1" dirty="0" smtClean="0"/>
              <a:t> </a:t>
            </a:r>
            <a:r>
              <a:rPr lang="de-DE" i="1" dirty="0" err="1" smtClean="0"/>
              <a:t>from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sonotrode </a:t>
            </a:r>
            <a:r>
              <a:rPr lang="de-DE" i="1" dirty="0" err="1" smtClean="0"/>
              <a:t>geometry</a:t>
            </a:r>
            <a:endParaRPr lang="de-DE" i="1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dim_x</a:t>
            </a:r>
            <a:r>
              <a:rPr lang="de-DE" sz="1400" dirty="0" smtClean="0"/>
              <a:t>) × (</a:t>
            </a:r>
            <a:r>
              <a:rPr lang="de-DE" sz="1400" dirty="0" err="1" smtClean="0"/>
              <a:t>dim_z</a:t>
            </a:r>
            <a:r>
              <a:rPr lang="de-DE" sz="1400" dirty="0" smtClean="0"/>
              <a:t>): </a:t>
            </a:r>
            <a:r>
              <a:rPr lang="de-DE" sz="1400" dirty="0" err="1" smtClean="0"/>
              <a:t>output</a:t>
            </a:r>
            <a:r>
              <a:rPr lang="de-DE" sz="1400" dirty="0" smtClean="0"/>
              <a:t> </a:t>
            </a:r>
            <a:r>
              <a:rPr lang="de-DE" sz="1400" dirty="0" err="1" smtClean="0"/>
              <a:t>surface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dim_y</a:t>
            </a:r>
            <a:r>
              <a:rPr lang="de-DE" sz="1400" dirty="0" smtClean="0"/>
              <a:t>): </a:t>
            </a:r>
            <a:r>
              <a:rPr lang="de-DE" sz="1400" dirty="0" err="1" smtClean="0"/>
              <a:t>length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…</a:t>
            </a:r>
            <a:endParaRPr lang="de-DE" sz="140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0</a:t>
            </a:r>
            <a:r>
              <a:rPr lang="de-DE" dirty="0" smtClean="0"/>
              <a:t> </a:t>
            </a:r>
            <a:r>
              <a:rPr lang="de-DE" dirty="0" smtClean="0"/>
              <a:t> </a:t>
            </a:r>
            <a:r>
              <a:rPr lang="de-DE" i="1" dirty="0" err="1" smtClean="0"/>
              <a:t>no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1</a:t>
            </a:r>
            <a:r>
              <a:rPr lang="de-DE" dirty="0" smtClean="0"/>
              <a:t> </a:t>
            </a:r>
            <a:r>
              <a:rPr lang="de-DE" dirty="0" smtClean="0"/>
              <a:t> </a:t>
            </a:r>
            <a:r>
              <a:rPr lang="de-DE" i="1" dirty="0" err="1" smtClean="0"/>
              <a:t>full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smtClean="0"/>
              <a:t>	Long. </a:t>
            </a:r>
            <a:r>
              <a:rPr lang="de-DE" sz="1400" dirty="0" err="1" smtClean="0"/>
              <a:t>mode</a:t>
            </a:r>
            <a:r>
              <a:rPr lang="de-DE" sz="1400" dirty="0" smtClean="0"/>
              <a:t>: </a:t>
            </a:r>
            <a:r>
              <a:rPr lang="de-DE" sz="1400" dirty="0" err="1" smtClean="0"/>
              <a:t>highest</a:t>
            </a:r>
            <a:r>
              <a:rPr lang="de-DE" sz="1400" dirty="0" smtClean="0"/>
              <a:t> </a:t>
            </a:r>
            <a:r>
              <a:rPr lang="de-DE" sz="1400" dirty="0" smtClean="0"/>
              <a:t>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	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 rotWithShape="1">
          <a:blip r:embed="rId4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 algn="ctr"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 rotWithShape="1">
          <a:blip r:embed="rId3"/>
          <a:srcRect l="22768"/>
          <a:stretch/>
        </p:blipFill>
        <p:spPr>
          <a:xfrm>
            <a:off x="2123728" y="1225090"/>
            <a:ext cx="1221268" cy="1008112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693412" y="3880542"/>
            <a:ext cx="3767020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hteck 5"/>
              <p:cNvSpPr/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6" name="Rechteck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hteck 8"/>
              <p:cNvSpPr/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hteck 10"/>
              <p:cNvSpPr/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11" name="Rechtec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</a:t>
            </a:r>
            <a:r>
              <a:rPr lang="de-DE" b="1" dirty="0" smtClean="0"/>
              <a:t>0</a:t>
            </a:r>
            <a:r>
              <a:rPr lang="de-DE" dirty="0" smtClean="0"/>
              <a:t> </a:t>
            </a:r>
            <a:r>
              <a:rPr lang="de-DE" dirty="0" smtClean="0"/>
              <a:t>	</a:t>
            </a:r>
            <a:r>
              <a:rPr lang="de-DE" i="1" dirty="0" err="1" smtClean="0">
                <a:sym typeface="Wingdings" panose="05000000000000000000" pitchFamily="2" charset="2"/>
              </a:rPr>
              <a:t>perfect</a:t>
            </a:r>
            <a:r>
              <a:rPr lang="de-DE" i="1" dirty="0" smtClean="0">
                <a:sym typeface="Wingdings" panose="05000000000000000000" pitchFamily="2" charset="2"/>
              </a:rPr>
              <a:t> </a:t>
            </a:r>
            <a:r>
              <a:rPr lang="de-DE" i="1" dirty="0" smtClean="0">
                <a:sym typeface="Wingdings" panose="05000000000000000000" pitchFamily="2" charset="2"/>
              </a:rPr>
              <a:t>uniform </a:t>
            </a:r>
            <a:r>
              <a:rPr lang="de-DE" i="1" dirty="0" err="1" smtClean="0">
                <a:sym typeface="Wingdings" panose="05000000000000000000" pitchFamily="2" charset="2"/>
              </a:rPr>
              <a:t>displacements</a:t>
            </a:r>
            <a:endParaRPr lang="de-DE" i="1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</a:t>
            </a:r>
            <a:r>
              <a:rPr lang="de-DE" b="1" dirty="0" smtClean="0">
                <a:sym typeface="Wingdings" panose="05000000000000000000" pitchFamily="2" charset="2"/>
              </a:rPr>
              <a:t>10 </a:t>
            </a:r>
            <a:r>
              <a:rPr lang="de-DE" b="1" dirty="0" smtClean="0">
                <a:sym typeface="Wingdings" panose="05000000000000000000" pitchFamily="2" charset="2"/>
              </a:rPr>
              <a:t>	</a:t>
            </a:r>
            <a:r>
              <a:rPr lang="de-DE" i="1" dirty="0" err="1" smtClean="0">
                <a:sym typeface="Wingdings" panose="05000000000000000000" pitchFamily="2" charset="2"/>
              </a:rPr>
              <a:t>poor</a:t>
            </a:r>
            <a:r>
              <a:rPr lang="de-DE" i="1" dirty="0" smtClean="0">
                <a:sym typeface="Wingdings" panose="05000000000000000000" pitchFamily="2" charset="2"/>
              </a:rPr>
              <a:t> </a:t>
            </a:r>
            <a:r>
              <a:rPr lang="de-DE" i="1" dirty="0" err="1" smtClean="0">
                <a:sym typeface="Wingdings" panose="05000000000000000000" pitchFamily="2" charset="2"/>
              </a:rPr>
              <a:t>uniformity</a:t>
            </a:r>
            <a:endParaRPr lang="de-DE" i="1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3193382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0.997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Dense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  <p:sp>
        <p:nvSpPr>
          <p:cNvPr id="8" name="Rechteck 7"/>
          <p:cNvSpPr/>
          <p:nvPr/>
        </p:nvSpPr>
        <p:spPr bwMode="gray">
          <a:xfrm>
            <a:off x="820912" y="2571750"/>
            <a:ext cx="7639520" cy="994936"/>
          </a:xfrm>
          <a:prstGeom prst="rect">
            <a:avLst/>
          </a:prstGeom>
          <a:solidFill>
            <a:schemeClr val="bg1">
              <a:alpha val="7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Modelling</a:t>
            </a:r>
            <a:endParaRPr lang="de-DE" dirty="0"/>
          </a:p>
        </p:txBody>
      </p:sp>
      <p:sp>
        <p:nvSpPr>
          <p:cNvPr id="8" name="Textplatzhalter 4"/>
          <p:cNvSpPr txBox="1">
            <a:spLocks/>
          </p:cNvSpPr>
          <p:nvPr/>
        </p:nvSpPr>
        <p:spPr bwMode="gray">
          <a:xfrm>
            <a:off x="453822" y="917228"/>
            <a:ext cx="8278988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algn="ctr" defTabSz="914400">
              <a:buFont typeface="Wingdings" pitchFamily="2" charset="2"/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 defTabSz="91440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1) </a:t>
            </a:r>
            <a:r>
              <a:rPr lang="de-DE" dirty="0" err="1" smtClean="0"/>
              <a:t>Deployment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CAD</a:t>
            </a:r>
            <a:r>
              <a:rPr lang="de-DE" dirty="0" smtClean="0"/>
              <a:t> Interface</a:t>
            </a:r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Geometry</a:t>
            </a:r>
            <a:r>
              <a:rPr lang="de-DE" dirty="0" smtClean="0"/>
              <a:t> </a:t>
            </a:r>
            <a:r>
              <a:rPr lang="de-DE" dirty="0" err="1" smtClean="0"/>
              <a:t>description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2) Optimal </a:t>
            </a:r>
            <a:r>
              <a:rPr lang="de-DE" dirty="0" err="1" smtClean="0"/>
              <a:t>geometry</a:t>
            </a:r>
            <a:r>
              <a:rPr lang="de-DE" dirty="0" smtClean="0"/>
              <a:t>(</a:t>
            </a:r>
            <a:r>
              <a:rPr lang="de-DE" i="1" dirty="0" err="1" smtClean="0"/>
              <a:t>ies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Optimizer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Range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r>
              <a:rPr lang="de-DE" dirty="0" smtClean="0"/>
              <a:t> &amp; </a:t>
            </a:r>
            <a:r>
              <a:rPr lang="de-DE" dirty="0" err="1" smtClean="0"/>
              <a:t>Conclusion</a:t>
            </a:r>
            <a:endParaRPr lang="de-DE" dirty="0"/>
          </a:p>
        </p:txBody>
      </p:sp>
      <p:sp>
        <p:nvSpPr>
          <p:cNvPr id="6" name="Textfeld 5"/>
          <p:cNvSpPr txBox="1"/>
          <p:nvPr/>
        </p:nvSpPr>
        <p:spPr bwMode="gray">
          <a:xfrm>
            <a:off x="899592" y="3723878"/>
            <a:ext cx="7056784" cy="64807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Thank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you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for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your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attention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!</a:t>
            </a:r>
            <a:endParaRPr lang="de-DE" sz="3200" b="1" dirty="0" smtClean="0">
              <a:solidFill>
                <a:schemeClr val="accent1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2233</Words>
  <Application>Microsoft Office PowerPoint</Application>
  <PresentationFormat>Bildschirmpräsentation (16:9)</PresentationFormat>
  <Paragraphs>352</Paragraphs>
  <Slides>15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3" baseType="lpstr">
      <vt:lpstr>ＭＳ Ｐゴシック</vt:lpstr>
      <vt:lpstr>Arial</vt:lpstr>
      <vt:lpstr>Arial Narrow</vt:lpstr>
      <vt:lpstr>Calibri</vt:lpstr>
      <vt:lpstr>Cambria Math</vt:lpstr>
      <vt:lpstr>Courier New</vt:lpstr>
      <vt:lpstr>Wingdings</vt:lpstr>
      <vt:lpstr>Herrmann_Ultraschall_Template_01_EXP</vt:lpstr>
      <vt:lpstr>PowerPoint-Präsentation</vt:lpstr>
      <vt:lpstr>Francois Brouet – sep24_continuous_ds</vt:lpstr>
      <vt:lpstr>PowerPoint-Präsentation</vt:lpstr>
      <vt:lpstr>Context</vt:lpstr>
      <vt:lpstr>Goal</vt:lpstr>
      <vt:lpstr>Data exploration</vt:lpstr>
      <vt:lpstr>Data exploration</vt:lpstr>
      <vt:lpstr>Pre-processing</vt:lpstr>
      <vt:lpstr>Pre-processing</vt:lpstr>
      <vt:lpstr>Result overview</vt:lpstr>
      <vt:lpstr>Modelling</vt:lpstr>
      <vt:lpstr>Next steps &amp; Conclusion</vt:lpstr>
      <vt:lpstr>PowerPoint-Präsentation</vt:lpstr>
      <vt:lpstr>Introduction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127</cp:revision>
  <cp:lastPrinted>2024-10-28T09:15:24Z</cp:lastPrinted>
  <dcterms:created xsi:type="dcterms:W3CDTF">2024-10-21T06:24:53Z</dcterms:created>
  <dcterms:modified xsi:type="dcterms:W3CDTF">2025-08-16T08:57:31Z</dcterms:modified>
</cp:coreProperties>
</file>